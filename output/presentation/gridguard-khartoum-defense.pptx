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7195CA-8015-4D13-8E50-00B425D229C8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70AC7A-110A-46E3-B788-B77DD47A38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47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Can PPO allocate limited modeled supply more effectively than Fixed Rotation?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docs/source/graduation-project-proposal.pdf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3968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Administrative locality boundaries provide presentation context and are not electrical-network topology.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docs/assets/screenshots/overview.png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823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controller path and display-only forecast remain separate so presentation context cannot silently change the evidence.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7881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960 conditions are severity variants of 320 independent base draws. Both controllers receive the same guarded scenario; detected demand/supply mutation fails closed.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data/evidence/robustness-supplement.json, SHA-256 6b56d149331ee191302cd9e6f22365988db0ae301f9441190b61214acf832e48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003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displayed runtime, convergence, and checkpoint facts describe selected seed 43; the candidate experiment comprised 3 runs totaling 1,800 iterations, 460,800 episodes, and 11,059,200 transitions. Historical reward gates document model selection and are not independent current headline evidence. The teacher-guided initialization precedes PPO training; the deployed controller remains PPO. No behavior-cloning-only ablation was run, so this comparison cannot isolate the incremental effect of PPO fine-tuning.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data/model/training-provenance.yaml, SHA-256 d2568bce26e9221afa8c266113a704f6fbf2370d3bc949f5aa6c72a7411ba1a8</a:t>
            </a:r>
          </a:p>
          <a:p>
            <a:r>
              <a:rPr lang="en-US"/>
              <a:t>- data/model/manifest.json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029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Simulation, PPO inference, metrics, and bootstrap stay GPU-first. Scalar invariant flags may synchronize; one final full-array host transfer supports portable artifact assembly.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7467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Run once, then change controller and hour without changing the scenario. Live values never replace frozen evidence.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docs/assets/screenshots/live.png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629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These are the only three headline outcomes. The seeds are disjoint only from documented activity: the holdout was not preregistered or independently custodied and cannot rule out undocumented activity. Results were reported as observed; direction was not a release condition. No behavior-cloning-only ablation was run, so this comparison cannot isolate the incremental effect of PPO fine-tuning.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SHA-256 6b56d149331ee191302cd9e6f22365988db0ae301f9441190b61214acf832e48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4477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cards report observed direction counts, not a gate. Sensitivity intervals are descriptive, pointwise 95%, and unadjusted for multiple comparisons; they do not support family-wide significance claims. Difference-in-differences reports effect-size shifts versus base.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sensitivity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0467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Lower error for one-hour persistence is a bounded synthetic display comparison, not operational calibration.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forecast_evaluation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884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accepted artifact preserves provenance, but acceptance used its seeds. Reviewer-facing comparisons use the separate documented-seed-disjoint holdout, subject to its stated custody limitation.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data/evidence/paired-benchmark.json, SHA-256 7f2009c4f7efbbedf098069ced9218addec51d55a18b969e6c54433027020af5</a:t>
            </a:r>
          </a:p>
          <a:p>
            <a:r>
              <a:rPr lang="en-US"/>
              <a:t>- data/evidence/robustness-supplement.json, seed_separation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5259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experiment models shortage allocation, not a power-flow network, and the data are synthetic. Fixed Rotation is supply-blind, limited to Off and Full Service, and cannot select Critical Only. No behavior-cloning-only ablation was run, so this comparison cannot isolate the incremental effect of PPO fine-tuning.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5167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PPO outperformed Fixed Rotation under this locked synthetic protocol. Fixed Rotation is supply-blind, limited to Off and Full Service, and cannot select Critical Only; this is not evidence of general controller superiority. No behavior-cloning-only ablation was run, so the comparison cannot isolate the incremental effect of PPO fine-tuning. Operational-data and network validation must precede field use.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70AC7A-110A-46E3-B788-B77DD47A380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281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0D82E-FC79-C931-2D6B-39765823A2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D161F8-FD6F-ED9F-FFD4-FC44ABCBA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48B6-F0AA-1C8D-20BA-D45ADA7D0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7405E-590C-758E-67B0-C27C97B8A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EB0FD-EB7A-E075-5583-AFF5D3CBC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499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EF4D2-46F9-A8AC-967D-35DBEBF8D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8E505-50EB-4977-0F9D-CD25A6BAE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05764-C6E6-E690-1466-809995496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391D7-3FEE-36EE-ED8C-22141D2B9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E5FE7C-A2A2-AE64-DBE6-C81125AB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72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EDF1D-BB64-02F0-F49D-B4AB36FF0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1A3D9-6682-3B97-16BB-C39E0872F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7B5BB-99D6-FEBB-3ABB-D21627BA5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E87BF-C597-2C91-93DA-63A357429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6FBD9-025C-EC7C-938F-16712AD92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54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82907-03BB-7D03-350D-4E5BB5ABB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6AEC4-2603-6ED7-9D99-6507A14B2E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F6A3A1-E712-FDFC-0D80-5114D32AD3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5FE664-FC47-2D4F-BA65-F78849CF7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66D22C-DEDC-9973-1A8B-AB9F4D474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04DD3A-611B-4F64-A9C9-D18C3787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832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C6B9F-CA9A-5C06-1115-57C90A11A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D49E4-3C40-6745-414B-2080C31A6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B6460-A539-43F0-4BDE-37F3E8BA2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92F51B-CC50-D86F-DFE2-6E8CD79023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7E7189-9F14-74CB-1D0D-88051AAA56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FBC77B-6750-5393-3AEF-9211E3E81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2FC9A9-6D9E-75D6-ABD0-4F42F8BEB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9B81C5-42C5-2264-1EB4-7455E0F6D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277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FF241-9DBE-5F0B-83CE-C496A8B68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DCA294-AE37-A140-9440-5921D302D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F89D0-8964-9935-CA8C-F60230D29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2300C4-0977-3950-4CF1-24810E24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071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2C00A0-E244-AA0D-68E7-D50B3DF97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DC061E-4AF5-1FCE-6829-94D28A27E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4A5D7-D22F-8B69-45E7-72D8C2134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64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BA5C1-0DB6-59B5-23CC-0BB967C50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D3604-8330-7E86-9B41-AF7AF044E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73EC27-7339-7E65-D66C-E36FAB801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F2B560-F652-5E5D-EEF6-8DBEC3A27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2A6B08-F077-7EB4-A957-F5E823636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505407-CB6A-9D18-00AE-51FB4515F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868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8370B-197A-8158-A574-24C6A4D04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79AD52-D4B0-D57A-1AB8-3D83A3BE991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F0EB70-18C6-E72E-7743-106F7389F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C42B02-8170-8862-911B-ED6FA6354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1E4910-A294-7E29-6090-9E5FED9F9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3D985F-736A-9867-0BC8-406D411C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0212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973DA-C2DB-3704-994B-5A8109C09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B893D6-869B-2EDC-87C8-6CC36AA626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AF646-50A8-71D2-D8D0-EC4FCF1E1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04EA3-784F-4DFB-DEF1-BE36E225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9CE560-640F-787D-E61B-DB59F9CAB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501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235BDA-B114-935F-B772-5EF146FC61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832606-39FB-761D-8CFB-82C8BE47B4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EF129-52E9-CC1F-9352-538ED7813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35254-D75D-85D4-9F7B-9629D1E82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71A7D-FB78-5D7C-8D77-38578A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740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75E950-8613-CA33-4AF3-DCAFECB78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5ECFC-89E1-4216-26BB-6F4F23632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7FFE75-AB57-64CF-01EA-D1780AC131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1F434A-A4E2-44EE-8FE5-26BA97D6F415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A70B8-B846-A0E1-BD02-888C558AAE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255E2D-229E-D077-14EB-ACCD8072D1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F905A9-3EDB-48A4-9CAE-3DEC204A8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81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3BDCDE-4D2F-303D-587A-D5C353D3A1EE}"/>
              </a:ext>
            </a:extLst>
          </p:cNvPr>
          <p:cNvSpPr txBox="1"/>
          <p:nvPr/>
        </p:nvSpPr>
        <p:spPr>
          <a:xfrm>
            <a:off x="762000" y="736599"/>
            <a:ext cx="533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GRADUATION PROJECT DEFENSE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B82501-25F9-5390-091C-AC531E1B434D}"/>
              </a:ext>
            </a:extLst>
          </p:cNvPr>
          <p:cNvSpPr txBox="1"/>
          <p:nvPr/>
        </p:nvSpPr>
        <p:spPr>
          <a:xfrm>
            <a:off x="762000" y="1625599"/>
            <a:ext cx="9906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400" b="1">
                <a:solidFill>
                  <a:srgbClr val="F3F0E8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715E85-D96C-49B7-6F9C-3DD94FDB8CD4}"/>
              </a:ext>
            </a:extLst>
          </p:cNvPr>
          <p:cNvSpPr txBox="1"/>
          <p:nvPr/>
        </p:nvSpPr>
        <p:spPr>
          <a:xfrm>
            <a:off x="762000" y="2692399"/>
            <a:ext cx="9652000" cy="863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>
                <a:solidFill>
                  <a:srgbClr val="E0B957"/>
                </a:solidFill>
                <a:latin typeface="Aptos" panose="020B0004020202020204" pitchFamily="34" charset="0"/>
              </a:rPr>
              <a:t>PPO-assisted load shedding and energy management for developing countries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9E951F1-D557-CB31-5C08-4A1E62D3DD68}"/>
              </a:ext>
            </a:extLst>
          </p:cNvPr>
          <p:cNvCxnSpPr/>
          <p:nvPr/>
        </p:nvCxnSpPr>
        <p:spPr>
          <a:xfrm>
            <a:off x="762000" y="3835400"/>
            <a:ext cx="2870200" cy="0"/>
          </a:xfrm>
          <a:prstGeom prst="line">
            <a:avLst/>
          </a:prstGeom>
          <a:ln w="635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45DA4F-2F8F-E509-2152-6D800CDC5D9E}"/>
              </a:ext>
            </a:extLst>
          </p:cNvPr>
          <p:cNvSpPr txBox="1"/>
          <p:nvPr/>
        </p:nvSpPr>
        <p:spPr>
          <a:xfrm>
            <a:off x="762000" y="43814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pt-BR" sz="1700">
                <a:solidFill>
                  <a:srgbClr val="F3F0E8"/>
                </a:solidFill>
                <a:latin typeface="Aptos" panose="020B0004020202020204" pitchFamily="34" charset="0"/>
              </a:rPr>
              <a:t>Murtada Asim Ibrahim Bakhit (18-317)</a:t>
            </a:r>
            <a:endParaRPr lang="en-US" sz="1700">
              <a:solidFill>
                <a:srgbClr val="F3F0E8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64D276-4366-9081-B3E0-5FFDA7455A2B}"/>
              </a:ext>
            </a:extLst>
          </p:cNvPr>
          <p:cNvSpPr txBox="1"/>
          <p:nvPr/>
        </p:nvSpPr>
        <p:spPr>
          <a:xfrm>
            <a:off x="762000" y="47497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Suliman Elawad Suliman Babiker (18-310)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5C1934-3E1F-9DA8-FF3F-1162C7FDF476}"/>
              </a:ext>
            </a:extLst>
          </p:cNvPr>
          <p:cNvSpPr txBox="1"/>
          <p:nvPr/>
        </p:nvSpPr>
        <p:spPr>
          <a:xfrm>
            <a:off x="762000" y="51180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Abdalhay Abass Mobarak Abass (15-306)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21D97E-B09F-1CE5-C9A8-2AE1719B7A1E}"/>
              </a:ext>
            </a:extLst>
          </p:cNvPr>
          <p:cNvSpPr txBox="1"/>
          <p:nvPr/>
        </p:nvSpPr>
        <p:spPr>
          <a:xfrm>
            <a:off x="762000" y="5968999"/>
            <a:ext cx="609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research simulation  |  August 2026</a:t>
            </a:r>
          </a:p>
        </p:txBody>
      </p:sp>
    </p:spTree>
    <p:extLst>
      <p:ext uri="{BB962C8B-B14F-4D97-AF65-F5344CB8AC3E}">
        <p14:creationId xmlns:p14="http://schemas.microsoft.com/office/powerpoint/2010/main" val="2019807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204416-7242-0F7C-D27E-A340D0F1D7C9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4742C6B-B802-2213-C649-023EEE7B2A98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2C884E9-5A03-D023-A39F-181334E288D5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3BC62-E99C-EC11-B532-97160A476862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59EBF6-A182-02FB-ECAB-1FBF82CFCC7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Seven simultaneous allocation choices under shortage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B1CC6AA-BDBF-06FE-8FAB-A05BC27963A4}"/>
              </a:ext>
            </a:extLst>
          </p:cNvPr>
          <p:cNvCxnSpPr/>
          <p:nvPr/>
        </p:nvCxnSpPr>
        <p:spPr>
          <a:xfrm>
            <a:off x="736600" y="21844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5424182-6FEA-05A5-5503-BB26454D5902}"/>
              </a:ext>
            </a:extLst>
          </p:cNvPr>
          <p:cNvSpPr txBox="1"/>
          <p:nvPr/>
        </p:nvSpPr>
        <p:spPr>
          <a:xfrm>
            <a:off x="1092200" y="20319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Protect Hospital, Water, and Bakery demand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F297C0-9558-AE01-3F13-AF775B8EBEDE}"/>
              </a:ext>
            </a:extLst>
          </p:cNvPr>
          <p:cNvCxnSpPr/>
          <p:nvPr/>
        </p:nvCxnSpPr>
        <p:spPr>
          <a:xfrm>
            <a:off x="736600" y="3022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4EFB993-E3F9-4F99-9D7C-46BA6B5B1E0F}"/>
              </a:ext>
            </a:extLst>
          </p:cNvPr>
          <p:cNvSpPr txBox="1"/>
          <p:nvPr/>
        </p:nvSpPr>
        <p:spPr>
          <a:xfrm>
            <a:off x="1092200" y="28701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Use available supply without exceeding 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AF6D905-C1FE-8C93-E1D1-B3F906E6B556}"/>
              </a:ext>
            </a:extLst>
          </p:cNvPr>
          <p:cNvCxnSpPr/>
          <p:nvPr/>
        </p:nvCxnSpPr>
        <p:spPr>
          <a:xfrm>
            <a:off x="736600" y="38608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5FA8CC7-B859-82C4-3F2D-4FE2CE86D6C1}"/>
              </a:ext>
            </a:extLst>
          </p:cNvPr>
          <p:cNvSpPr txBox="1"/>
          <p:nvPr/>
        </p:nvSpPr>
        <p:spPr>
          <a:xfrm>
            <a:off x="1092200" y="37083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Share service across seven modeled localities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D0A7F3A-3607-E49F-881D-A13A0145C355}"/>
              </a:ext>
            </a:extLst>
          </p:cNvPr>
          <p:cNvSpPr/>
          <p:nvPr/>
        </p:nvSpPr>
        <p:spPr>
          <a:xfrm>
            <a:off x="5397500" y="1778000"/>
            <a:ext cx="6159500" cy="3467100"/>
          </a:xfrm>
          <a:prstGeom prst="roundRect">
            <a:avLst/>
          </a:prstGeom>
          <a:solidFill>
            <a:srgbClr val="102A3B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Overview showing seven administrative locality boundaries and frozen outcomes">
            <a:extLst>
              <a:ext uri="{FF2B5EF4-FFF2-40B4-BE49-F238E27FC236}">
                <a16:creationId xmlns:a16="http://schemas.microsoft.com/office/drawing/2014/main" id="{B1A150B5-39EB-4D24-0F70-7BE355517FB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0" y="1866900"/>
            <a:ext cx="5981700" cy="33655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9600543-E4AA-B91F-683B-069FA38E90CF}"/>
              </a:ext>
            </a:extLst>
          </p:cNvPr>
          <p:cNvSpPr txBox="1"/>
          <p:nvPr/>
        </p:nvSpPr>
        <p:spPr>
          <a:xfrm>
            <a:off x="736600" y="5562599"/>
            <a:ext cx="10033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3FC6AC"/>
                </a:solidFill>
                <a:latin typeface="Aptos" panose="020B0004020202020204" pitchFamily="34" charset="0"/>
              </a:rPr>
              <a:t>Synthetic decision support - not a live grid controller</a:t>
            </a:r>
          </a:p>
        </p:txBody>
      </p:sp>
    </p:spTree>
    <p:extLst>
      <p:ext uri="{BB962C8B-B14F-4D97-AF65-F5344CB8AC3E}">
        <p14:creationId xmlns:p14="http://schemas.microsoft.com/office/powerpoint/2010/main" val="1063902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0EB5D7-D654-0BA6-72A1-298D60D1BB05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0A32BD4-31B8-59D3-42E5-A25DB4AF2B03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BA27A3C-5EFF-D28C-D7D4-4D5F46CB3382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46E41C-655A-BA90-42A6-5763AFC60AA7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615FB7-5520-BDDC-491E-8DE5A81C2BFD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controller evidence path is isolated from presentation context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CF09DD9-3604-2B60-98DC-8281739034A1}"/>
              </a:ext>
            </a:extLst>
          </p:cNvPr>
          <p:cNvCxnSpPr/>
          <p:nvPr/>
        </p:nvCxnSpPr>
        <p:spPr>
          <a:xfrm>
            <a:off x="23749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E51820-9F28-E098-6645-57829F75A475}"/>
              </a:ext>
            </a:extLst>
          </p:cNvPr>
          <p:cNvCxnSpPr/>
          <p:nvPr/>
        </p:nvCxnSpPr>
        <p:spPr>
          <a:xfrm>
            <a:off x="45974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4F07B7-A09C-B3D6-922E-6A6BA79F8143}"/>
              </a:ext>
            </a:extLst>
          </p:cNvPr>
          <p:cNvCxnSpPr/>
          <p:nvPr/>
        </p:nvCxnSpPr>
        <p:spPr>
          <a:xfrm>
            <a:off x="68199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B05703-C059-8349-17D0-520AEB3AA48E}"/>
              </a:ext>
            </a:extLst>
          </p:cNvPr>
          <p:cNvCxnSpPr/>
          <p:nvPr/>
        </p:nvCxnSpPr>
        <p:spPr>
          <a:xfrm>
            <a:off x="90424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95DA16-CEFF-2921-D28C-8A1613A8674D}"/>
              </a:ext>
            </a:extLst>
          </p:cNvPr>
          <p:cNvSpPr/>
          <p:nvPr/>
        </p:nvSpPr>
        <p:spPr>
          <a:xfrm>
            <a:off x="8001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DA0CC0-6186-BA04-B7B7-BC604BB37377}"/>
              </a:ext>
            </a:extLst>
          </p:cNvPr>
          <p:cNvSpPr txBox="1"/>
          <p:nvPr/>
        </p:nvSpPr>
        <p:spPr>
          <a:xfrm>
            <a:off x="889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Seeded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scenarios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7B03840-600A-58FF-8D92-2F98DED566E9}"/>
              </a:ext>
            </a:extLst>
          </p:cNvPr>
          <p:cNvSpPr/>
          <p:nvPr/>
        </p:nvSpPr>
        <p:spPr>
          <a:xfrm>
            <a:off x="30226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8BCA4A-1E84-A419-7E6A-26F474221F48}"/>
              </a:ext>
            </a:extLst>
          </p:cNvPr>
          <p:cNvSpPr txBox="1"/>
          <p:nvPr/>
        </p:nvSpPr>
        <p:spPr>
          <a:xfrm>
            <a:off x="31115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Shared CUDA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tensors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010DAD8-256E-C686-002E-DED6BF886D20}"/>
              </a:ext>
            </a:extLst>
          </p:cNvPr>
          <p:cNvSpPr/>
          <p:nvPr/>
        </p:nvSpPr>
        <p:spPr>
          <a:xfrm>
            <a:off x="5245100" y="2336800"/>
            <a:ext cx="15748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848BD2-A99A-7503-6418-CBB916C73F79}"/>
              </a:ext>
            </a:extLst>
          </p:cNvPr>
          <p:cNvSpPr txBox="1"/>
          <p:nvPr/>
        </p:nvSpPr>
        <p:spPr>
          <a:xfrm>
            <a:off x="5334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PPO and</a:t>
            </a:r>
          </a:p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3B3D58-9F3E-D712-8EA6-9180801937B2}"/>
              </a:ext>
            </a:extLst>
          </p:cNvPr>
          <p:cNvSpPr/>
          <p:nvPr/>
        </p:nvSpPr>
        <p:spPr>
          <a:xfrm>
            <a:off x="74676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DD08E6-FC90-4138-DAEE-0FFC34ADA6AE}"/>
              </a:ext>
            </a:extLst>
          </p:cNvPr>
          <p:cNvSpPr txBox="1"/>
          <p:nvPr/>
        </p:nvSpPr>
        <p:spPr>
          <a:xfrm>
            <a:off x="75565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Paired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evidence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DB397AF-B996-9268-C0FF-7A9206153EB8}"/>
              </a:ext>
            </a:extLst>
          </p:cNvPr>
          <p:cNvSpPr/>
          <p:nvPr/>
        </p:nvSpPr>
        <p:spPr>
          <a:xfrm>
            <a:off x="9690100" y="2336800"/>
            <a:ext cx="15748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D9AE8-7B93-8D62-E8A6-F4E07EEC5937}"/>
              </a:ext>
            </a:extLst>
          </p:cNvPr>
          <p:cNvSpPr txBox="1"/>
          <p:nvPr/>
        </p:nvSpPr>
        <p:spPr>
          <a:xfrm>
            <a:off x="9779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Desktop</a:t>
            </a:r>
          </a:p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replay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54EC11-E536-6350-AEBF-042D9ECCCC43}"/>
              </a:ext>
            </a:extLst>
          </p:cNvPr>
          <p:cNvSpPr txBox="1"/>
          <p:nvPr/>
        </p:nvSpPr>
        <p:spPr>
          <a:xfrm>
            <a:off x="736600" y="4063999"/>
            <a:ext cx="292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Controller evidence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3089CA-7574-2E01-D9CF-1F5BCE6CA8AF}"/>
              </a:ext>
            </a:extLst>
          </p:cNvPr>
          <p:cNvCxnSpPr/>
          <p:nvPr/>
        </p:nvCxnSpPr>
        <p:spPr>
          <a:xfrm>
            <a:off x="736600" y="4508500"/>
            <a:ext cx="106934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2BE4148-EB04-944D-32A0-C13551F6C999}"/>
              </a:ext>
            </a:extLst>
          </p:cNvPr>
          <p:cNvSpPr txBox="1"/>
          <p:nvPr/>
        </p:nvSpPr>
        <p:spPr>
          <a:xfrm>
            <a:off x="736600" y="4825999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Demand projection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E9E211-E367-2254-7C95-C723071594AE}"/>
              </a:ext>
            </a:extLst>
          </p:cNvPr>
          <p:cNvSpPr txBox="1"/>
          <p:nvPr/>
        </p:nvSpPr>
        <p:spPr>
          <a:xfrm>
            <a:off x="3175000" y="4825999"/>
            <a:ext cx="83820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60727D"/>
                </a:solidFill>
                <a:latin typeface="Aptos" panose="020B0004020202020204" pitchFamily="34" charset="0"/>
              </a:rPr>
              <a:t>Display only - never enters PPO, dispatch, training objective, or benchmark evidence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96D79B-AD56-7097-3587-32E036A1B172}"/>
              </a:ext>
            </a:extLst>
          </p:cNvPr>
          <p:cNvSpPr txBox="1"/>
          <p:nvPr/>
        </p:nvSpPr>
        <p:spPr>
          <a:xfrm>
            <a:off x="736600" y="5689599"/>
            <a:ext cx="1041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Offline after installation  |  hash-bound artifacts  |  fail-closed startup</a:t>
            </a:r>
          </a:p>
        </p:txBody>
      </p:sp>
    </p:spTree>
    <p:extLst>
      <p:ext uri="{BB962C8B-B14F-4D97-AF65-F5344CB8AC3E}">
        <p14:creationId xmlns:p14="http://schemas.microsoft.com/office/powerpoint/2010/main" val="3746362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7F8CBF-7E92-410B-B3B3-6FD94473ED47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FA5A2E2-E334-E0D9-1DF4-C14D41D23E24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E1F19CA-B125-99CA-F20F-1782604AA59F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0B2EF0-792A-5A92-D4FA-547B3E533456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FAAA75-CCB1-E3EA-9A7E-A8C547E37081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PPO and Fixed Rotation receive the same scenario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F224B3-D5E6-FEE2-A0FD-72A8BF652D25}"/>
              </a:ext>
            </a:extLst>
          </p:cNvPr>
          <p:cNvSpPr/>
          <p:nvPr/>
        </p:nvSpPr>
        <p:spPr>
          <a:xfrm>
            <a:off x="787400" y="1981200"/>
            <a:ext cx="2997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FC3CD9-A944-A227-196C-699B0652208D}"/>
              </a:ext>
            </a:extLst>
          </p:cNvPr>
          <p:cNvSpPr txBox="1"/>
          <p:nvPr/>
        </p:nvSpPr>
        <p:spPr>
          <a:xfrm>
            <a:off x="965200" y="2133599"/>
            <a:ext cx="2641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320 independent base draws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9BC73B-AB2B-6202-19D1-716397757C83}"/>
              </a:ext>
            </a:extLst>
          </p:cNvPr>
          <p:cNvSpPr txBox="1"/>
          <p:nvPr/>
        </p:nvSpPr>
        <p:spPr>
          <a:xfrm>
            <a:off x="965200" y="2946399"/>
            <a:ext cx="2641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10 seeds x 32 episodes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82DD5D-EB8C-2C2A-64BD-E8ADCFDA93BD}"/>
              </a:ext>
            </a:extLst>
          </p:cNvPr>
          <p:cNvSpPr txBox="1"/>
          <p:nvPr/>
        </p:nvSpPr>
        <p:spPr>
          <a:xfrm>
            <a:off x="787400" y="3632199"/>
            <a:ext cx="106172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Documented-seed-disjoint holdout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BA3345-84B2-998F-1BEC-8CB3CBFF1F90}"/>
              </a:ext>
            </a:extLst>
          </p:cNvPr>
          <p:cNvSpPr txBox="1"/>
          <p:nvPr/>
        </p:nvSpPr>
        <p:spPr>
          <a:xfrm>
            <a:off x="3937000" y="2438399"/>
            <a:ext cx="1016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000" b="1">
                <a:solidFill>
                  <a:srgbClr val="E0B957"/>
                </a:solidFill>
                <a:latin typeface="Aptos" panose="020B0004020202020204" pitchFamily="34" charset="0"/>
              </a:rPr>
              <a:t>x 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588B1BD-9924-3886-686F-C7B1B1F113A8}"/>
              </a:ext>
            </a:extLst>
          </p:cNvPr>
          <p:cNvSpPr/>
          <p:nvPr/>
        </p:nvSpPr>
        <p:spPr>
          <a:xfrm>
            <a:off x="5080000" y="1981200"/>
            <a:ext cx="2768600" cy="16002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1914E2-A4D9-1A97-D4AC-1642557C299E}"/>
              </a:ext>
            </a:extLst>
          </p:cNvPr>
          <p:cNvSpPr txBox="1"/>
          <p:nvPr/>
        </p:nvSpPr>
        <p:spPr>
          <a:xfrm>
            <a:off x="5257800" y="2133599"/>
            <a:ext cx="2413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071923"/>
                </a:solidFill>
                <a:latin typeface="Aptos" panose="020B0004020202020204" pitchFamily="34" charset="0"/>
              </a:rPr>
              <a:t>960 matched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ECCA37-7F59-3AA3-AC5D-776F96EFE6C5}"/>
              </a:ext>
            </a:extLst>
          </p:cNvPr>
          <p:cNvSpPr txBox="1"/>
          <p:nvPr/>
        </p:nvSpPr>
        <p:spPr>
          <a:xfrm>
            <a:off x="5257800" y="2946399"/>
            <a:ext cx="2413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Mild, Moderate, Severe shortage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7AE4-E602-BB17-125C-C89D53D910A5}"/>
              </a:ext>
            </a:extLst>
          </p:cNvPr>
          <p:cNvSpPr txBox="1"/>
          <p:nvPr/>
        </p:nvSpPr>
        <p:spPr>
          <a:xfrm>
            <a:off x="8001000" y="2438399"/>
            <a:ext cx="1016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000" b="1">
                <a:solidFill>
                  <a:srgbClr val="E0B957"/>
                </a:solidFill>
                <a:latin typeface="Aptos" panose="020B0004020202020204" pitchFamily="34" charset="0"/>
              </a:rPr>
              <a:t>x 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50C7EBE-9EE5-6618-B8B3-DC68FA4A8CC2}"/>
              </a:ext>
            </a:extLst>
          </p:cNvPr>
          <p:cNvSpPr/>
          <p:nvPr/>
        </p:nvSpPr>
        <p:spPr>
          <a:xfrm>
            <a:off x="9144000" y="1981200"/>
            <a:ext cx="22606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E68315-F6F6-1B5B-0E67-A897D88DDE5E}"/>
              </a:ext>
            </a:extLst>
          </p:cNvPr>
          <p:cNvSpPr txBox="1"/>
          <p:nvPr/>
        </p:nvSpPr>
        <p:spPr>
          <a:xfrm>
            <a:off x="9321800" y="2133599"/>
            <a:ext cx="1905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1920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C3936F-503C-BD29-B8FC-BEC0C2DD7554}"/>
              </a:ext>
            </a:extLst>
          </p:cNvPr>
          <p:cNvSpPr txBox="1"/>
          <p:nvPr/>
        </p:nvSpPr>
        <p:spPr>
          <a:xfrm>
            <a:off x="9321800" y="2946399"/>
            <a:ext cx="1905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controller-scenario evaluations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FCB830C-D0EB-7BB4-C182-549F5D6138AA}"/>
              </a:ext>
            </a:extLst>
          </p:cNvPr>
          <p:cNvCxnSpPr/>
          <p:nvPr/>
        </p:nvCxnSpPr>
        <p:spPr>
          <a:xfrm>
            <a:off x="787400" y="4038600"/>
            <a:ext cx="106172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BCA90A0-FD13-FBD8-31F2-4BAAC70E727A}"/>
              </a:ext>
            </a:extLst>
          </p:cNvPr>
          <p:cNvSpPr txBox="1"/>
          <p:nvPr/>
        </p:nvSpPr>
        <p:spPr>
          <a:xfrm>
            <a:off x="889000" y="4444999"/>
            <a:ext cx="22225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3FC6AC"/>
                </a:solidFill>
                <a:latin typeface="Aptos" panose="020B0004020202020204" pitchFamily="34" charset="0"/>
              </a:rPr>
              <a:t>PPO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4421BE-2EA1-F2FE-48BE-470801C557F3}"/>
              </a:ext>
            </a:extLst>
          </p:cNvPr>
          <p:cNvSpPr txBox="1"/>
          <p:nvPr/>
        </p:nvSpPr>
        <p:spPr>
          <a:xfrm>
            <a:off x="889000" y="4902199"/>
            <a:ext cx="3683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32-value observation</a:t>
            </a:r>
          </a:p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7-locality joint action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323739-A5DD-DD8E-5EE3-5D08706AFDFF}"/>
              </a:ext>
            </a:extLst>
          </p:cNvPr>
          <p:cNvSpPr txBox="1"/>
          <p:nvPr/>
        </p:nvSpPr>
        <p:spPr>
          <a:xfrm>
            <a:off x="6540500" y="4444999"/>
            <a:ext cx="2921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E0B957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13B688-1D3F-3BB9-5CD1-FD1846223C41}"/>
              </a:ext>
            </a:extLst>
          </p:cNvPr>
          <p:cNvSpPr txBox="1"/>
          <p:nvPr/>
        </p:nvSpPr>
        <p:spPr>
          <a:xfrm>
            <a:off x="6540500" y="4902199"/>
            <a:ext cx="4191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Three-hour schedule blocks</a:t>
            </a:r>
          </a:p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No demand or fairness observation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563CD1-693A-CECD-73C2-0AD9A4AFC123}"/>
              </a:ext>
            </a:extLst>
          </p:cNvPr>
          <p:cNvSpPr txBox="1"/>
          <p:nvPr/>
        </p:nvSpPr>
        <p:spPr>
          <a:xfrm>
            <a:off x="3175000" y="5816599"/>
            <a:ext cx="5842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Every stored delta is PPO - Fixed Rotation</a:t>
            </a:r>
          </a:p>
        </p:txBody>
      </p:sp>
    </p:spTree>
    <p:extLst>
      <p:ext uri="{BB962C8B-B14F-4D97-AF65-F5344CB8AC3E}">
        <p14:creationId xmlns:p14="http://schemas.microsoft.com/office/powerpoint/2010/main" val="23303927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0E2BB3-C40F-6668-223D-88EC3A619730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CA361E5-A3B9-3048-FB52-3ECBDB2E4198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963B065-E27E-151A-2EB8-71FED9BB8B58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C3339-5A08-1ACD-3E70-76A4396D83E6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4AB62-3080-952B-CC89-3ACD7BDFC039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PPO checkpoint has a historical training record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7BB0207-E572-CEE7-EF5F-035DDD4BB0C3}"/>
              </a:ext>
            </a:extLst>
          </p:cNvPr>
          <p:cNvSpPr/>
          <p:nvPr/>
        </p:nvSpPr>
        <p:spPr>
          <a:xfrm>
            <a:off x="736600" y="1879600"/>
            <a:ext cx="10718800" cy="9906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3647ED-ACE6-61B4-67AF-25423F811859}"/>
              </a:ext>
            </a:extLst>
          </p:cNvPr>
          <p:cNvSpPr txBox="1"/>
          <p:nvPr/>
        </p:nvSpPr>
        <p:spPr>
          <a:xfrm>
            <a:off x="965200" y="2070099"/>
            <a:ext cx="139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Network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9F6136-C7C3-BAAB-8538-289EFA298875}"/>
              </a:ext>
            </a:extLst>
          </p:cNvPr>
          <p:cNvSpPr txBox="1"/>
          <p:nvPr/>
        </p:nvSpPr>
        <p:spPr>
          <a:xfrm>
            <a:off x="965200" y="2387599"/>
            <a:ext cx="3175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13232E"/>
                </a:solidFill>
                <a:latin typeface="Aptos" panose="020B0004020202020204" pitchFamily="34" charset="0"/>
              </a:rPr>
              <a:t>32 -&gt; 512 -&gt; 512 -&gt; 2187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02D158-04E0-AF19-81ED-12E6CF07B8F1}"/>
              </a:ext>
            </a:extLst>
          </p:cNvPr>
          <p:cNvSpPr txBox="1"/>
          <p:nvPr/>
        </p:nvSpPr>
        <p:spPr>
          <a:xfrm>
            <a:off x="4495800" y="20700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Selected checkpoint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D846A1-D597-522E-435A-9C68DD2D8AAB}"/>
              </a:ext>
            </a:extLst>
          </p:cNvPr>
          <p:cNvSpPr txBox="1"/>
          <p:nvPr/>
        </p:nvSpPr>
        <p:spPr>
          <a:xfrm>
            <a:off x="4495800" y="2387599"/>
            <a:ext cx="330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13232E"/>
                </a:solidFill>
                <a:latin typeface="Aptos" panose="020B0004020202020204" pitchFamily="34" charset="0"/>
              </a:rPr>
              <a:t>iteration 510  |  seed 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257BE7-66CF-F06F-E961-E0D99F57A930}"/>
              </a:ext>
            </a:extLst>
          </p:cNvPr>
          <p:cNvSpPr txBox="1"/>
          <p:nvPr/>
        </p:nvSpPr>
        <p:spPr>
          <a:xfrm>
            <a:off x="8356600" y="2070099"/>
            <a:ext cx="190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Validation seeds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9F7E83-A839-BD41-BD87-6FB5BF26A313}"/>
              </a:ext>
            </a:extLst>
          </p:cNvPr>
          <p:cNvSpPr txBox="1"/>
          <p:nvPr/>
        </p:nvSpPr>
        <p:spPr>
          <a:xfrm>
            <a:off x="8356600" y="2387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70000, 70001, 70002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EB2B06-B1AA-B777-BBE6-636B31C9B200}"/>
              </a:ext>
            </a:extLst>
          </p:cNvPr>
          <p:cNvSpPr txBox="1"/>
          <p:nvPr/>
        </p:nvSpPr>
        <p:spPr>
          <a:xfrm>
            <a:off x="812800" y="3276599"/>
            <a:ext cx="3810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007565"/>
                </a:solidFill>
                <a:latin typeface="Aptos" panose="020B0004020202020204" pitchFamily="34" charset="0"/>
              </a:rPr>
              <a:t>Historical initialization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26AC877-B5FB-4509-F6A8-39975FD3A315}"/>
              </a:ext>
            </a:extLst>
          </p:cNvPr>
          <p:cNvCxnSpPr/>
          <p:nvPr/>
        </p:nvCxnSpPr>
        <p:spPr>
          <a:xfrm>
            <a:off x="812800" y="39370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D3559AA-DFB7-B474-1297-DB7244ED3F30}"/>
              </a:ext>
            </a:extLst>
          </p:cNvPr>
          <p:cNvSpPr txBox="1"/>
          <p:nvPr/>
        </p:nvSpPr>
        <p:spPr>
          <a:xfrm>
            <a:off x="1168400" y="37845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100 epochs  |  32768 teacher samples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3ACEDAD-7606-F0E9-5A52-F26B03C92DE8}"/>
              </a:ext>
            </a:extLst>
          </p:cNvPr>
          <p:cNvCxnSpPr/>
          <p:nvPr/>
        </p:nvCxnSpPr>
        <p:spPr>
          <a:xfrm>
            <a:off x="812800" y="4368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9226BA2-E360-6BFC-AC6C-5082D7C79B8B}"/>
              </a:ext>
            </a:extLst>
          </p:cNvPr>
          <p:cNvSpPr txBox="1"/>
          <p:nvPr/>
        </p:nvSpPr>
        <p:spPr>
          <a:xfrm>
            <a:off x="1168400" y="42163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1600 initialization optimizer updates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F7B5DC-6FB7-9633-9CDE-38AC577B16B3}"/>
              </a:ext>
            </a:extLst>
          </p:cNvPr>
          <p:cNvCxnSpPr/>
          <p:nvPr/>
        </p:nvCxnSpPr>
        <p:spPr>
          <a:xfrm>
            <a:off x="812800" y="48006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C82C407-DF01-4895-2EC8-5B157771CD13}"/>
              </a:ext>
            </a:extLst>
          </p:cNvPr>
          <p:cNvSpPr txBox="1"/>
          <p:nvPr/>
        </p:nvSpPr>
        <p:spPr>
          <a:xfrm>
            <a:off x="1168400" y="46481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Selected seed 43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89DDF17-8390-7F34-B15E-730073AC3144}"/>
              </a:ext>
            </a:extLst>
          </p:cNvPr>
          <p:cNvCxnSpPr/>
          <p:nvPr/>
        </p:nvCxnSpPr>
        <p:spPr>
          <a:xfrm>
            <a:off x="812800" y="52324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F966BC8-4BB2-276D-151A-70D0DBE8BED1}"/>
              </a:ext>
            </a:extLst>
          </p:cNvPr>
          <p:cNvSpPr txBox="1"/>
          <p:nvPr/>
        </p:nvSpPr>
        <p:spPr>
          <a:xfrm>
            <a:off x="1168400" y="50799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600 PPO iterations  |  153,600 episodes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D8478D6-F416-58E0-0239-C9685687E5DE}"/>
              </a:ext>
            </a:extLst>
          </p:cNvPr>
          <p:cNvCxnSpPr/>
          <p:nvPr/>
        </p:nvCxnSpPr>
        <p:spPr>
          <a:xfrm>
            <a:off x="812800" y="56642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CB8D0A-DF07-E72F-3B81-F8E154CA726D}"/>
              </a:ext>
            </a:extLst>
          </p:cNvPr>
          <p:cNvSpPr txBox="1"/>
          <p:nvPr/>
        </p:nvSpPr>
        <p:spPr>
          <a:xfrm>
            <a:off x="1168400" y="55117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3,686,400 transitions  |  learning rate 0.0001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329D04-920C-AED8-9C75-4679607FC97A}"/>
              </a:ext>
            </a:extLst>
          </p:cNvPr>
          <p:cNvSpPr txBox="1"/>
          <p:nvPr/>
        </p:nvSpPr>
        <p:spPr>
          <a:xfrm>
            <a:off x="6807200" y="3276599"/>
            <a:ext cx="4445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835D0A"/>
                </a:solidFill>
                <a:latin typeface="Aptos" panose="020B0004020202020204" pitchFamily="34" charset="0"/>
              </a:rPr>
              <a:t>Training-objective score (diagnostic)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117975-8CCB-DBBF-87F9-0D15FF5500F4}"/>
              </a:ext>
            </a:extLst>
          </p:cNvPr>
          <p:cNvSpPr txBox="1"/>
          <p:nvPr/>
        </p:nvSpPr>
        <p:spPr>
          <a:xfrm>
            <a:off x="6807200" y="3835399"/>
            <a:ext cx="2159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800" b="1">
                <a:solidFill>
                  <a:srgbClr val="007565"/>
                </a:solidFill>
                <a:latin typeface="Aptos" panose="020B0004020202020204" pitchFamily="34" charset="0"/>
              </a:rPr>
              <a:t>23.510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B03748-749C-1BD9-EF6A-A2F6B54DF20E}"/>
              </a:ext>
            </a:extLst>
          </p:cNvPr>
          <p:cNvSpPr txBox="1"/>
          <p:nvPr/>
        </p:nvSpPr>
        <p:spPr>
          <a:xfrm>
            <a:off x="6807200" y="4546599"/>
            <a:ext cx="2667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selected iteration 510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3AADB6-2188-DE52-01B8-9DF3C2B81186}"/>
              </a:ext>
            </a:extLst>
          </p:cNvPr>
          <p:cNvSpPr txBox="1"/>
          <p:nvPr/>
        </p:nvSpPr>
        <p:spPr>
          <a:xfrm>
            <a:off x="9499600" y="3835399"/>
            <a:ext cx="1778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800" b="1">
                <a:solidFill>
                  <a:srgbClr val="60727D"/>
                </a:solidFill>
                <a:latin typeface="Aptos" panose="020B0004020202020204" pitchFamily="34" charset="0"/>
              </a:rPr>
              <a:t>15.072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0E43A1-A1AE-36CF-A71D-9F60A2AA46E3}"/>
              </a:ext>
            </a:extLst>
          </p:cNvPr>
          <p:cNvSpPr txBox="1"/>
          <p:nvPr/>
        </p:nvSpPr>
        <p:spPr>
          <a:xfrm>
            <a:off x="9499600" y="4546599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untrained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A2A1C6-3336-1082-B873-0633F8B507C5}"/>
              </a:ext>
            </a:extLst>
          </p:cNvPr>
          <p:cNvSpPr txBox="1"/>
          <p:nvPr/>
        </p:nvSpPr>
        <p:spPr>
          <a:xfrm>
            <a:off x="6807200" y="5016499"/>
            <a:ext cx="4445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835D0A"/>
                </a:solidFill>
                <a:latin typeface="Aptos" panose="020B0004020202020204" pitchFamily="34" charset="0"/>
              </a:rPr>
              <a:t>Three-seed candidate experiment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E8154-7C58-2A1C-8C22-223907C3536C}"/>
              </a:ext>
            </a:extLst>
          </p:cNvPr>
          <p:cNvSpPr txBox="1"/>
          <p:nvPr/>
        </p:nvSpPr>
        <p:spPr>
          <a:xfrm>
            <a:off x="6807200" y="5372099"/>
            <a:ext cx="444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1,800 iterations  |  460,800 episodes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75EA26-C398-82E2-4385-D3B353650863}"/>
              </a:ext>
            </a:extLst>
          </p:cNvPr>
          <p:cNvSpPr txBox="1"/>
          <p:nvPr/>
        </p:nvSpPr>
        <p:spPr>
          <a:xfrm>
            <a:off x="6807200" y="5702299"/>
            <a:ext cx="444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11,059,200 transitions total</a:t>
            </a:r>
          </a:p>
        </p:txBody>
      </p:sp>
    </p:spTree>
    <p:extLst>
      <p:ext uri="{BB962C8B-B14F-4D97-AF65-F5344CB8AC3E}">
        <p14:creationId xmlns:p14="http://schemas.microsoft.com/office/powerpoint/2010/main" val="3374120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210207-1BB1-589D-2EDB-C3B437419A09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571D8F-8876-1472-7622-BA4802427768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8B7DCE9-340E-1802-F2AA-98884662C97F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7FEC84-D22C-D4BC-FB55-0BE5EF2D845B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72F938-3FD6-3074-1B86-7B33CC63D963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GPU-first simulation, PPO inference, and paired bootstrap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48DAA2-7DCE-2FF5-3380-6BE94887EA3C}"/>
              </a:ext>
            </a:extLst>
          </p:cNvPr>
          <p:cNvCxnSpPr/>
          <p:nvPr/>
        </p:nvCxnSpPr>
        <p:spPr>
          <a:xfrm>
            <a:off x="2540000" y="3009900"/>
            <a:ext cx="2095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AF8CDA9-E136-825A-B074-95BF68F13F0E}"/>
              </a:ext>
            </a:extLst>
          </p:cNvPr>
          <p:cNvCxnSpPr/>
          <p:nvPr/>
        </p:nvCxnSpPr>
        <p:spPr>
          <a:xfrm>
            <a:off x="6794500" y="3009900"/>
            <a:ext cx="2095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4CDCCEF-7BDC-B048-9609-78E4B6E3874C}"/>
              </a:ext>
            </a:extLst>
          </p:cNvPr>
          <p:cNvSpPr/>
          <p:nvPr/>
        </p:nvSpPr>
        <p:spPr>
          <a:xfrm>
            <a:off x="889000" y="2184400"/>
            <a:ext cx="2413000" cy="16256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5C935E-969E-1846-D024-6243324A8C64}"/>
              </a:ext>
            </a:extLst>
          </p:cNvPr>
          <p:cNvSpPr txBox="1"/>
          <p:nvPr/>
        </p:nvSpPr>
        <p:spPr>
          <a:xfrm>
            <a:off x="1079500" y="2451099"/>
            <a:ext cx="2032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500" b="1">
                <a:solidFill>
                  <a:srgbClr val="F3F0E8"/>
                </a:solidFill>
                <a:latin typeface="Aptos" panose="020B0004020202020204" pitchFamily="34" charset="0"/>
              </a:rPr>
              <a:t>PyTorch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3758D7-1C29-786A-A1DF-62966EC517D6}"/>
              </a:ext>
            </a:extLst>
          </p:cNvPr>
          <p:cNvSpPr txBox="1"/>
          <p:nvPr/>
        </p:nvSpPr>
        <p:spPr>
          <a:xfrm>
            <a:off x="1079500" y="2933699"/>
            <a:ext cx="2032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scenario tensors</a:t>
            </a:r>
          </a:p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simulation</a:t>
            </a:r>
          </a:p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PPO inference</a:t>
            </a:r>
            <a:endParaRPr lang="en-US" sz="1600">
              <a:solidFill>
                <a:srgbClr val="83939D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1B975D-4A04-4EAF-BF83-4ABA566BADC9}"/>
              </a:ext>
            </a:extLst>
          </p:cNvPr>
          <p:cNvSpPr/>
          <p:nvPr/>
        </p:nvSpPr>
        <p:spPr>
          <a:xfrm>
            <a:off x="4889500" y="1968500"/>
            <a:ext cx="2108200" cy="20828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76748E-E749-C07F-891E-296FFE0BCB12}"/>
              </a:ext>
            </a:extLst>
          </p:cNvPr>
          <p:cNvSpPr txBox="1"/>
          <p:nvPr/>
        </p:nvSpPr>
        <p:spPr>
          <a:xfrm>
            <a:off x="5105400" y="2514599"/>
            <a:ext cx="1676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100" b="1">
                <a:solidFill>
                  <a:srgbClr val="071923"/>
                </a:solidFill>
                <a:latin typeface="Aptos" panose="020B0004020202020204" pitchFamily="34" charset="0"/>
              </a:rPr>
              <a:t>cuda:0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C4614E-92F6-3C3A-26EC-71835D9B9E4C}"/>
              </a:ext>
            </a:extLst>
          </p:cNvPr>
          <p:cNvSpPr txBox="1"/>
          <p:nvPr/>
        </p:nvSpPr>
        <p:spPr>
          <a:xfrm>
            <a:off x="5092700" y="3187699"/>
            <a:ext cx="17018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validated</a:t>
            </a:r>
          </a:p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NVIDIA GPU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038455C-BA33-4A86-6FA6-F642FC32FB3D}"/>
              </a:ext>
            </a:extLst>
          </p:cNvPr>
          <p:cNvSpPr/>
          <p:nvPr/>
        </p:nvSpPr>
        <p:spPr>
          <a:xfrm>
            <a:off x="8763000" y="2184400"/>
            <a:ext cx="2540000" cy="16256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AB76C3-8368-61D1-6BC8-8D8518CABA7F}"/>
              </a:ext>
            </a:extLst>
          </p:cNvPr>
          <p:cNvSpPr txBox="1"/>
          <p:nvPr/>
        </p:nvSpPr>
        <p:spPr>
          <a:xfrm>
            <a:off x="8991600" y="2451099"/>
            <a:ext cx="20828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500" b="1">
                <a:solidFill>
                  <a:srgbClr val="F3F0E8"/>
                </a:solidFill>
                <a:latin typeface="Aptos" panose="020B0004020202020204" pitchFamily="34" charset="0"/>
              </a:rPr>
              <a:t>CuPy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36BFC8-B89A-5F58-DB54-D25BC18AEB42}"/>
              </a:ext>
            </a:extLst>
          </p:cNvPr>
          <p:cNvSpPr txBox="1"/>
          <p:nvPr/>
        </p:nvSpPr>
        <p:spPr>
          <a:xfrm>
            <a:off x="8991600" y="2933699"/>
            <a:ext cx="20828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cluster bootstrap</a:t>
            </a:r>
          </a:p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CUDA sort</a:t>
            </a:r>
          </a:p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linear percentiles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81C76B6-87C6-38D2-64BA-53BD3EC89D23}"/>
              </a:ext>
            </a:extLst>
          </p:cNvPr>
          <p:cNvCxnSpPr/>
          <p:nvPr/>
        </p:nvCxnSpPr>
        <p:spPr>
          <a:xfrm>
            <a:off x="889000" y="47879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E410136-3832-59D9-D330-A399BB86E0A8}"/>
              </a:ext>
            </a:extLst>
          </p:cNvPr>
          <p:cNvSpPr txBox="1"/>
          <p:nvPr/>
        </p:nvSpPr>
        <p:spPr>
          <a:xfrm>
            <a:off x="1244600" y="46354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PyTorch 2.8 + CUDA 12.8  |  DLPack sharing with CuPy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BEDFD2-534F-1E12-58C4-E2C4BA81D039}"/>
              </a:ext>
            </a:extLst>
          </p:cNvPr>
          <p:cNvCxnSpPr/>
          <p:nvPr/>
        </p:nvCxnSpPr>
        <p:spPr>
          <a:xfrm>
            <a:off x="889000" y="5257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0F36466-E1FD-B184-9E66-C8F31D6785C0}"/>
              </a:ext>
            </a:extLst>
          </p:cNvPr>
          <p:cNvSpPr txBox="1"/>
          <p:nvPr/>
        </p:nvSpPr>
        <p:spPr>
          <a:xfrm>
            <a:off x="1244600" y="51053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10,000 deterministic seed-stratified bootstrap replicates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17B6041-95BF-B7B6-A33E-BF8460A127ED}"/>
              </a:ext>
            </a:extLst>
          </p:cNvPr>
          <p:cNvCxnSpPr/>
          <p:nvPr/>
        </p:nvCxnSpPr>
        <p:spPr>
          <a:xfrm>
            <a:off x="889000" y="57277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958E91B-C0A6-54F4-DBBF-8E45193C5C7C}"/>
              </a:ext>
            </a:extLst>
          </p:cNvPr>
          <p:cNvSpPr txBox="1"/>
          <p:nvPr/>
        </p:nvSpPr>
        <p:spPr>
          <a:xfrm>
            <a:off x="1244600" y="55752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Scalar validity flags may synchronize; one final bulk transfer assembles evidence</a:t>
            </a:r>
          </a:p>
        </p:txBody>
      </p:sp>
    </p:spTree>
    <p:extLst>
      <p:ext uri="{BB962C8B-B14F-4D97-AF65-F5344CB8AC3E}">
        <p14:creationId xmlns:p14="http://schemas.microsoft.com/office/powerpoint/2010/main" val="3272817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58EB8B-BCCF-5FC4-A993-34022F6B06A1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AD1D23D-2502-16D7-6457-1E16DB531E7D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B05AE93-E841-2736-2528-1DF7C9DFFEBD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7F13B-56E6-F18A-6328-9AA4F6CE21AE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B3B7DB-12A0-E7EE-4657-27B0EF19D352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desktop replays one audited GPU scenario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0874A89-54BA-934F-2376-8EBA91FC354B}"/>
              </a:ext>
            </a:extLst>
          </p:cNvPr>
          <p:cNvSpPr/>
          <p:nvPr/>
        </p:nvSpPr>
        <p:spPr>
          <a:xfrm>
            <a:off x="787400" y="1600200"/>
            <a:ext cx="10617200" cy="4470400"/>
          </a:xfrm>
          <a:prstGeom prst="roundRect">
            <a:avLst/>
          </a:prstGeom>
          <a:solidFill>
            <a:srgbClr val="D7E0E4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Live Scenario page showing one shared GPU scenario and locality detail">
            <a:extLst>
              <a:ext uri="{FF2B5EF4-FFF2-40B4-BE49-F238E27FC236}">
                <a16:creationId xmlns:a16="http://schemas.microsoft.com/office/drawing/2014/main" id="{8F2C84C4-4F42-E109-AF44-AA6BE90A01E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8494" y="1689100"/>
            <a:ext cx="7635011" cy="42926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98AE357-BB4C-1AE7-BD7E-2B08D467D1E7}"/>
              </a:ext>
            </a:extLst>
          </p:cNvPr>
          <p:cNvSpPr txBox="1"/>
          <p:nvPr/>
        </p:nvSpPr>
        <p:spPr>
          <a:xfrm>
            <a:off x="952500" y="6070599"/>
            <a:ext cx="10287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007565"/>
                </a:solidFill>
                <a:latin typeface="Aptos" panose="020B0004020202020204" pitchFamily="34" charset="0"/>
              </a:rPr>
              <a:t>Frozen evidence stays separate from Live Scenario replay  |  forecast is DISPLAY ONLY</a:t>
            </a:r>
          </a:p>
        </p:txBody>
      </p:sp>
    </p:spTree>
    <p:extLst>
      <p:ext uri="{BB962C8B-B14F-4D97-AF65-F5344CB8AC3E}">
        <p14:creationId xmlns:p14="http://schemas.microsoft.com/office/powerpoint/2010/main" val="1588007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45EBBE-5F11-3690-BBC0-CC36F4D6BF0E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224D32-BDC9-8D50-BBDE-BD58FE686562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2A79997-F949-BCA5-94B3-732A59E91708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7963E-8A6D-8383-3088-A71DF6EFF29C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AEEA16-A0C9-4E8A-9CD3-8E70FAAF0F06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Documented-seed-disjoint holdout reports three primary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8B9F2E-D97C-3D72-2336-291FBA547104}"/>
              </a:ext>
            </a:extLst>
          </p:cNvPr>
          <p:cNvSpPr txBox="1"/>
          <p:nvPr/>
        </p:nvSpPr>
        <p:spPr>
          <a:xfrm>
            <a:off x="812800" y="1841499"/>
            <a:ext cx="287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Outcome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950C7A-C0F5-BB70-56BB-850047FA5D7E}"/>
              </a:ext>
            </a:extLst>
          </p:cNvPr>
          <p:cNvSpPr txBox="1"/>
          <p:nvPr/>
        </p:nvSpPr>
        <p:spPr>
          <a:xfrm>
            <a:off x="3810000" y="1841499"/>
            <a:ext cx="160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4A1EE-FC7C-695B-C5B7-1B5CFBCD5586}"/>
              </a:ext>
            </a:extLst>
          </p:cNvPr>
          <p:cNvSpPr txBox="1"/>
          <p:nvPr/>
        </p:nvSpPr>
        <p:spPr>
          <a:xfrm>
            <a:off x="5511800" y="1841499"/>
            <a:ext cx="160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PPO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74E20-ED1E-927C-6A52-A968720125A3}"/>
              </a:ext>
            </a:extLst>
          </p:cNvPr>
          <p:cNvSpPr txBox="1"/>
          <p:nvPr/>
        </p:nvSpPr>
        <p:spPr>
          <a:xfrm>
            <a:off x="7213600" y="1841499"/>
            <a:ext cx="14224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Delta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635157-2F9C-A7FA-CE5C-AA8FCE3A40D1}"/>
              </a:ext>
            </a:extLst>
          </p:cNvPr>
          <p:cNvSpPr txBox="1"/>
          <p:nvPr/>
        </p:nvSpPr>
        <p:spPr>
          <a:xfrm>
            <a:off x="8737600" y="1841499"/>
            <a:ext cx="2590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Paired 95% interval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8EF1A5-48ED-57B5-A959-220BDEA5A53D}"/>
              </a:ext>
            </a:extLst>
          </p:cNvPr>
          <p:cNvSpPr/>
          <p:nvPr/>
        </p:nvSpPr>
        <p:spPr>
          <a:xfrm>
            <a:off x="685800" y="2235200"/>
            <a:ext cx="10820400" cy="6477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E35564-A21B-0190-C152-1012550DAD17}"/>
              </a:ext>
            </a:extLst>
          </p:cNvPr>
          <p:cNvSpPr txBox="1"/>
          <p:nvPr/>
        </p:nvSpPr>
        <p:spPr>
          <a:xfrm>
            <a:off x="812800" y="23240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Critical-outage locality-hours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B78FE7-4411-93EB-36AA-927FCC6A2D14}"/>
              </a:ext>
            </a:extLst>
          </p:cNvPr>
          <p:cNvSpPr txBox="1"/>
          <p:nvPr/>
        </p:nvSpPr>
        <p:spPr>
          <a:xfrm>
            <a:off x="3810000" y="23240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102.1 locality-hours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0968A3-6E25-1B7B-78E9-FA0E328C8D6B}"/>
              </a:ext>
            </a:extLst>
          </p:cNvPr>
          <p:cNvSpPr txBox="1"/>
          <p:nvPr/>
        </p:nvSpPr>
        <p:spPr>
          <a:xfrm>
            <a:off x="5511800" y="23240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20.2 locality-hours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68731F-6D68-2F18-BD08-78D929CB68AF}"/>
              </a:ext>
            </a:extLst>
          </p:cNvPr>
          <p:cNvSpPr txBox="1"/>
          <p:nvPr/>
        </p:nvSpPr>
        <p:spPr>
          <a:xfrm>
            <a:off x="7213600" y="23240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-81.9 locality-hours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C13E5C-8483-D98D-A2AE-CF90C9DEF6C3}"/>
              </a:ext>
            </a:extLst>
          </p:cNvPr>
          <p:cNvSpPr txBox="1"/>
          <p:nvPr/>
        </p:nvSpPr>
        <p:spPr>
          <a:xfrm>
            <a:off x="8737600" y="23240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[-82.5, -81.2] locality-hours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126041-6BE2-154F-3DE7-442723544742}"/>
              </a:ext>
            </a:extLst>
          </p:cNvPr>
          <p:cNvSpPr txBox="1"/>
          <p:nvPr/>
        </p:nvSpPr>
        <p:spPr>
          <a:xfrm>
            <a:off x="812800" y="31241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Jain fairness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127C8D-3F49-AEA2-1E27-4BF7A9C2F738}"/>
              </a:ext>
            </a:extLst>
          </p:cNvPr>
          <p:cNvSpPr txBox="1"/>
          <p:nvPr/>
        </p:nvSpPr>
        <p:spPr>
          <a:xfrm>
            <a:off x="3810000" y="31241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87.76%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4697-314F-1BBD-89D5-25CDEE3C0949}"/>
              </a:ext>
            </a:extLst>
          </p:cNvPr>
          <p:cNvSpPr txBox="1"/>
          <p:nvPr/>
        </p:nvSpPr>
        <p:spPr>
          <a:xfrm>
            <a:off x="5511800" y="31241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96.91%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3C0C23-BE99-FF59-9A54-CF5604E47B5F}"/>
              </a:ext>
            </a:extLst>
          </p:cNvPr>
          <p:cNvSpPr txBox="1"/>
          <p:nvPr/>
        </p:nvSpPr>
        <p:spPr>
          <a:xfrm>
            <a:off x="7213600" y="31241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+9.15 pp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B6973D-4F50-4DD4-D7A5-E70A0E97B928}"/>
              </a:ext>
            </a:extLst>
          </p:cNvPr>
          <p:cNvSpPr txBox="1"/>
          <p:nvPr/>
        </p:nvSpPr>
        <p:spPr>
          <a:xfrm>
            <a:off x="8737600" y="31241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[9.11, 9.19] pp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B941D1-669C-DC02-4A56-FE9CDD04DD00}"/>
              </a:ext>
            </a:extLst>
          </p:cNvPr>
          <p:cNvSpPr/>
          <p:nvPr/>
        </p:nvSpPr>
        <p:spPr>
          <a:xfrm>
            <a:off x="685800" y="3835400"/>
            <a:ext cx="10820400" cy="6477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A82185-D944-1DC7-C4EE-2DC16E759CB1}"/>
              </a:ext>
            </a:extLst>
          </p:cNvPr>
          <p:cNvSpPr txBox="1"/>
          <p:nvPr/>
        </p:nvSpPr>
        <p:spPr>
          <a:xfrm>
            <a:off x="812800" y="39242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CDEB34-6371-84C9-63F9-11B5FC531DD0}"/>
              </a:ext>
            </a:extLst>
          </p:cNvPr>
          <p:cNvSpPr txBox="1"/>
          <p:nvPr/>
        </p:nvSpPr>
        <p:spPr>
          <a:xfrm>
            <a:off x="3810000" y="39242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71.21%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569269-C110-5D5A-7C6D-41712AAB8C7E}"/>
              </a:ext>
            </a:extLst>
          </p:cNvPr>
          <p:cNvSpPr txBox="1"/>
          <p:nvPr/>
        </p:nvSpPr>
        <p:spPr>
          <a:xfrm>
            <a:off x="5511800" y="39242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97.61%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4A6D8-CB09-A6EC-147E-AA9629E954FD}"/>
              </a:ext>
            </a:extLst>
          </p:cNvPr>
          <p:cNvSpPr txBox="1"/>
          <p:nvPr/>
        </p:nvSpPr>
        <p:spPr>
          <a:xfrm>
            <a:off x="7213600" y="39242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+26.39 pp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D1FF82-E417-C985-38DA-F37F9EAACC36}"/>
              </a:ext>
            </a:extLst>
          </p:cNvPr>
          <p:cNvSpPr txBox="1"/>
          <p:nvPr/>
        </p:nvSpPr>
        <p:spPr>
          <a:xfrm>
            <a:off x="8737600" y="39242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[26.34, 26.45] pp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45B465A-7FB4-820B-A348-6258BA472A08}"/>
              </a:ext>
            </a:extLst>
          </p:cNvPr>
          <p:cNvCxnSpPr/>
          <p:nvPr/>
        </p:nvCxnSpPr>
        <p:spPr>
          <a:xfrm>
            <a:off x="787400" y="4787900"/>
            <a:ext cx="10617200" cy="0"/>
          </a:xfrm>
          <a:prstGeom prst="line">
            <a:avLst/>
          </a:prstGeom>
          <a:ln w="1270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7C3264D-83FC-DE6A-B46D-3BFB0526F8DD}"/>
              </a:ext>
            </a:extLst>
          </p:cNvPr>
          <p:cNvSpPr txBox="1"/>
          <p:nvPr/>
        </p:nvSpPr>
        <p:spPr>
          <a:xfrm>
            <a:off x="812800" y="5041899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Safety check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0E62C5-D5EA-CBA0-64FD-1970FE5B2970}"/>
              </a:ext>
            </a:extLst>
          </p:cNvPr>
          <p:cNvSpPr txBox="1"/>
          <p:nvPr/>
        </p:nvSpPr>
        <p:spPr>
          <a:xfrm>
            <a:off x="2794000" y="5041899"/>
            <a:ext cx="685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0.00% power-balance violation rate in both controllers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F3A5632-D253-D26C-81CC-C7EB9384FD42}"/>
              </a:ext>
            </a:extLst>
          </p:cNvPr>
          <p:cNvSpPr/>
          <p:nvPr/>
        </p:nvSpPr>
        <p:spPr>
          <a:xfrm>
            <a:off x="812800" y="5359400"/>
            <a:ext cx="10515600" cy="927100"/>
          </a:xfrm>
          <a:prstGeom prst="roundRect">
            <a:avLst/>
          </a:prstGeom>
          <a:solidFill>
            <a:srgbClr val="F6E8E3"/>
          </a:solidFill>
          <a:ln w="15240">
            <a:solidFill>
              <a:srgbClr val="A15E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5B25183-234C-ABB3-ADE2-7058AE9DF211}"/>
              </a:ext>
            </a:extLst>
          </p:cNvPr>
          <p:cNvSpPr txBox="1"/>
          <p:nvPr/>
        </p:nvSpPr>
        <p:spPr>
          <a:xfrm>
            <a:off x="1016000" y="5460999"/>
            <a:ext cx="101092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Not preregistered or independently custodied  |  no direction gate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4333B9-C1BF-72F7-26C3-5C8407EB1864}"/>
              </a:ext>
            </a:extLst>
          </p:cNvPr>
          <p:cNvSpPr txBox="1"/>
          <p:nvPr/>
        </p:nvSpPr>
        <p:spPr>
          <a:xfrm>
            <a:off x="1016000" y="5740399"/>
            <a:ext cx="101092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No behavior-cloning-only ablation was run, so this comparison cannot isolate the incremental effect of PPO fine-tuning.</a:t>
            </a:r>
          </a:p>
        </p:txBody>
      </p:sp>
    </p:spTree>
    <p:extLst>
      <p:ext uri="{BB962C8B-B14F-4D97-AF65-F5344CB8AC3E}">
        <p14:creationId xmlns:p14="http://schemas.microsoft.com/office/powerpoint/2010/main" val="2619035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F2289F-5D96-8F67-F470-41D0892AF958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1BA6DC8-3C60-C553-4C24-43A0DC9398E7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4DC51B1-A895-D9F6-779B-3EFDD7B07653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691468-F313-2AC7-34AC-FC044932E7B5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D930EA-4BEA-0037-9925-505452738F7E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24 demand-allocation variants test local sensitivity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988387-ED45-F04F-630C-B62084C025EF}"/>
              </a:ext>
            </a:extLst>
          </p:cNvPr>
          <p:cNvSpPr txBox="1"/>
          <p:nvPr/>
        </p:nvSpPr>
        <p:spPr>
          <a:xfrm>
            <a:off x="812800" y="1841499"/>
            <a:ext cx="4191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900" b="1">
                <a:solidFill>
                  <a:srgbClr val="E0B957"/>
                </a:solidFill>
                <a:latin typeface="Aptos" panose="020B0004020202020204" pitchFamily="34" charset="0"/>
              </a:rPr>
              <a:t>25 parameterizations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8667DD-86E0-717F-A292-0647D3B1EFFE}"/>
              </a:ext>
            </a:extLst>
          </p:cNvPr>
          <p:cNvSpPr txBox="1"/>
          <p:nvPr/>
        </p:nvSpPr>
        <p:spPr>
          <a:xfrm>
            <a:off x="812800" y="2412999"/>
            <a:ext cx="4953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1 locked base + 24 one-at-a-time variants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34B5E6B-858C-1E9E-CB7A-23E49900BAFD}"/>
              </a:ext>
            </a:extLst>
          </p:cNvPr>
          <p:cNvSpPr/>
          <p:nvPr/>
        </p:nvSpPr>
        <p:spPr>
          <a:xfrm>
            <a:off x="8128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8687F6-5077-8763-1583-13D373AEE1DB}"/>
              </a:ext>
            </a:extLst>
          </p:cNvPr>
          <p:cNvSpPr txBox="1"/>
          <p:nvPr/>
        </p:nvSpPr>
        <p:spPr>
          <a:xfrm>
            <a:off x="9906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CE052-8915-CCB9-AD0A-D4834D4E3375}"/>
              </a:ext>
            </a:extLst>
          </p:cNvPr>
          <p:cNvSpPr txBox="1"/>
          <p:nvPr/>
        </p:nvSpPr>
        <p:spPr>
          <a:xfrm>
            <a:off x="9906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critical-outage locality-hours favorable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1CF20A2-FB4C-9B1E-4A09-488498961996}"/>
              </a:ext>
            </a:extLst>
          </p:cNvPr>
          <p:cNvSpPr/>
          <p:nvPr/>
        </p:nvSpPr>
        <p:spPr>
          <a:xfrm>
            <a:off x="45339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42AAF1-2FB0-9D81-68B0-E31FC6118900}"/>
              </a:ext>
            </a:extLst>
          </p:cNvPr>
          <p:cNvSpPr txBox="1"/>
          <p:nvPr/>
        </p:nvSpPr>
        <p:spPr>
          <a:xfrm>
            <a:off x="47117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34C120-E9CE-1020-546B-0AAB40E53060}"/>
              </a:ext>
            </a:extLst>
          </p:cNvPr>
          <p:cNvSpPr txBox="1"/>
          <p:nvPr/>
        </p:nvSpPr>
        <p:spPr>
          <a:xfrm>
            <a:off x="47117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Jain fairness favorable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7E81205-374C-C351-25A8-549F17E339E0}"/>
              </a:ext>
            </a:extLst>
          </p:cNvPr>
          <p:cNvSpPr/>
          <p:nvPr/>
        </p:nvSpPr>
        <p:spPr>
          <a:xfrm>
            <a:off x="82550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A47689-1CAA-AFDD-310F-22F76ADAF80B}"/>
              </a:ext>
            </a:extLst>
          </p:cNvPr>
          <p:cNvSpPr txBox="1"/>
          <p:nvPr/>
        </p:nvSpPr>
        <p:spPr>
          <a:xfrm>
            <a:off x="84328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B5C9DF-7548-9EF6-14F9-B599C249E983}"/>
              </a:ext>
            </a:extLst>
          </p:cNvPr>
          <p:cNvSpPr txBox="1"/>
          <p:nvPr/>
        </p:nvSpPr>
        <p:spPr>
          <a:xfrm>
            <a:off x="84328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utilization favorable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726E6A-4625-AACE-2432-97C5BDA7819E}"/>
              </a:ext>
            </a:extLst>
          </p:cNvPr>
          <p:cNvSpPr txBox="1"/>
          <p:nvPr/>
        </p:nvSpPr>
        <p:spPr>
          <a:xfrm>
            <a:off x="812800" y="5079999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3FC6AC"/>
                </a:solidFill>
                <a:latin typeface="Aptos" panose="020B0004020202020204" pitchFamily="34" charset="0"/>
              </a:rPr>
              <a:t>Effect-size shift versus base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0D7941-7584-DB21-2BC4-09A76EF0D671}"/>
              </a:ext>
            </a:extLst>
          </p:cNvPr>
          <p:cNvSpPr txBox="1"/>
          <p:nvPr/>
        </p:nvSpPr>
        <p:spPr>
          <a:xfrm>
            <a:off x="4191000" y="5079999"/>
            <a:ext cx="7112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1700" b="1">
                <a:solidFill>
                  <a:srgbClr val="F3F0E8"/>
                </a:solidFill>
                <a:latin typeface="Aptos" panose="020B0004020202020204" pitchFamily="34" charset="0"/>
              </a:rPr>
              <a:t>Outage: 19 adverse  |  4 favorable  |  1 ambiguous</a:t>
            </a:r>
            <a:endParaRPr lang="en-US" sz="1700" b="1">
              <a:solidFill>
                <a:srgbClr val="F3F0E8"/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E046EB-E763-0763-0CE4-A111AEF127E2}"/>
              </a:ext>
            </a:extLst>
          </p:cNvPr>
          <p:cNvSpPr txBox="1"/>
          <p:nvPr/>
        </p:nvSpPr>
        <p:spPr>
          <a:xfrm>
            <a:off x="812800" y="5664199"/>
            <a:ext cx="104902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83939D"/>
                </a:solidFill>
                <a:latin typeface="Aptos" panose="020B0004020202020204" pitchFamily="34" charset="0"/>
              </a:rPr>
              <a:t>Descriptive pointwise 95% intervals; unadjusted for multiple comparisons; no family-wide claim.</a:t>
            </a:r>
          </a:p>
        </p:txBody>
      </p:sp>
    </p:spTree>
    <p:extLst>
      <p:ext uri="{BB962C8B-B14F-4D97-AF65-F5344CB8AC3E}">
        <p14:creationId xmlns:p14="http://schemas.microsoft.com/office/powerpoint/2010/main" val="237364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676505-E06F-9BFC-CA7B-E00771B18B3A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D52E43D-FEE7-FE31-E5E7-86309AA51FFA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EB2E779-6E10-926C-F670-33C1A88EABEA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3F877-1F2B-E187-0A2A-F081BEE97B63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7BAA7-D5CB-8D1D-0014-E209B9C5A69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One-hour persistence outperformed the three-hour trailing mean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947E3E-8BA5-EA0F-1FB6-A5DA61BD629C}"/>
              </a:ext>
            </a:extLst>
          </p:cNvPr>
          <p:cNvSpPr txBox="1"/>
          <p:nvPr/>
        </p:nvSpPr>
        <p:spPr>
          <a:xfrm>
            <a:off x="812800" y="1828799"/>
            <a:ext cx="3619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Pooled error metric (MW)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AAD11-7B38-6E56-80C2-66698A002F60}"/>
              </a:ext>
            </a:extLst>
          </p:cNvPr>
          <p:cNvSpPr txBox="1"/>
          <p:nvPr/>
        </p:nvSpPr>
        <p:spPr>
          <a:xfrm>
            <a:off x="5003800" y="1828799"/>
            <a:ext cx="279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007565"/>
                </a:solidFill>
                <a:latin typeface="Aptos" panose="020B0004020202020204" pitchFamily="34" charset="0"/>
              </a:rPr>
              <a:t>One-hour persistence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2247D6-51AC-74FA-653D-B94448E146A6}"/>
              </a:ext>
            </a:extLst>
          </p:cNvPr>
          <p:cNvSpPr txBox="1"/>
          <p:nvPr/>
        </p:nvSpPr>
        <p:spPr>
          <a:xfrm>
            <a:off x="8318500" y="1828799"/>
            <a:ext cx="2984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Three-hour trailing mean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6D791A-2394-745E-BA80-87C633314320}"/>
              </a:ext>
            </a:extLst>
          </p:cNvPr>
          <p:cNvSpPr/>
          <p:nvPr/>
        </p:nvSpPr>
        <p:spPr>
          <a:xfrm>
            <a:off x="685800" y="2247900"/>
            <a:ext cx="10820400" cy="5588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C4D048-3CB1-5827-0C82-E81E544D3668}"/>
              </a:ext>
            </a:extLst>
          </p:cNvPr>
          <p:cNvSpPr txBox="1"/>
          <p:nvPr/>
        </p:nvSpPr>
        <p:spPr>
          <a:xfrm>
            <a:off x="812800" y="23367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Locality-sector MAE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ABA853-3268-2DAF-4299-D929BF650FBD}"/>
              </a:ext>
            </a:extLst>
          </p:cNvPr>
          <p:cNvSpPr txBox="1"/>
          <p:nvPr/>
        </p:nvSpPr>
        <p:spPr>
          <a:xfrm>
            <a:off x="5003800" y="23367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007565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758E2B-1EB7-D460-5408-284275A59DFB}"/>
              </a:ext>
            </a:extLst>
          </p:cNvPr>
          <p:cNvSpPr txBox="1"/>
          <p:nvPr/>
        </p:nvSpPr>
        <p:spPr>
          <a:xfrm>
            <a:off x="8318500" y="23367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023DF0-AAED-3A3D-2D92-4E11CB5F4E19}"/>
              </a:ext>
            </a:extLst>
          </p:cNvPr>
          <p:cNvSpPr txBox="1"/>
          <p:nvPr/>
        </p:nvSpPr>
        <p:spPr>
          <a:xfrm>
            <a:off x="812800" y="30225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Locality-sector RMSE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25EDB-DD97-00AE-0D08-B73B13861676}"/>
              </a:ext>
            </a:extLst>
          </p:cNvPr>
          <p:cNvSpPr txBox="1"/>
          <p:nvPr/>
        </p:nvSpPr>
        <p:spPr>
          <a:xfrm>
            <a:off x="5003800" y="3022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007565"/>
                </a:solidFill>
                <a:latin typeface="Aptos" panose="020B0004020202020204" pitchFamily="34" charset="0"/>
              </a:rPr>
              <a:t>2.18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C7803E-E220-CD35-B9CF-FB6F33A41A17}"/>
              </a:ext>
            </a:extLst>
          </p:cNvPr>
          <p:cNvSpPr txBox="1"/>
          <p:nvPr/>
        </p:nvSpPr>
        <p:spPr>
          <a:xfrm>
            <a:off x="8318500" y="3022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3.74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F3347B-6B32-CE45-3D7F-5FBECB14EBAD}"/>
              </a:ext>
            </a:extLst>
          </p:cNvPr>
          <p:cNvSpPr/>
          <p:nvPr/>
        </p:nvSpPr>
        <p:spPr>
          <a:xfrm>
            <a:off x="685800" y="3619500"/>
            <a:ext cx="10820400" cy="5588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415FE3-F3E4-252D-CC5B-83208CF87376}"/>
              </a:ext>
            </a:extLst>
          </p:cNvPr>
          <p:cNvSpPr txBox="1"/>
          <p:nvPr/>
        </p:nvSpPr>
        <p:spPr>
          <a:xfrm>
            <a:off x="812800" y="37083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System-total MAE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20BEAD-80C5-04E4-0B5D-2F651930DE72}"/>
              </a:ext>
            </a:extLst>
          </p:cNvPr>
          <p:cNvSpPr txBox="1"/>
          <p:nvPr/>
        </p:nvSpPr>
        <p:spPr>
          <a:xfrm>
            <a:off x="5003800" y="37083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007565"/>
                </a:solidFill>
                <a:latin typeface="Aptos" panose="020B0004020202020204" pitchFamily="34" charset="0"/>
              </a:rPr>
              <a:t>24.38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525CE1-7747-ABE0-80FB-CFAE00B39028}"/>
              </a:ext>
            </a:extLst>
          </p:cNvPr>
          <p:cNvSpPr txBox="1"/>
          <p:nvPr/>
        </p:nvSpPr>
        <p:spPr>
          <a:xfrm>
            <a:off x="8318500" y="37083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42.72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0C0211-C538-EA14-5B46-0E96BE4929F7}"/>
              </a:ext>
            </a:extLst>
          </p:cNvPr>
          <p:cNvSpPr txBox="1"/>
          <p:nvPr/>
        </p:nvSpPr>
        <p:spPr>
          <a:xfrm>
            <a:off x="812800" y="43941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System-total RMSE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4DFF17-9CAB-43DE-0EC2-54377192384E}"/>
              </a:ext>
            </a:extLst>
          </p:cNvPr>
          <p:cNvSpPr txBox="1"/>
          <p:nvPr/>
        </p:nvSpPr>
        <p:spPr>
          <a:xfrm>
            <a:off x="5003800" y="43941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007565"/>
                </a:solidFill>
                <a:latin typeface="Aptos" panose="020B0004020202020204" pitchFamily="34" charset="0"/>
              </a:rPr>
              <a:t>28.58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D0A9D6-B49E-F98F-0340-91B664382A2B}"/>
              </a:ext>
            </a:extLst>
          </p:cNvPr>
          <p:cNvSpPr txBox="1"/>
          <p:nvPr/>
        </p:nvSpPr>
        <p:spPr>
          <a:xfrm>
            <a:off x="8318500" y="43941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49.97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5551125-7924-DC1C-85E9-1C0882EC1294}"/>
              </a:ext>
            </a:extLst>
          </p:cNvPr>
          <p:cNvSpPr/>
          <p:nvPr/>
        </p:nvSpPr>
        <p:spPr>
          <a:xfrm>
            <a:off x="812800" y="5308600"/>
            <a:ext cx="10515600" cy="7874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493CB0-2784-597B-92DC-4E9D0F9E9D78}"/>
              </a:ext>
            </a:extLst>
          </p:cNvPr>
          <p:cNvSpPr txBox="1"/>
          <p:nvPr/>
        </p:nvSpPr>
        <p:spPr>
          <a:xfrm>
            <a:off x="1041400" y="5473700"/>
            <a:ext cx="1005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320 traces  |  21 target hours  |  235200 locality-sector predictions  |  6720 system totals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7E8329-B8CF-1D69-D590-FA7A7FEF610B}"/>
              </a:ext>
            </a:extLst>
          </p:cNvPr>
          <p:cNvSpPr txBox="1"/>
          <p:nvPr/>
        </p:nvSpPr>
        <p:spPr>
          <a:xfrm>
            <a:off x="1041400" y="5778500"/>
            <a:ext cx="1005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Synthetic display-only comparison; no operational calibration claim</a:t>
            </a:r>
          </a:p>
        </p:txBody>
      </p:sp>
    </p:spTree>
    <p:extLst>
      <p:ext uri="{BB962C8B-B14F-4D97-AF65-F5344CB8AC3E}">
        <p14:creationId xmlns:p14="http://schemas.microsoft.com/office/powerpoint/2010/main" val="3035100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134386-2372-C965-E68F-7E4957050FFC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9830B2-A2A5-9222-8097-FE31AE7FAADE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D1D353F-4594-FC77-1FDA-3A444F8C89F0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57511F-C59B-2386-5907-CFE63488774C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9ED97C-BF6E-FCB4-0BFA-09B9C0CF581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The accepted reproduction preserves history, not independence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B2CDD6-5086-7A8C-A95A-25EA5CEAD3B2}"/>
              </a:ext>
            </a:extLst>
          </p:cNvPr>
          <p:cNvSpPr txBox="1"/>
          <p:nvPr/>
        </p:nvSpPr>
        <p:spPr>
          <a:xfrm>
            <a:off x="812800" y="1841499"/>
            <a:ext cx="457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3FC6AC"/>
                </a:solidFill>
                <a:latin typeface="Aptos" panose="020B0004020202020204" pitchFamily="34" charset="0"/>
              </a:rPr>
              <a:t>Accepted reproduction context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6B86B7-65C7-0CFC-C3F7-95FFBD32E75C}"/>
              </a:ext>
            </a:extLst>
          </p:cNvPr>
          <p:cNvCxnSpPr/>
          <p:nvPr/>
        </p:nvCxnSpPr>
        <p:spPr>
          <a:xfrm>
            <a:off x="812800" y="25654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FEB0232-8595-5DFC-3570-04DFFA4A767A}"/>
              </a:ext>
            </a:extLst>
          </p:cNvPr>
          <p:cNvSpPr txBox="1"/>
          <p:nvPr/>
        </p:nvSpPr>
        <p:spPr>
          <a:xfrm>
            <a:off x="1168400" y="24129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Seeds 50001-50003  |  96 base draws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974885-0B4C-C311-4886-AA8D95CF308F}"/>
              </a:ext>
            </a:extLst>
          </p:cNvPr>
          <p:cNvCxnSpPr/>
          <p:nvPr/>
        </p:nvCxnSpPr>
        <p:spPr>
          <a:xfrm>
            <a:off x="812800" y="31623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9B4A523-D9FB-9FEA-43C8-B8C58938F261}"/>
              </a:ext>
            </a:extLst>
          </p:cNvPr>
          <p:cNvSpPr txBox="1"/>
          <p:nvPr/>
        </p:nvSpPr>
        <p:spPr>
          <a:xfrm>
            <a:off x="1168400" y="30098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288 matched conditions  |  576 evaluations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6BEC8A9-7E5A-DC0B-AB9F-693A6E4DF34B}"/>
              </a:ext>
            </a:extLst>
          </p:cNvPr>
          <p:cNvCxnSpPr/>
          <p:nvPr/>
        </p:nvCxnSpPr>
        <p:spPr>
          <a:xfrm>
            <a:off x="812800" y="37592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5DBFF1A-ACE7-6DA5-2206-344A7BFD81C0}"/>
              </a:ext>
            </a:extLst>
          </p:cNvPr>
          <p:cNvSpPr txBox="1"/>
          <p:nvPr/>
        </p:nvSpPr>
        <p:spPr>
          <a:xfrm>
            <a:off x="1168400" y="36067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Reproduced from the frozen PPO checkpoint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427EB3-951C-C0E2-BB1F-2B381A6B9BB9}"/>
              </a:ext>
            </a:extLst>
          </p:cNvPr>
          <p:cNvCxnSpPr/>
          <p:nvPr/>
        </p:nvCxnSpPr>
        <p:spPr>
          <a:xfrm>
            <a:off x="812800" y="43561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7FEA002-B4B1-AB5C-5E8D-0637FF8E376B}"/>
              </a:ext>
            </a:extLst>
          </p:cNvPr>
          <p:cNvSpPr txBox="1"/>
          <p:nvPr/>
        </p:nvSpPr>
        <p:spPr>
          <a:xfrm>
            <a:off x="1168400" y="42036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Promotion and acceptance used this layer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8C609C-F8F5-0073-FBEA-9EA599981993}"/>
              </a:ext>
            </a:extLst>
          </p:cNvPr>
          <p:cNvCxnSpPr/>
          <p:nvPr/>
        </p:nvCxnSpPr>
        <p:spPr>
          <a:xfrm>
            <a:off x="6350000" y="1803400"/>
            <a:ext cx="0" cy="400050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DD9E258-1168-9F6C-1D04-390E10A3E568}"/>
              </a:ext>
            </a:extLst>
          </p:cNvPr>
          <p:cNvSpPr txBox="1"/>
          <p:nvPr/>
        </p:nvSpPr>
        <p:spPr>
          <a:xfrm>
            <a:off x="6832600" y="1841499"/>
            <a:ext cx="43815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E0B957"/>
                </a:solidFill>
                <a:latin typeface="Aptos" panose="020B0004020202020204" pitchFamily="34" charset="0"/>
              </a:rPr>
              <a:t>Accepted three-primary context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EA3A41-32E0-761F-5D33-DEEB634B5ECE}"/>
              </a:ext>
            </a:extLst>
          </p:cNvPr>
          <p:cNvSpPr txBox="1"/>
          <p:nvPr/>
        </p:nvSpPr>
        <p:spPr>
          <a:xfrm>
            <a:off x="6832600" y="25272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Critical outage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9AE538-EBD7-1FAB-2548-ED1F7EF2C609}"/>
              </a:ext>
            </a:extLst>
          </p:cNvPr>
          <p:cNvSpPr txBox="1"/>
          <p:nvPr/>
        </p:nvSpPr>
        <p:spPr>
          <a:xfrm>
            <a:off x="6832600" y="28574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102.1 -&gt; 18.7 locality-hours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4DA0CF-8B8A-4D37-0D03-BA9F03C021FC}"/>
              </a:ext>
            </a:extLst>
          </p:cNvPr>
          <p:cNvSpPr txBox="1"/>
          <p:nvPr/>
        </p:nvSpPr>
        <p:spPr>
          <a:xfrm>
            <a:off x="6832600" y="34670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Jain fairness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059BA7-AB6E-3AA6-4232-3BA6135B082E}"/>
              </a:ext>
            </a:extLst>
          </p:cNvPr>
          <p:cNvSpPr txBox="1"/>
          <p:nvPr/>
        </p:nvSpPr>
        <p:spPr>
          <a:xfrm>
            <a:off x="6832600" y="37972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87.76% -&gt; 96.92%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9E1761-AB2F-53F8-4179-A45D5698B939}"/>
              </a:ext>
            </a:extLst>
          </p:cNvPr>
          <p:cNvSpPr txBox="1"/>
          <p:nvPr/>
        </p:nvSpPr>
        <p:spPr>
          <a:xfrm>
            <a:off x="6832600" y="44068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A0AEC2-6CFD-46E9-EDF1-910969CCF32C}"/>
              </a:ext>
            </a:extLst>
          </p:cNvPr>
          <p:cNvSpPr txBox="1"/>
          <p:nvPr/>
        </p:nvSpPr>
        <p:spPr>
          <a:xfrm>
            <a:off x="6832600" y="47370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71.22% -&gt; 97.65%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983E8B6-0B47-F93A-E028-F429A0D87E1B}"/>
              </a:ext>
            </a:extLst>
          </p:cNvPr>
          <p:cNvSpPr/>
          <p:nvPr/>
        </p:nvSpPr>
        <p:spPr>
          <a:xfrm>
            <a:off x="6832600" y="5308600"/>
            <a:ext cx="4191000" cy="698500"/>
          </a:xfrm>
          <a:prstGeom prst="roundRect">
            <a:avLst/>
          </a:prstGeom>
          <a:solidFill>
            <a:srgbClr val="1A394A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D39D35-D945-8525-5260-D99995C7E76E}"/>
              </a:ext>
            </a:extLst>
          </p:cNvPr>
          <p:cNvSpPr txBox="1"/>
          <p:nvPr/>
        </p:nvSpPr>
        <p:spPr>
          <a:xfrm>
            <a:off x="7010400" y="5346699"/>
            <a:ext cx="3835400" cy="622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Documented-seed-disjoint holdout</a:t>
            </a:r>
          </a:p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81001-81010 remains separate</a:t>
            </a:r>
          </a:p>
        </p:txBody>
      </p:sp>
    </p:spTree>
    <p:extLst>
      <p:ext uri="{BB962C8B-B14F-4D97-AF65-F5344CB8AC3E}">
        <p14:creationId xmlns:p14="http://schemas.microsoft.com/office/powerpoint/2010/main" val="4274129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A74814-843E-A652-EEE4-AEE3D01757B6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36C9366-30E8-A69E-9455-885D903DE50E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57440EA-49EB-7329-E2AD-BD5A60477917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2FF7BF-1955-740D-9F14-556719F4E1A5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8707D9-8F4A-E1C5-9284-0A2721D0CAB8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evidence remains bounded by a shortage-only synthetic 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AFEBC-D201-CA99-F477-147E11DE7799}"/>
              </a:ext>
            </a:extLst>
          </p:cNvPr>
          <p:cNvSpPr txBox="1"/>
          <p:nvPr/>
        </p:nvSpPr>
        <p:spPr>
          <a:xfrm>
            <a:off x="812800" y="1841499"/>
            <a:ext cx="457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007565"/>
                </a:solidFill>
                <a:latin typeface="Aptos" panose="020B0004020202020204" pitchFamily="34" charset="0"/>
              </a:rPr>
              <a:t>What the evidence supports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2D7B83C-2954-1DC6-46AD-51B3E51CA74B}"/>
              </a:ext>
            </a:extLst>
          </p:cNvPr>
          <p:cNvCxnSpPr/>
          <p:nvPr/>
        </p:nvCxnSpPr>
        <p:spPr>
          <a:xfrm>
            <a:off x="812800" y="2590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3507154-369A-69AF-43B9-0FEF2ADFD8F1}"/>
              </a:ext>
            </a:extLst>
          </p:cNvPr>
          <p:cNvSpPr txBox="1"/>
          <p:nvPr/>
        </p:nvSpPr>
        <p:spPr>
          <a:xfrm>
            <a:off x="1168400" y="2438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PPO versus Fixed Rotation in the locked simulator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75A60A-D316-DF4F-7DF4-CFF9A5BA2987}"/>
              </a:ext>
            </a:extLst>
          </p:cNvPr>
          <p:cNvCxnSpPr/>
          <p:nvPr/>
        </p:nvCxnSpPr>
        <p:spPr>
          <a:xfrm>
            <a:off x="812800" y="3225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AA39579-A1C1-0C0D-4257-9B8736849039}"/>
              </a:ext>
            </a:extLst>
          </p:cNvPr>
          <p:cNvSpPr txBox="1"/>
          <p:nvPr/>
        </p:nvSpPr>
        <p:spPr>
          <a:xfrm>
            <a:off x="1168400" y="3073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Matched shortage scenarios across seven localities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787B34-4DF5-43B9-3B5B-C87C75007458}"/>
              </a:ext>
            </a:extLst>
          </p:cNvPr>
          <p:cNvCxnSpPr/>
          <p:nvPr/>
        </p:nvCxnSpPr>
        <p:spPr>
          <a:xfrm>
            <a:off x="812800" y="3860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AA1CF76-D233-1AD7-2370-CC91A8CAFA80}"/>
              </a:ext>
            </a:extLst>
          </p:cNvPr>
          <p:cNvSpPr txBox="1"/>
          <p:nvPr/>
        </p:nvSpPr>
        <p:spPr>
          <a:xfrm>
            <a:off x="1168400" y="3708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Reproducible artifacts with explicit seed roles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07D3933-847C-A4A8-4128-A860E97AF3FD}"/>
              </a:ext>
            </a:extLst>
          </p:cNvPr>
          <p:cNvCxnSpPr/>
          <p:nvPr/>
        </p:nvCxnSpPr>
        <p:spPr>
          <a:xfrm>
            <a:off x="812800" y="4495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E3DBECA-CF74-B848-57E8-C6179F463232}"/>
              </a:ext>
            </a:extLst>
          </p:cNvPr>
          <p:cNvSpPr txBox="1"/>
          <p:nvPr/>
        </p:nvSpPr>
        <p:spPr>
          <a:xfrm>
            <a:off x="1168400" y="4343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Offline decision-support demonstration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DB0613-3EA9-A82C-3C27-D3EA082C335C}"/>
              </a:ext>
            </a:extLst>
          </p:cNvPr>
          <p:cNvSpPr txBox="1"/>
          <p:nvPr/>
        </p:nvSpPr>
        <p:spPr>
          <a:xfrm>
            <a:off x="6629400" y="1841499"/>
            <a:ext cx="4699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A15E40"/>
                </a:solidFill>
                <a:latin typeface="Aptos" panose="020B0004020202020204" pitchFamily="34" charset="0"/>
              </a:rPr>
              <a:t>What it does not support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CD82ADD-704B-AF92-FBA3-F61DB07DA4E1}"/>
              </a:ext>
            </a:extLst>
          </p:cNvPr>
          <p:cNvCxnSpPr/>
          <p:nvPr/>
        </p:nvCxnSpPr>
        <p:spPr>
          <a:xfrm>
            <a:off x="6629400" y="2590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E851C8F-4820-9305-0D26-5BC6241615B9}"/>
              </a:ext>
            </a:extLst>
          </p:cNvPr>
          <p:cNvSpPr txBox="1"/>
          <p:nvPr/>
        </p:nvSpPr>
        <p:spPr>
          <a:xfrm>
            <a:off x="6985000" y="2438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Field performance on Sudan's electrical grid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B469E89-7013-11CD-BBFE-2225942753E1}"/>
              </a:ext>
            </a:extLst>
          </p:cNvPr>
          <p:cNvCxnSpPr/>
          <p:nvPr/>
        </p:nvCxnSpPr>
        <p:spPr>
          <a:xfrm>
            <a:off x="6629400" y="3225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99F5C05-DA95-7315-322A-B65978A628F5}"/>
              </a:ext>
            </a:extLst>
          </p:cNvPr>
          <p:cNvSpPr txBox="1"/>
          <p:nvPr/>
        </p:nvSpPr>
        <p:spPr>
          <a:xfrm>
            <a:off x="6985000" y="3073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Electrical-network or forecast validation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44E060-0EEC-3DA1-C34D-5A35B28CDA11}"/>
              </a:ext>
            </a:extLst>
          </p:cNvPr>
          <p:cNvCxnSpPr/>
          <p:nvPr/>
        </p:nvCxnSpPr>
        <p:spPr>
          <a:xfrm>
            <a:off x="6629400" y="3860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8795FB2-F1B9-7EA3-0EB7-FA1691C21DFF}"/>
              </a:ext>
            </a:extLst>
          </p:cNvPr>
          <p:cNvSpPr txBox="1"/>
          <p:nvPr/>
        </p:nvSpPr>
        <p:spPr>
          <a:xfrm>
            <a:off x="6985000" y="3708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Incremental PPO effect beyond initialization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9A792-5CC0-2594-8E15-62A2092D391C}"/>
              </a:ext>
            </a:extLst>
          </p:cNvPr>
          <p:cNvCxnSpPr/>
          <p:nvPr/>
        </p:nvCxnSpPr>
        <p:spPr>
          <a:xfrm>
            <a:off x="6629400" y="4495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62EE5A2-A3A2-7548-DEDE-EA5E6EE72955}"/>
              </a:ext>
            </a:extLst>
          </p:cNvPr>
          <p:cNvSpPr txBox="1"/>
          <p:nvPr/>
        </p:nvSpPr>
        <p:spPr>
          <a:xfrm>
            <a:off x="6985000" y="4343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General superiority over stronger baselines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5C24FEF-DA44-C13C-BB26-2406844E188F}"/>
              </a:ext>
            </a:extLst>
          </p:cNvPr>
          <p:cNvSpPr/>
          <p:nvPr/>
        </p:nvSpPr>
        <p:spPr>
          <a:xfrm>
            <a:off x="812800" y="5384800"/>
            <a:ext cx="10515600" cy="660400"/>
          </a:xfrm>
          <a:prstGeom prst="roundRect">
            <a:avLst/>
          </a:prstGeom>
          <a:solidFill>
            <a:srgbClr val="F6E8E3"/>
          </a:solidFill>
          <a:ln w="15240">
            <a:solidFill>
              <a:srgbClr val="A15E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0E65FB-DACA-AE4B-D74B-B75AC6BAE866}"/>
              </a:ext>
            </a:extLst>
          </p:cNvPr>
          <p:cNvSpPr txBox="1"/>
          <p:nvPr/>
        </p:nvSpPr>
        <p:spPr>
          <a:xfrm>
            <a:off x="1041400" y="5473699"/>
            <a:ext cx="10033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Fixed Rotation is supply-blind: limited to Off and Full Service; it cannot select Critical Only. Synthetic evidence only.</a:t>
            </a:r>
          </a:p>
        </p:txBody>
      </p:sp>
    </p:spTree>
    <p:extLst>
      <p:ext uri="{BB962C8B-B14F-4D97-AF65-F5344CB8AC3E}">
        <p14:creationId xmlns:p14="http://schemas.microsoft.com/office/powerpoint/2010/main" val="378204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B7BD22-FD4A-F1FC-E556-590C357048D2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4446C2C-D2C0-67E9-F718-EC32A239B0DB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EC3FA65-BDD9-A716-4943-1A0F8CE2B434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FCBDF3-986F-7CA3-E364-FEB33D7FEDD0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2568EC-1FC7-5C9C-36D4-974481F102C5}"/>
              </a:ext>
            </a:extLst>
          </p:cNvPr>
          <p:cNvSpPr txBox="1"/>
          <p:nvPr/>
        </p:nvSpPr>
        <p:spPr>
          <a:xfrm>
            <a:off x="762000" y="9143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THE ANSWER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7336A3-2814-B53E-1101-6047FDF837AB}"/>
              </a:ext>
            </a:extLst>
          </p:cNvPr>
          <p:cNvSpPr txBox="1"/>
          <p:nvPr/>
        </p:nvSpPr>
        <p:spPr>
          <a:xfrm>
            <a:off x="762000" y="1625599"/>
            <a:ext cx="10414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600" b="1">
                <a:solidFill>
                  <a:srgbClr val="F3F0E8"/>
                </a:solidFill>
                <a:latin typeface="Aptos" panose="020B0004020202020204" pitchFamily="34" charset="0"/>
              </a:rPr>
              <a:t>PPO outperformed Fixed Rotation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89602-7EA7-F21A-CB2E-B4A4BDD2D856}"/>
              </a:ext>
            </a:extLst>
          </p:cNvPr>
          <p:cNvSpPr txBox="1"/>
          <p:nvPr/>
        </p:nvSpPr>
        <p:spPr>
          <a:xfrm>
            <a:off x="787400" y="26034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E0B957"/>
                </a:solidFill>
                <a:latin typeface="Aptos" panose="020B0004020202020204" pitchFamily="34" charset="0"/>
              </a:rPr>
              <a:t>under the locked synthetic evaluation protocol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AEC76E-7042-9460-45CF-9DBDBD7A9CEC}"/>
              </a:ext>
            </a:extLst>
          </p:cNvPr>
          <p:cNvCxnSpPr/>
          <p:nvPr/>
        </p:nvCxnSpPr>
        <p:spPr>
          <a:xfrm>
            <a:off x="787400" y="3441700"/>
            <a:ext cx="106172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E368058-F87B-3CEB-CEE5-7E5F6C9974D4}"/>
              </a:ext>
            </a:extLst>
          </p:cNvPr>
          <p:cNvCxnSpPr/>
          <p:nvPr/>
        </p:nvCxnSpPr>
        <p:spPr>
          <a:xfrm>
            <a:off x="787400" y="4038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F4814D6-3608-6A4A-E606-5E88912F9CE6}"/>
              </a:ext>
            </a:extLst>
          </p:cNvPr>
          <p:cNvSpPr txBox="1"/>
          <p:nvPr/>
        </p:nvSpPr>
        <p:spPr>
          <a:xfrm>
            <a:off x="1143000" y="38861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Three documented-seed-disjoint outcomes - no favorable-result 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1F82C-8A93-2629-ADFA-18C9C5F04341}"/>
              </a:ext>
            </a:extLst>
          </p:cNvPr>
          <p:cNvCxnSpPr/>
          <p:nvPr/>
        </p:nvCxnSpPr>
        <p:spPr>
          <a:xfrm>
            <a:off x="787400" y="46609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5A5446-F443-D975-FBEF-3BF65DD3BF1E}"/>
              </a:ext>
            </a:extLst>
          </p:cNvPr>
          <p:cNvSpPr txBox="1"/>
          <p:nvPr/>
        </p:nvSpPr>
        <p:spPr>
          <a:xfrm>
            <a:off x="1143000" y="45084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Against supply-blind Fixed Rotation limited to Off and Full Service; no Critical Only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F844CF8-E80B-EB66-4EAB-0E78943F99A0}"/>
              </a:ext>
            </a:extLst>
          </p:cNvPr>
          <p:cNvCxnSpPr/>
          <p:nvPr/>
        </p:nvCxnSpPr>
        <p:spPr>
          <a:xfrm>
            <a:off x="787400" y="52832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C2DDABF-22E8-1097-91EC-A7B2727140BD}"/>
              </a:ext>
            </a:extLst>
          </p:cNvPr>
          <p:cNvSpPr txBox="1"/>
          <p:nvPr/>
        </p:nvSpPr>
        <p:spPr>
          <a:xfrm>
            <a:off x="1143000" y="51307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GPU-first offline desktop with Frozen and Live views kept separate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C98BD0-245B-A6A1-2CEB-E15CEB42B54A}"/>
              </a:ext>
            </a:extLst>
          </p:cNvPr>
          <p:cNvSpPr/>
          <p:nvPr/>
        </p:nvSpPr>
        <p:spPr>
          <a:xfrm>
            <a:off x="787400" y="5740400"/>
            <a:ext cx="10617200" cy="533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27F489-05EC-9546-A5F9-BBAF7750CC98}"/>
              </a:ext>
            </a:extLst>
          </p:cNvPr>
          <p:cNvSpPr txBox="1"/>
          <p:nvPr/>
        </p:nvSpPr>
        <p:spPr>
          <a:xfrm>
            <a:off x="990600" y="5880099"/>
            <a:ext cx="10210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Next: representative operational data and electrical-network constraints</a:t>
            </a:r>
          </a:p>
        </p:txBody>
      </p:sp>
    </p:spTree>
    <p:extLst>
      <p:ext uri="{BB962C8B-B14F-4D97-AF65-F5344CB8AC3E}">
        <p14:creationId xmlns:p14="http://schemas.microsoft.com/office/powerpoint/2010/main" val="855470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1581</Words>
  <Application>Microsoft Office PowerPoint</Application>
  <PresentationFormat>Custom</PresentationFormat>
  <Paragraphs>298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Suliman Babiker</dc:creator>
  <cp:lastModifiedBy>Suliman Babiker</cp:lastModifiedBy>
  <cp:revision>1</cp:revision>
  <dcterms:created xsi:type="dcterms:W3CDTF">2026-10-21T19:12:31Z</dcterms:created>
  <dcterms:modified xsi:type="dcterms:W3CDTF">2026-10-21T19:12:31Z</dcterms:modified>
</cp:coreProperties>
</file>