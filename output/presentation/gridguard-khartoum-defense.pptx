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C9F3C-F1A4-4EFD-87B5-9B87CE447CC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327ED-D5CA-4DDC-A923-53307636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1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the project question: can a learned policy allocate limited modeled supply more effectively than a traditional schedule?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docs/source/graduation-project-proposal.pdf</a:t>
            </a:r>
          </a:p>
          <a:p>
            <a:r>
              <a:rPr lang="en-US"/>
              <a:t>- docs/REPORT.md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57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the problem as constrained allocation, not a claim that the simulator models the full electrical network. The schematic provides presentation context only.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docs/METHODOLOGY.md (Simulation domain; Limitations)</a:t>
            </a:r>
          </a:p>
          <a:p>
            <a:r>
              <a:rPr lang="en-US"/>
              <a:t>- docs/assets/screenshots/overview.png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3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right. The controller path and display-only forecast are deliberately separated so a presentation feature cannot silently change the claim.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docs/IMPLEMENTATION.md (System overview; Display-only forecast)</a:t>
            </a:r>
          </a:p>
          <a:p>
            <a:r>
              <a:rPr lang="en-US"/>
              <a:t>- docs/decisions/ADR-001-gpu-runtime.md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9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Stress the pairing: both controllers receive the same immutable Scenario object. The 288 conditions are severity variants of 96 independent base draws, not 288 independent draws; together they produce 576 controller-scenario evaluations.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docs/METHODOLOGY.md (Controller decisions; Matched evaluation design)</a:t>
            </a:r>
          </a:p>
          <a:p>
            <a:r>
              <a:rPr lang="en-US"/>
              <a:t>- data/evidence/paired-benchmark.json, SHA-256 2c3e71e48c4c7bff4fe609d42a76ca4f770f6dd717cd7d45d5e8e0d99fdf2d11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16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performance-critical scenario, simulation, PPO, metric, and bootstrap paths run on CUDA. One explicit final host transfer supports canonical evidence assembly and validation; it is not a controller fallback. The release gate validates Torch, CuPy, CUDA, DLPack sharing, the PPO artifact, and evidence before launch.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docs/IMPLEMENTATION.md (GPU-first execution; Verification strategy)</a:t>
            </a:r>
          </a:p>
          <a:p>
            <a:r>
              <a:rPr lang="en-US"/>
              <a:t>- docs/decisions/ADR-001-gpu-runtime.md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3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this after the slide: choose a shortage and seed, run once, then change controller and hour without changing the scenario. Point out demand, served MW, critical ratio, sector service, and the display-only next-hour projection.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docs/IMPLEMENTATION.md (Desktop presentation)</a:t>
            </a:r>
          </a:p>
          <a:p>
            <a:r>
              <a:rPr lang="en-US"/>
              <a:t>- docs/assets/screenshots/live.png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24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strongest proposal-facing result. The critical-service ratio is modeled critical energy served divided by critical demand. Critical-outage locality-hours use the locked 99% threshold and are diagnostic, not a bootstrap endpoint.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docs/RESULTS.md (Reproduced paired aggregate comparison)</a:t>
            </a:r>
          </a:p>
          <a:p>
            <a:r>
              <a:rPr lang="en-US"/>
              <a:t>- data/evidence/paired-benchmark.json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8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Served and curtailed energy are complementary under the energy identity, so present them as two views of the same allocation change rather than independent endpoints.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docs/RESULTS.md (Reproduced paired aggregate comparison)</a:t>
            </a:r>
          </a:p>
          <a:p>
            <a:r>
              <a:rPr lang="en-US"/>
              <a:t>- data/evidence/paired-benchmark.json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32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Positive favors PPO for higher-is-better outcomes; negative favors PPO for lower-is-better outcomes. The bootstrap resamples 96 base-draw clusters inside seed strata and keeps all 3 shortage variants together.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docs/METHODOLOGY.md (Paired uncertainty calculation)</a:t>
            </a:r>
          </a:p>
          <a:p>
            <a:r>
              <a:rPr lang="en-US"/>
              <a:t>- docs/RESULTS.md (Paired differences and 95% intervals)</a:t>
            </a:r>
          </a:p>
          <a:p>
            <a:r>
              <a:rPr lang="en-US"/>
              <a:t>- data/evidence/paired-benchmark.json, SHA-256 2c3e71e48c4c7bff4fe609d42a76ca4f770f6dd717cd7d45d5e8e0d99fdf2d11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5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6 primary outcomes favor PPO in all 9 cells. Switching favors PPO overall but in 7 of 9 cells. Oversubscription is lower in aggregate for PPO but mixed by cell, so it is not presented as a consistent primary advantage.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docs/RESULTS.md (Consistency across the nine evaluation cells)</a:t>
            </a:r>
          </a:p>
          <a:p>
            <a:r>
              <a:rPr lang="en-US"/>
              <a:t>- data/evidence/paired-benchmark.json, SHA-256 2c3e71e48c4c7bff4fe609d42a76ca4f770f6dd717cd7d45d5e8e0d99fdf2d11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42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boundary is part of the result, not a weakness to hide. The accepted historical artifact did not contain episode rows, so the paired rows and intervals are a reviewed regeneration, not reconstructed historical observations.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docs/RESULTS.md (Two evidence layers; Limitations)</a:t>
            </a:r>
          </a:p>
          <a:p>
            <a:r>
              <a:rPr lang="en-US"/>
              <a:t>- docs/METHODOLOGY.md (Limitations and threats to validity)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04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by answering the original question, then transition to the live demonstration. The next scientific step is operational-data and network-constraint validation before any field-facing use.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docs/RESULTS.md (Result statement; Interpretation)</a:t>
            </a:r>
          </a:p>
          <a:p>
            <a:r>
              <a:rPr lang="en-US"/>
              <a:t>- docs/REPORT.md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327ED-D5CA-4DDC-A923-53307636CE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70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6C23-9643-9461-BA6D-DE93861A1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EE971-8694-5190-94E5-FF530560C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97989-C180-39CA-9A0B-1D2D9123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C105-F4CE-6A12-66AC-5B7A7AED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6001-FC28-8388-319C-55C12070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9838-B091-2EFD-C08E-1CEBD4C7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7DA3-8F13-147F-8AF3-A2A06DEC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9052F-BB8D-54ED-2C33-A4D162E0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AC5F3-0813-17BD-F4A7-3123EF74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11E0C-457A-76FE-F023-15A1545A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3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2EEF-AA17-4475-24D7-552E4A2D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64158-780B-9115-4AB1-0FCB7446A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9CA4A-ACDD-87A7-77E5-15ECA0A1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ABC56-A8F8-3970-D320-3E90941E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6CF03-3328-29CD-49A6-73C57304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DBF7-0371-93B2-8616-7E833E15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B33B-7BE1-CA47-571E-F10156C48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B7A76-19AE-061A-C95C-4972402F0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68B55-A253-0DA2-A54B-24B365A7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1A31E-E466-1F5A-9715-370EF6A9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E7A7F-EC53-84C5-7D82-7DC4C31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9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29CF-5222-2BD2-3E9F-FEB20951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56D36-96C5-35A0-1185-C5C713B01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68DC1-D186-F226-2924-BFBFDF634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D4BDD-7F7E-BF8B-5B2B-D8D7924A1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48202-59F1-59E4-FF4F-D3B28FE6E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BCCBD-5709-0622-8EC2-F44A30F6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493D7B-67E9-4FA9-A5C9-4B51D3FC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72FD0-8FAC-3376-1800-751A5C2C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7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E31C-6AEA-24D8-A76D-3778C7CC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5C6B9-6846-8DD9-32F6-D582E755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2BB1-C5C4-50B5-71C8-A8F517C6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1140E-744F-121F-5C5B-5DF60EB9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6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FAF91-F67E-BB0B-E196-960C3189D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DAD9C-5700-F60B-97F2-9B83B191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73A2-8FF1-ED4C-EE13-0BD844C2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5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A156-5C2E-544E-1185-4EBE485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1986-1020-03D6-D32F-BF22FB699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97EBE-E556-F45E-C5CF-9FC5077A0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C9ED4-3852-60DC-6870-E23D31E5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A3E90-9B20-61C5-1D03-0F5F3EA6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A840F-8A91-E144-F4C0-C2368CD9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9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6835-9678-AD8C-A464-CB2DD423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87246-61D8-3F9C-797E-B7CA4095E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F75BC-C79E-DAED-19D2-AB6F2B1DD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951E9-D8E2-5320-FEA5-B4829A80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78F8E-8172-E770-82DE-9E8F48C5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F07F7-A410-3D5E-42EF-B05BED02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5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8B19-8A9F-1622-DC28-7C0364C1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6FDD3-0D57-36A8-C9A4-24C46B90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4ED4F-4B1C-7C3B-6431-5E842453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C3C62-23BF-5387-9AEC-961C59DD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A171-E297-2B98-BC20-253F1459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33E37-FD7F-5821-1B09-77DC9262C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9C689-DB8B-5E64-EBEF-B02D8B6CE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9F440-0068-C593-28F5-EB66AEEC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9E9D3-ABB3-79E8-CC0E-887A1801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EE742-4155-C204-B6EF-003F7C8D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8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C5C90-8D1C-73FF-2EEA-019FC288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CA712-3147-533D-E78E-E07AA75C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422BB-C9A8-1E24-47C2-C37AFD148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40E14-F31D-43C6-995C-1BC50907502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1AE81-5D5D-662F-04A0-4EF7F4F99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16197-58BD-DA75-B9FC-7E309B3E0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E5D25-B7F4-4053-A13F-9DB9FA4E4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6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67AE0-F72F-8558-4E75-E8462C0461CC}"/>
              </a:ext>
            </a:extLst>
          </p:cNvPr>
          <p:cNvSpPr txBox="1"/>
          <p:nvPr/>
        </p:nvSpPr>
        <p:spPr>
          <a:xfrm>
            <a:off x="762000" y="736599"/>
            <a:ext cx="533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GRADUATION PROJECT 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08EC4-6338-4E98-61BE-3E5E5B45D6E9}"/>
              </a:ext>
            </a:extLst>
          </p:cNvPr>
          <p:cNvSpPr txBox="1"/>
          <p:nvPr/>
        </p:nvSpPr>
        <p:spPr>
          <a:xfrm>
            <a:off x="762000" y="1625599"/>
            <a:ext cx="9906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400" b="1">
                <a:solidFill>
                  <a:srgbClr val="F3F0E8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9D696-23C3-A986-1200-06D1D57416FD}"/>
              </a:ext>
            </a:extLst>
          </p:cNvPr>
          <p:cNvSpPr txBox="1"/>
          <p:nvPr/>
        </p:nvSpPr>
        <p:spPr>
          <a:xfrm>
            <a:off x="762000" y="26923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>
                <a:solidFill>
                  <a:srgbClr val="E0B957"/>
                </a:solidFill>
                <a:latin typeface="Aptos" panose="020B0004020202020204" pitchFamily="34" charset="0"/>
              </a:rPr>
              <a:t>PPO-assisted load shedding and energy management for developing countries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B55A0D-D29A-D85E-F11C-07300031EDBA}"/>
              </a:ext>
            </a:extLst>
          </p:cNvPr>
          <p:cNvCxnSpPr/>
          <p:nvPr/>
        </p:nvCxnSpPr>
        <p:spPr>
          <a:xfrm>
            <a:off x="762000" y="3835400"/>
            <a:ext cx="2870200" cy="0"/>
          </a:xfrm>
          <a:prstGeom prst="line">
            <a:avLst/>
          </a:prstGeom>
          <a:ln w="635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B1D76A6-73F8-2D7F-3DAD-1E9E0E3CE147}"/>
              </a:ext>
            </a:extLst>
          </p:cNvPr>
          <p:cNvSpPr txBox="1"/>
          <p:nvPr/>
        </p:nvSpPr>
        <p:spPr>
          <a:xfrm>
            <a:off x="762000" y="4381499"/>
            <a:ext cx="533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F3F0E8"/>
                </a:solidFill>
                <a:latin typeface="Aptos" panose="020B0004020202020204" pitchFamily="34" charset="0"/>
              </a:rPr>
              <a:t>Murtada Asim Ibrahim Bakhit (18-317)</a:t>
            </a:r>
            <a:endParaRPr lang="en-US" sz="1700">
              <a:solidFill>
                <a:srgbClr val="F3F0E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30246-A059-3BAD-85FC-24A0DFC8F072}"/>
              </a:ext>
            </a:extLst>
          </p:cNvPr>
          <p:cNvSpPr txBox="1"/>
          <p:nvPr/>
        </p:nvSpPr>
        <p:spPr>
          <a:xfrm>
            <a:off x="762000" y="4749799"/>
            <a:ext cx="533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F3F0E8"/>
                </a:solidFill>
                <a:latin typeface="Aptos" panose="020B0004020202020204" pitchFamily="34" charset="0"/>
              </a:rPr>
              <a:t>Suliman Elawad Suliman Babiker (18-310)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056BF-6D15-4AF3-FBEE-F2BE8A0F7C6E}"/>
              </a:ext>
            </a:extLst>
          </p:cNvPr>
          <p:cNvSpPr txBox="1"/>
          <p:nvPr/>
        </p:nvSpPr>
        <p:spPr>
          <a:xfrm>
            <a:off x="762000" y="5118099"/>
            <a:ext cx="533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F3F0E8"/>
                </a:solidFill>
                <a:latin typeface="Aptos" panose="020B0004020202020204" pitchFamily="34" charset="0"/>
              </a:rPr>
              <a:t>Abdalhay Abass Mobarak Abass (15-306)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1D893-E68F-40B1-ED80-40306703AE22}"/>
              </a:ext>
            </a:extLst>
          </p:cNvPr>
          <p:cNvSpPr txBox="1"/>
          <p:nvPr/>
        </p:nvSpPr>
        <p:spPr>
          <a:xfrm>
            <a:off x="762000" y="5994400"/>
            <a:ext cx="558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83939D"/>
                </a:solidFill>
                <a:latin typeface="Aptos" panose="020B0004020202020204" pitchFamily="34" charset="0"/>
              </a:rPr>
              <a:t>Offline research simulation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18596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702F2-848A-1BF4-921F-73EED8FC6F6F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BD3EF3-197E-1F87-7D2F-744885848F85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3DDB8D-C739-7279-C428-1A8A7B497209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DFAAA-18A1-2EAA-73E4-BEFBEEB2D9A8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6EC30-E0DF-7787-5B1C-BB7EF7B5C6BB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F3F0E8"/>
                </a:solidFill>
                <a:latin typeface="Aptos" panose="020B0004020202020204" pitchFamily="34" charset="0"/>
              </a:rPr>
              <a:t>A shortage creates seven simultaneous allocation choices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D2DC96-F201-CC0C-298F-CE6BF187DD23}"/>
              </a:ext>
            </a:extLst>
          </p:cNvPr>
          <p:cNvCxnSpPr/>
          <p:nvPr/>
        </p:nvCxnSpPr>
        <p:spPr>
          <a:xfrm>
            <a:off x="736600" y="21844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AAE50B-424E-06B7-4CDC-B20F3FE5F8FC}"/>
              </a:ext>
            </a:extLst>
          </p:cNvPr>
          <p:cNvSpPr txBox="1"/>
          <p:nvPr/>
        </p:nvSpPr>
        <p:spPr>
          <a:xfrm>
            <a:off x="1092200" y="2031999"/>
            <a:ext cx="3835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>
                <a:solidFill>
                  <a:srgbClr val="F3F0E8"/>
                </a:solidFill>
                <a:latin typeface="Aptos" panose="020B0004020202020204" pitchFamily="34" charset="0"/>
              </a:rPr>
              <a:t>Protect Hospital, Water, and Bakery demand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42C707-5DD1-4486-6A65-2540DA53CE2B}"/>
              </a:ext>
            </a:extLst>
          </p:cNvPr>
          <p:cNvCxnSpPr/>
          <p:nvPr/>
        </p:nvCxnSpPr>
        <p:spPr>
          <a:xfrm>
            <a:off x="736600" y="30226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52AF62-527D-C1C6-08B6-FEF72860D0E5}"/>
              </a:ext>
            </a:extLst>
          </p:cNvPr>
          <p:cNvSpPr txBox="1"/>
          <p:nvPr/>
        </p:nvSpPr>
        <p:spPr>
          <a:xfrm>
            <a:off x="1092200" y="2870199"/>
            <a:ext cx="3835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>
                <a:solidFill>
                  <a:srgbClr val="F3F0E8"/>
                </a:solidFill>
                <a:latin typeface="Aptos" panose="020B0004020202020204" pitchFamily="34" charset="0"/>
              </a:rPr>
              <a:t>Use the available supply without exceeding 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2BE4A7-DE69-BE81-15C7-9015464F763B}"/>
              </a:ext>
            </a:extLst>
          </p:cNvPr>
          <p:cNvCxnSpPr/>
          <p:nvPr/>
        </p:nvCxnSpPr>
        <p:spPr>
          <a:xfrm>
            <a:off x="736600" y="38608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F57BDC-18EE-05A4-82A9-CD70C12C7CBF}"/>
              </a:ext>
            </a:extLst>
          </p:cNvPr>
          <p:cNvSpPr txBox="1"/>
          <p:nvPr/>
        </p:nvSpPr>
        <p:spPr>
          <a:xfrm>
            <a:off x="1092200" y="3708399"/>
            <a:ext cx="38354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>
                <a:solidFill>
                  <a:srgbClr val="F3F0E8"/>
                </a:solidFill>
                <a:latin typeface="Aptos" panose="020B0004020202020204" pitchFamily="34" charset="0"/>
              </a:rPr>
              <a:t>Share service across seven modeled localities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6A1614-D8AB-E659-03FF-7A3B6BA2DEF3}"/>
              </a:ext>
            </a:extLst>
          </p:cNvPr>
          <p:cNvSpPr/>
          <p:nvPr/>
        </p:nvSpPr>
        <p:spPr>
          <a:xfrm>
            <a:off x="5397500" y="1778000"/>
            <a:ext cx="6159500" cy="3467100"/>
          </a:xfrm>
          <a:prstGeom prst="roundRect">
            <a:avLst/>
          </a:prstGeom>
          <a:solidFill>
            <a:srgbClr val="102A3B"/>
          </a:solidFill>
          <a:ln w="15240">
            <a:solidFill>
              <a:srgbClr val="36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idGuard overview showing the seven-locality schematic and frozen controller summary">
            <a:extLst>
              <a:ext uri="{FF2B5EF4-FFF2-40B4-BE49-F238E27FC236}">
                <a16:creationId xmlns:a16="http://schemas.microsoft.com/office/drawing/2014/main" id="{05265F23-4295-647A-8A9E-CE6129320F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866900"/>
            <a:ext cx="5981700" cy="3365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1A3379-77DC-DF1D-9788-4917370D8610}"/>
              </a:ext>
            </a:extLst>
          </p:cNvPr>
          <p:cNvSpPr txBox="1"/>
          <p:nvPr/>
        </p:nvSpPr>
        <p:spPr>
          <a:xfrm>
            <a:off x="736600" y="5562599"/>
            <a:ext cx="10033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3FC6AC"/>
                </a:solidFill>
                <a:latin typeface="Aptos" panose="020B0004020202020204" pitchFamily="34" charset="0"/>
              </a:rPr>
              <a:t>Synthetic decision-support scope - not a live grid controller</a:t>
            </a:r>
          </a:p>
        </p:txBody>
      </p:sp>
    </p:spTree>
    <p:extLst>
      <p:ext uri="{BB962C8B-B14F-4D97-AF65-F5344CB8AC3E}">
        <p14:creationId xmlns:p14="http://schemas.microsoft.com/office/powerpoint/2010/main" val="1270980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099D2-0754-F694-D82E-B12BC5D211B2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60727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52874B-006F-869E-0264-C2442FA4438D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6959729-C088-21FC-F7CC-25D29FEFAA1A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0727D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1D27C-06B2-0C3B-0F47-C92DB0D02313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0727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4D272-35E0-C22D-01F3-F5476BDEC78C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13232E"/>
                </a:solidFill>
                <a:latin typeface="Aptos" panose="020B0004020202020204" pitchFamily="34" charset="0"/>
              </a:rPr>
              <a:t>The proposal became a clean, auditable desktop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F30537-6895-FFBB-6AC0-83E59360152F}"/>
              </a:ext>
            </a:extLst>
          </p:cNvPr>
          <p:cNvCxnSpPr/>
          <p:nvPr/>
        </p:nvCxnSpPr>
        <p:spPr>
          <a:xfrm>
            <a:off x="2476500" y="2921000"/>
            <a:ext cx="5715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AFF4D-F2F8-2D67-9FC5-B260155BAC3A}"/>
              </a:ext>
            </a:extLst>
          </p:cNvPr>
          <p:cNvCxnSpPr/>
          <p:nvPr/>
        </p:nvCxnSpPr>
        <p:spPr>
          <a:xfrm>
            <a:off x="4699000" y="2921000"/>
            <a:ext cx="5715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3FD2D-0939-2F1D-86D9-2C497C51C6C4}"/>
              </a:ext>
            </a:extLst>
          </p:cNvPr>
          <p:cNvCxnSpPr/>
          <p:nvPr/>
        </p:nvCxnSpPr>
        <p:spPr>
          <a:xfrm>
            <a:off x="6921500" y="2921000"/>
            <a:ext cx="5715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79D210-1802-4580-B072-88B0DD03FE2E}"/>
              </a:ext>
            </a:extLst>
          </p:cNvPr>
          <p:cNvCxnSpPr/>
          <p:nvPr/>
        </p:nvCxnSpPr>
        <p:spPr>
          <a:xfrm>
            <a:off x="9144000" y="2921000"/>
            <a:ext cx="5715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9701A5-BB91-E680-5179-1E31172A85A8}"/>
              </a:ext>
            </a:extLst>
          </p:cNvPr>
          <p:cNvSpPr/>
          <p:nvPr/>
        </p:nvSpPr>
        <p:spPr>
          <a:xfrm>
            <a:off x="825500" y="2336800"/>
            <a:ext cx="1651000" cy="1168400"/>
          </a:xfrm>
          <a:prstGeom prst="roundRect">
            <a:avLst/>
          </a:prstGeom>
          <a:solidFill>
            <a:srgbClr val="102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49629-9924-100B-7344-790103168E70}"/>
              </a:ext>
            </a:extLst>
          </p:cNvPr>
          <p:cNvSpPr txBox="1"/>
          <p:nvPr/>
        </p:nvSpPr>
        <p:spPr>
          <a:xfrm>
            <a:off x="927100" y="2578099"/>
            <a:ext cx="1447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Seeded
scenarios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E6ABC-5ED5-CF4D-E103-322835F32435}"/>
              </a:ext>
            </a:extLst>
          </p:cNvPr>
          <p:cNvSpPr/>
          <p:nvPr/>
        </p:nvSpPr>
        <p:spPr>
          <a:xfrm>
            <a:off x="3048000" y="2336800"/>
            <a:ext cx="1651000" cy="1168400"/>
          </a:xfrm>
          <a:prstGeom prst="roundRect">
            <a:avLst/>
          </a:prstGeom>
          <a:solidFill>
            <a:srgbClr val="102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B25BF7-012A-79AB-36ED-11639B84F46E}"/>
              </a:ext>
            </a:extLst>
          </p:cNvPr>
          <p:cNvSpPr txBox="1"/>
          <p:nvPr/>
        </p:nvSpPr>
        <p:spPr>
          <a:xfrm>
            <a:off x="3149600" y="2578099"/>
            <a:ext cx="1447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Shared CUDA
tensors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25C83D-D466-301A-8212-8E8CF7031CC1}"/>
              </a:ext>
            </a:extLst>
          </p:cNvPr>
          <p:cNvSpPr/>
          <p:nvPr/>
        </p:nvSpPr>
        <p:spPr>
          <a:xfrm>
            <a:off x="5270500" y="2336800"/>
            <a:ext cx="1651000" cy="1168400"/>
          </a:xfrm>
          <a:prstGeom prst="round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88BC23-C941-5825-2779-0C1EFFED001C}"/>
              </a:ext>
            </a:extLst>
          </p:cNvPr>
          <p:cNvSpPr txBox="1"/>
          <p:nvPr/>
        </p:nvSpPr>
        <p:spPr>
          <a:xfrm>
            <a:off x="5372100" y="2578099"/>
            <a:ext cx="1447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PPO and
Fixed Rotation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AB13CC-3E6F-2CF5-3BEF-4AF854A4F23B}"/>
              </a:ext>
            </a:extLst>
          </p:cNvPr>
          <p:cNvSpPr/>
          <p:nvPr/>
        </p:nvSpPr>
        <p:spPr>
          <a:xfrm>
            <a:off x="7493000" y="2336800"/>
            <a:ext cx="1651000" cy="1168400"/>
          </a:xfrm>
          <a:prstGeom prst="roundRect">
            <a:avLst/>
          </a:prstGeom>
          <a:solidFill>
            <a:srgbClr val="102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C855AD-7197-03F6-080D-B1BE5D1FA4E8}"/>
              </a:ext>
            </a:extLst>
          </p:cNvPr>
          <p:cNvSpPr txBox="1"/>
          <p:nvPr/>
        </p:nvSpPr>
        <p:spPr>
          <a:xfrm>
            <a:off x="7594600" y="2578099"/>
            <a:ext cx="1447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Paired
evidence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E2C667-B4FA-5121-B20C-6DD9B163B2E5}"/>
              </a:ext>
            </a:extLst>
          </p:cNvPr>
          <p:cNvSpPr/>
          <p:nvPr/>
        </p:nvSpPr>
        <p:spPr>
          <a:xfrm>
            <a:off x="9715500" y="2336800"/>
            <a:ext cx="1651000" cy="1168400"/>
          </a:xfrm>
          <a:prstGeom prst="round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ACF94E-E806-09CD-3080-E778793A15F1}"/>
              </a:ext>
            </a:extLst>
          </p:cNvPr>
          <p:cNvSpPr txBox="1"/>
          <p:nvPr/>
        </p:nvSpPr>
        <p:spPr>
          <a:xfrm>
            <a:off x="9817100" y="2578099"/>
            <a:ext cx="1447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Desktop
replay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4FB53-B513-2499-7F0D-89348F280D5D}"/>
              </a:ext>
            </a:extLst>
          </p:cNvPr>
          <p:cNvSpPr txBox="1"/>
          <p:nvPr/>
        </p:nvSpPr>
        <p:spPr>
          <a:xfrm>
            <a:off x="736600" y="4063999"/>
            <a:ext cx="355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3232E"/>
                </a:solidFill>
                <a:latin typeface="Aptos" panose="020B0004020202020204" pitchFamily="34" charset="0"/>
              </a:rPr>
              <a:t>Controller evidence path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B877AE-730F-2F1B-AE51-44125AF3763A}"/>
              </a:ext>
            </a:extLst>
          </p:cNvPr>
          <p:cNvCxnSpPr/>
          <p:nvPr/>
        </p:nvCxnSpPr>
        <p:spPr>
          <a:xfrm>
            <a:off x="736600" y="4508500"/>
            <a:ext cx="10693400" cy="0"/>
          </a:xfrm>
          <a:prstGeom prst="line">
            <a:avLst/>
          </a:prstGeom>
          <a:ln w="1270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706574-5F1B-CB10-31F2-BB4799FBF91B}"/>
              </a:ext>
            </a:extLst>
          </p:cNvPr>
          <p:cNvSpPr txBox="1"/>
          <p:nvPr/>
        </p:nvSpPr>
        <p:spPr>
          <a:xfrm>
            <a:off x="736600" y="4825999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3232E"/>
                </a:solidFill>
                <a:latin typeface="Aptos" panose="020B0004020202020204" pitchFamily="34" charset="0"/>
              </a:rPr>
              <a:t>Demand projection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93F50-A604-E8D2-FC69-D5027218E632}"/>
              </a:ext>
            </a:extLst>
          </p:cNvPr>
          <p:cNvSpPr txBox="1"/>
          <p:nvPr/>
        </p:nvSpPr>
        <p:spPr>
          <a:xfrm>
            <a:off x="3175000" y="4825999"/>
            <a:ext cx="825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60727D"/>
                </a:solidFill>
                <a:latin typeface="Aptos" panose="020B0004020202020204" pitchFamily="34" charset="0"/>
              </a:rPr>
              <a:t>Display only - never enters PPO, dispatch, reward, or benchmark evidence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3C469E-EDE3-C6A9-BA3E-78E1D331F6D9}"/>
              </a:ext>
            </a:extLst>
          </p:cNvPr>
          <p:cNvSpPr txBox="1"/>
          <p:nvPr/>
        </p:nvSpPr>
        <p:spPr>
          <a:xfrm>
            <a:off x="736600" y="5664199"/>
            <a:ext cx="1041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Offline after installation  |  hash-bound artifacts  |  fail-closed startup</a:t>
            </a:r>
          </a:p>
        </p:txBody>
      </p:sp>
    </p:spTree>
    <p:extLst>
      <p:ext uri="{BB962C8B-B14F-4D97-AF65-F5344CB8AC3E}">
        <p14:creationId xmlns:p14="http://schemas.microsoft.com/office/powerpoint/2010/main" val="74911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3BC58-7A53-4CEF-4FAD-3FBEFAF443DC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2810F2-0445-AB62-A3CB-A24925027651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740734-9900-A1AC-3B25-3EB3854D52E1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8087-9BF6-2F58-77C3-25A3ABD06EA2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B1812-F1F4-545E-5130-56F93217EA46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F3F0E8"/>
                </a:solidFill>
                <a:latin typeface="Aptos" panose="020B0004020202020204" pitchFamily="34" charset="0"/>
              </a:rPr>
              <a:t>PPO and Fixed Rotation receive exactly the same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B6332-F741-86B6-0FD9-5E2D98AC7544}"/>
              </a:ext>
            </a:extLst>
          </p:cNvPr>
          <p:cNvSpPr txBox="1"/>
          <p:nvPr/>
        </p:nvSpPr>
        <p:spPr>
          <a:xfrm>
            <a:off x="863600" y="1904999"/>
            <a:ext cx="19050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4800" b="1">
                <a:solidFill>
                  <a:srgbClr val="E0B957"/>
                </a:solidFill>
                <a:latin typeface="Aptos" panose="020B0004020202020204" pitchFamily="34" charset="0"/>
              </a:rPr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F972D-CDF4-8289-2AE3-CF974648605F}"/>
              </a:ext>
            </a:extLst>
          </p:cNvPr>
          <p:cNvSpPr txBox="1"/>
          <p:nvPr/>
        </p:nvSpPr>
        <p:spPr>
          <a:xfrm>
            <a:off x="863600" y="2717799"/>
            <a:ext cx="1905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independent
base draws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D147C-941C-4507-12DB-3DBBB0A5948D}"/>
              </a:ext>
            </a:extLst>
          </p:cNvPr>
          <p:cNvSpPr txBox="1"/>
          <p:nvPr/>
        </p:nvSpPr>
        <p:spPr>
          <a:xfrm>
            <a:off x="2946400" y="2146299"/>
            <a:ext cx="127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100" b="1">
                <a:solidFill>
                  <a:srgbClr val="83939D"/>
                </a:solidFill>
                <a:latin typeface="Aptos" panose="020B0004020202020204" pitchFamily="34" charset="0"/>
              </a:rPr>
              <a:t>x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510E0-95BA-623E-DD85-3AB33DD668F4}"/>
              </a:ext>
            </a:extLst>
          </p:cNvPr>
          <p:cNvSpPr txBox="1"/>
          <p:nvPr/>
        </p:nvSpPr>
        <p:spPr>
          <a:xfrm>
            <a:off x="4368800" y="1904999"/>
            <a:ext cx="20320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4800" b="1">
                <a:solidFill>
                  <a:srgbClr val="3FC6AC"/>
                </a:solidFill>
                <a:latin typeface="Aptos" panose="020B0004020202020204" pitchFamily="34" charset="0"/>
              </a:rPr>
              <a:t>288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2243A-6AB4-CC00-4FA9-82DCDFA1903A}"/>
              </a:ext>
            </a:extLst>
          </p:cNvPr>
          <p:cNvSpPr txBox="1"/>
          <p:nvPr/>
        </p:nvSpPr>
        <p:spPr>
          <a:xfrm>
            <a:off x="4368800" y="2717799"/>
            <a:ext cx="2032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matched scenario
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F1FD3-A30F-B611-099D-4D16CEC4BDB5}"/>
              </a:ext>
            </a:extLst>
          </p:cNvPr>
          <p:cNvSpPr txBox="1"/>
          <p:nvPr/>
        </p:nvSpPr>
        <p:spPr>
          <a:xfrm>
            <a:off x="6578600" y="2146299"/>
            <a:ext cx="127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100" b="1">
                <a:solidFill>
                  <a:srgbClr val="83939D"/>
                </a:solidFill>
                <a:latin typeface="Aptos" panose="020B0004020202020204" pitchFamily="34" charset="0"/>
              </a:rPr>
              <a:t>x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432D3-E3D4-E99C-88FA-441F0835755E}"/>
              </a:ext>
            </a:extLst>
          </p:cNvPr>
          <p:cNvSpPr txBox="1"/>
          <p:nvPr/>
        </p:nvSpPr>
        <p:spPr>
          <a:xfrm>
            <a:off x="8001000" y="1904999"/>
            <a:ext cx="21590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4800" b="1">
                <a:solidFill>
                  <a:srgbClr val="E0B957"/>
                </a:solidFill>
                <a:latin typeface="Aptos" panose="020B0004020202020204" pitchFamily="34" charset="0"/>
              </a:rPr>
              <a:t>576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60021-8C52-DD04-8E80-945C0B66A0E1}"/>
              </a:ext>
            </a:extLst>
          </p:cNvPr>
          <p:cNvSpPr txBox="1"/>
          <p:nvPr/>
        </p:nvSpPr>
        <p:spPr>
          <a:xfrm>
            <a:off x="8001000" y="2717799"/>
            <a:ext cx="2413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controller-scenario
evaluations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7012F1-437D-F08D-2F0C-4C216E63BD5E}"/>
              </a:ext>
            </a:extLst>
          </p:cNvPr>
          <p:cNvCxnSpPr/>
          <p:nvPr/>
        </p:nvCxnSpPr>
        <p:spPr>
          <a:xfrm>
            <a:off x="889000" y="3873500"/>
            <a:ext cx="10414000" cy="0"/>
          </a:xfrm>
          <a:prstGeom prst="line">
            <a:avLst/>
          </a:prstGeom>
          <a:ln w="1270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CA1620-8EC7-C24F-84FE-1DCFE5B5D516}"/>
              </a:ext>
            </a:extLst>
          </p:cNvPr>
          <p:cNvSpPr txBox="1"/>
          <p:nvPr/>
        </p:nvSpPr>
        <p:spPr>
          <a:xfrm>
            <a:off x="990600" y="4317999"/>
            <a:ext cx="2159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3FC6AC"/>
                </a:solidFill>
                <a:latin typeface="Aptos" panose="020B0004020202020204" pitchFamily="34" charset="0"/>
              </a:rPr>
              <a:t>PPO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9DBDF-B687-0496-EAAF-D96354FD7C72}"/>
              </a:ext>
            </a:extLst>
          </p:cNvPr>
          <p:cNvSpPr txBox="1"/>
          <p:nvPr/>
        </p:nvSpPr>
        <p:spPr>
          <a:xfrm>
            <a:off x="990600" y="4800599"/>
            <a:ext cx="3556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3F0E8"/>
                </a:solidFill>
                <a:latin typeface="Aptos" panose="020B0004020202020204" pitchFamily="34" charset="0"/>
              </a:rPr>
              <a:t>32-value causal observation
Learned 7-locality joint 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0B925A-8050-F87E-572C-57E12E71D947}"/>
              </a:ext>
            </a:extLst>
          </p:cNvPr>
          <p:cNvSpPr txBox="1"/>
          <p:nvPr/>
        </p:nvSpPr>
        <p:spPr>
          <a:xfrm>
            <a:off x="6451600" y="4317999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E0B957"/>
                </a:solidFill>
                <a:latin typeface="Aptos" panose="020B0004020202020204" pitchFamily="34" charset="0"/>
              </a:rPr>
              <a:t>Fixed Rotation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60BDC-E914-6B08-3935-B6DA6F786F01}"/>
              </a:ext>
            </a:extLst>
          </p:cNvPr>
          <p:cNvSpPr txBox="1"/>
          <p:nvPr/>
        </p:nvSpPr>
        <p:spPr>
          <a:xfrm>
            <a:off x="6451600" y="4800599"/>
            <a:ext cx="4191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3F0E8"/>
                </a:solidFill>
                <a:latin typeface="Aptos" panose="020B0004020202020204" pitchFamily="34" charset="0"/>
              </a:rPr>
              <a:t>Three-hour schedule blocks
No demand or fairness observation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1D413-8526-19E8-7611-1C81A9BEEF16}"/>
              </a:ext>
            </a:extLst>
          </p:cNvPr>
          <p:cNvSpPr txBox="1"/>
          <p:nvPr/>
        </p:nvSpPr>
        <p:spPr>
          <a:xfrm>
            <a:off x="3175000" y="5816599"/>
            <a:ext cx="584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3FC6AC"/>
                </a:solidFill>
                <a:latin typeface="Aptos" panose="020B0004020202020204" pitchFamily="34" charset="0"/>
              </a:rPr>
              <a:t>Every stored delta is PPO - Fixed Rotation</a:t>
            </a:r>
          </a:p>
        </p:txBody>
      </p:sp>
    </p:spTree>
    <p:extLst>
      <p:ext uri="{BB962C8B-B14F-4D97-AF65-F5344CB8AC3E}">
        <p14:creationId xmlns:p14="http://schemas.microsoft.com/office/powerpoint/2010/main" val="81092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8CD650-92AB-2C23-D875-57F688BB45E0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60727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94A19A-0C6C-68BC-C566-07BFAFEAAA65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7D27E8-7E31-1CBB-869A-4B26E6BB2544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0727D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C8F1F-EAC6-15BE-BB02-39F4C057B4C8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0727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87106-9FBB-E823-4407-E5AF5D51A938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13232E"/>
                </a:solidFill>
                <a:latin typeface="Aptos" panose="020B0004020202020204" pitchFamily="34" charset="0"/>
              </a:rPr>
              <a:t>GPU-first simulation, PPO inference, and paired bootstrap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DC0F5C-1296-580B-E9A5-55E682E94864}"/>
              </a:ext>
            </a:extLst>
          </p:cNvPr>
          <p:cNvCxnSpPr/>
          <p:nvPr/>
        </p:nvCxnSpPr>
        <p:spPr>
          <a:xfrm>
            <a:off x="2286000" y="2997200"/>
            <a:ext cx="24130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1A5C2-9D95-1FD8-1732-2DBF4F0BE742}"/>
              </a:ext>
            </a:extLst>
          </p:cNvPr>
          <p:cNvCxnSpPr/>
          <p:nvPr/>
        </p:nvCxnSpPr>
        <p:spPr>
          <a:xfrm>
            <a:off x="6413500" y="2997200"/>
            <a:ext cx="2413000" cy="0"/>
          </a:xfrm>
          <a:prstGeom prst="line">
            <a:avLst/>
          </a:prstGeom>
          <a:ln w="31750">
            <a:solidFill>
              <a:srgbClr val="E0B95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325630-776E-3CD2-F7B8-FDA830059F5D}"/>
              </a:ext>
            </a:extLst>
          </p:cNvPr>
          <p:cNvSpPr/>
          <p:nvPr/>
        </p:nvSpPr>
        <p:spPr>
          <a:xfrm>
            <a:off x="889000" y="2260600"/>
            <a:ext cx="2286000" cy="1473200"/>
          </a:xfrm>
          <a:prstGeom prst="roundRect">
            <a:avLst/>
          </a:prstGeom>
          <a:solidFill>
            <a:srgbClr val="102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04977-F6FC-EB33-8A21-C21B428727EA}"/>
              </a:ext>
            </a:extLst>
          </p:cNvPr>
          <p:cNvSpPr txBox="1"/>
          <p:nvPr/>
        </p:nvSpPr>
        <p:spPr>
          <a:xfrm>
            <a:off x="1092200" y="2514599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 b="1">
                <a:solidFill>
                  <a:srgbClr val="F3F0E8"/>
                </a:solidFill>
                <a:latin typeface="Aptos" panose="020B0004020202020204" pitchFamily="34" charset="0"/>
              </a:rPr>
              <a:t>PyTorch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5B744-45C1-48E9-15E8-33A20D27D261}"/>
              </a:ext>
            </a:extLst>
          </p:cNvPr>
          <p:cNvSpPr txBox="1"/>
          <p:nvPr/>
        </p:nvSpPr>
        <p:spPr>
          <a:xfrm>
            <a:off x="1092200" y="2946399"/>
            <a:ext cx="1879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>
                <a:solidFill>
                  <a:srgbClr val="83939D"/>
                </a:solidFill>
                <a:latin typeface="Aptos" panose="020B0004020202020204" pitchFamily="34" charset="0"/>
              </a:rPr>
              <a:t>scenarios
simulation
PPO inference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026B0A-686A-A481-BDD1-1A842207B1F3}"/>
              </a:ext>
            </a:extLst>
          </p:cNvPr>
          <p:cNvSpPr/>
          <p:nvPr/>
        </p:nvSpPr>
        <p:spPr>
          <a:xfrm>
            <a:off x="4953000" y="1993900"/>
            <a:ext cx="1778000" cy="2006600"/>
          </a:xfrm>
          <a:prstGeom prst="round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194C1-EE00-F535-1A5F-176587D4088D}"/>
              </a:ext>
            </a:extLst>
          </p:cNvPr>
          <p:cNvSpPr txBox="1"/>
          <p:nvPr/>
        </p:nvSpPr>
        <p:spPr>
          <a:xfrm>
            <a:off x="5105400" y="2527299"/>
            <a:ext cx="1473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100" b="1">
                <a:solidFill>
                  <a:srgbClr val="071923"/>
                </a:solidFill>
                <a:latin typeface="Aptos" panose="020B0004020202020204" pitchFamily="34" charset="0"/>
              </a:rPr>
              <a:t>cuda:0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C9967-D2A5-C700-CD45-21BD053630F8}"/>
              </a:ext>
            </a:extLst>
          </p:cNvPr>
          <p:cNvSpPr txBox="1"/>
          <p:nvPr/>
        </p:nvSpPr>
        <p:spPr>
          <a:xfrm>
            <a:off x="5105400" y="3174999"/>
            <a:ext cx="1473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071923"/>
                </a:solidFill>
                <a:latin typeface="Aptos" panose="020B0004020202020204" pitchFamily="34" charset="0"/>
              </a:rPr>
              <a:t>no CPU fallback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5388B6-6BDF-1FF7-476F-FD128789E204}"/>
              </a:ext>
            </a:extLst>
          </p:cNvPr>
          <p:cNvSpPr/>
          <p:nvPr/>
        </p:nvSpPr>
        <p:spPr>
          <a:xfrm>
            <a:off x="9080500" y="2260600"/>
            <a:ext cx="2286000" cy="1473200"/>
          </a:xfrm>
          <a:prstGeom prst="roundRect">
            <a:avLst/>
          </a:prstGeom>
          <a:solidFill>
            <a:srgbClr val="102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15817-38A0-2636-D04B-1A6C15050C39}"/>
              </a:ext>
            </a:extLst>
          </p:cNvPr>
          <p:cNvSpPr txBox="1"/>
          <p:nvPr/>
        </p:nvSpPr>
        <p:spPr>
          <a:xfrm>
            <a:off x="9283700" y="2514599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 b="1">
                <a:solidFill>
                  <a:srgbClr val="F3F0E8"/>
                </a:solidFill>
                <a:latin typeface="Aptos" panose="020B0004020202020204" pitchFamily="34" charset="0"/>
              </a:rPr>
              <a:t>CuPy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F1CB4-0876-FC2B-825B-4DC1023A767C}"/>
              </a:ext>
            </a:extLst>
          </p:cNvPr>
          <p:cNvSpPr txBox="1"/>
          <p:nvPr/>
        </p:nvSpPr>
        <p:spPr>
          <a:xfrm>
            <a:off x="9283700" y="2946399"/>
            <a:ext cx="18796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>
                <a:solidFill>
                  <a:srgbClr val="83939D"/>
                </a:solidFill>
                <a:latin typeface="Aptos" panose="020B0004020202020204" pitchFamily="34" charset="0"/>
              </a:rPr>
              <a:t>cluster bootstrap
CUDA sort
linear percentiles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5882DB-E59B-0910-5082-8C10BB0381ED}"/>
              </a:ext>
            </a:extLst>
          </p:cNvPr>
          <p:cNvSpPr txBox="1"/>
          <p:nvPr/>
        </p:nvSpPr>
        <p:spPr>
          <a:xfrm>
            <a:off x="889000" y="4444999"/>
            <a:ext cx="4191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3232E"/>
                </a:solidFill>
                <a:latin typeface="Aptos" panose="020B0004020202020204" pitchFamily="34" charset="0"/>
              </a:rPr>
              <a:t>Validated presentation runtime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EE63F7-1995-8C0B-A8A6-E726C32E99C8}"/>
              </a:ext>
            </a:extLst>
          </p:cNvPr>
          <p:cNvCxnSpPr/>
          <p:nvPr/>
        </p:nvCxnSpPr>
        <p:spPr>
          <a:xfrm>
            <a:off x="889000" y="51054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7A78EC-3B8C-50D6-06F1-3A5C87A5F928}"/>
              </a:ext>
            </a:extLst>
          </p:cNvPr>
          <p:cNvSpPr txBox="1"/>
          <p:nvPr/>
        </p:nvSpPr>
        <p:spPr>
          <a:xfrm>
            <a:off x="1244600" y="4952999"/>
            <a:ext cx="100584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RTX 5060 Laptop GPU  |  PyTorch 2.8.0+cu128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35C0EF-A0F1-83E7-5D38-4CC84BFF20CC}"/>
              </a:ext>
            </a:extLst>
          </p:cNvPr>
          <p:cNvCxnSpPr/>
          <p:nvPr/>
        </p:nvCxnSpPr>
        <p:spPr>
          <a:xfrm>
            <a:off x="889000" y="55245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F7DEC0-AA0C-87EA-B28A-5BBC49FA1AAB}"/>
              </a:ext>
            </a:extLst>
          </p:cNvPr>
          <p:cNvSpPr txBox="1"/>
          <p:nvPr/>
        </p:nvSpPr>
        <p:spPr>
          <a:xfrm>
            <a:off x="1244600" y="5372099"/>
            <a:ext cx="100584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CUDA 12.8  |  CuPy 14.1.1  |  DLPack coherence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24520-DF83-DADD-CA25-95BABF48AFAD}"/>
              </a:ext>
            </a:extLst>
          </p:cNvPr>
          <p:cNvCxnSpPr/>
          <p:nvPr/>
        </p:nvCxnSpPr>
        <p:spPr>
          <a:xfrm>
            <a:off x="889000" y="59436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07AA6F8-48FC-F3C2-2226-BE9CB201856F}"/>
              </a:ext>
            </a:extLst>
          </p:cNvPr>
          <p:cNvSpPr txBox="1"/>
          <p:nvPr/>
        </p:nvSpPr>
        <p:spPr>
          <a:xfrm>
            <a:off x="1244600" y="5791199"/>
            <a:ext cx="100584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Startup blocks on GPU, model, evidence, or provenance failure</a:t>
            </a:r>
          </a:p>
        </p:txBody>
      </p:sp>
    </p:spTree>
    <p:extLst>
      <p:ext uri="{BB962C8B-B14F-4D97-AF65-F5344CB8AC3E}">
        <p14:creationId xmlns:p14="http://schemas.microsoft.com/office/powerpoint/2010/main" val="364019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ED787-3A99-3268-3F58-3442CA978576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2674F6-26A0-38BA-F047-CD8018B08095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18146B-D748-51A8-E74A-7DF123EE796C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B6ABF-5633-741F-5888-333213E075DD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6C0CF-ADE4-55A6-E4AE-1C31801F6A9E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F3F0E8"/>
                </a:solidFill>
                <a:latin typeface="Aptos" panose="020B0004020202020204" pitchFamily="34" charset="0"/>
              </a:rPr>
              <a:t>The desktop replays one audited GPU scenario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67AB8B-C1DA-7709-CEC8-AD52A2A2D2C4}"/>
              </a:ext>
            </a:extLst>
          </p:cNvPr>
          <p:cNvSpPr/>
          <p:nvPr/>
        </p:nvSpPr>
        <p:spPr>
          <a:xfrm>
            <a:off x="800100" y="1562100"/>
            <a:ext cx="10591800" cy="4508500"/>
          </a:xfrm>
          <a:prstGeom prst="roundRect">
            <a:avLst/>
          </a:prstGeom>
          <a:solidFill>
            <a:srgbClr val="102A3B"/>
          </a:solidFill>
          <a:ln w="15240">
            <a:solidFill>
              <a:srgbClr val="36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ive Scenario page showing a shared GPU run, interactive schematic, and locality detail">
            <a:extLst>
              <a:ext uri="{FF2B5EF4-FFF2-40B4-BE49-F238E27FC236}">
                <a16:creationId xmlns:a16="http://schemas.microsoft.com/office/drawing/2014/main" id="{D59BC1EC-E643-8214-FE8A-017B6D7452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4394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8EEF5-F673-D28C-7CF1-62B2479BEF33}"/>
              </a:ext>
            </a:extLst>
          </p:cNvPr>
          <p:cNvSpPr txBox="1"/>
          <p:nvPr/>
        </p:nvSpPr>
        <p:spPr>
          <a:xfrm>
            <a:off x="1079500" y="6121400"/>
            <a:ext cx="1003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3FC6AC"/>
                </a:solidFill>
                <a:latin typeface="Aptos" panose="020B0004020202020204" pitchFamily="34" charset="0"/>
              </a:rPr>
              <a:t>Switch controller  |  scrub 24 hours  |  inspect locality  |  forecast is DISPLAY ONLY</a:t>
            </a:r>
          </a:p>
        </p:txBody>
      </p:sp>
    </p:spTree>
    <p:extLst>
      <p:ext uri="{BB962C8B-B14F-4D97-AF65-F5344CB8AC3E}">
        <p14:creationId xmlns:p14="http://schemas.microsoft.com/office/powerpoint/2010/main" val="218482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94522B-9424-7D1C-2ADA-E20629A1282E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60727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49541A-FAA3-6212-47F1-4ED3E4DAF0D9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016C06-84B4-55AB-29CE-A5318EB5141B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0727D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59649-79AD-8AD0-F91A-4C6B7951B9C2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0727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CD248-98A9-B548-E7A7-C5011CBF3639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13232E"/>
                </a:solidFill>
                <a:latin typeface="Aptos" panose="020B0004020202020204" pitchFamily="34" charset="0"/>
              </a:rPr>
              <a:t>PPO protects nearly all modeled critical demand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F0D35-03DC-FEA1-1BB9-3D246A754A31}"/>
              </a:ext>
            </a:extLst>
          </p:cNvPr>
          <p:cNvSpPr txBox="1"/>
          <p:nvPr/>
        </p:nvSpPr>
        <p:spPr>
          <a:xfrm>
            <a:off x="863600" y="1841499"/>
            <a:ext cx="4191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400" b="1">
                <a:solidFill>
                  <a:srgbClr val="3FC6AC"/>
                </a:solidFill>
                <a:latin typeface="Aptos" panose="020B0004020202020204" pitchFamily="34" charset="0"/>
              </a:rPr>
              <a:t>99.72%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7E8F4-1666-8E1B-A412-B9C6FF773588}"/>
              </a:ext>
            </a:extLst>
          </p:cNvPr>
          <p:cNvSpPr txBox="1"/>
          <p:nvPr/>
        </p:nvSpPr>
        <p:spPr>
          <a:xfrm>
            <a:off x="889000" y="2870199"/>
            <a:ext cx="393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13232E"/>
                </a:solidFill>
                <a:latin typeface="Aptos" panose="020B0004020202020204" pitchFamily="34" charset="0"/>
              </a:rPr>
              <a:t>PPO critical-service 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B68E0-F76A-7DCE-CB76-D9BE85CBDE38}"/>
              </a:ext>
            </a:extLst>
          </p:cNvPr>
          <p:cNvSpPr txBox="1"/>
          <p:nvPr/>
        </p:nvSpPr>
        <p:spPr>
          <a:xfrm>
            <a:off x="6858000" y="1841499"/>
            <a:ext cx="4191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400" b="1">
                <a:solidFill>
                  <a:srgbClr val="60727D"/>
                </a:solidFill>
                <a:latin typeface="Aptos" panose="020B0004020202020204" pitchFamily="34" charset="0"/>
              </a:rPr>
              <a:t>42.63%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7BC55-5661-4A66-E3D6-D8FC074E7589}"/>
              </a:ext>
            </a:extLst>
          </p:cNvPr>
          <p:cNvSpPr txBox="1"/>
          <p:nvPr/>
        </p:nvSpPr>
        <p:spPr>
          <a:xfrm>
            <a:off x="6883400" y="2870199"/>
            <a:ext cx="393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13232E"/>
                </a:solidFill>
                <a:latin typeface="Aptos" panose="020B0004020202020204" pitchFamily="34" charset="0"/>
              </a:rPr>
              <a:t>Fixed Rotation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A2455-BCF5-EE62-283C-5DCDDFFBF782}"/>
              </a:ext>
            </a:extLst>
          </p:cNvPr>
          <p:cNvSpPr txBox="1"/>
          <p:nvPr/>
        </p:nvSpPr>
        <p:spPr>
          <a:xfrm>
            <a:off x="889000" y="3632199"/>
            <a:ext cx="241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3232E"/>
                </a:solidFill>
                <a:latin typeface="Aptos" panose="020B0004020202020204" pitchFamily="34" charset="0"/>
              </a:rPr>
              <a:t>Critical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AC8C9-BE19-FC5B-FFC7-9F069F975380}"/>
              </a:ext>
            </a:extLst>
          </p:cNvPr>
          <p:cNvSpPr/>
          <p:nvPr/>
        </p:nvSpPr>
        <p:spPr>
          <a:xfrm>
            <a:off x="3429000" y="3657600"/>
            <a:ext cx="6350000" cy="152400"/>
          </a:xfrm>
          <a:prstGeom prst="rect">
            <a:avLst/>
          </a:prstGeom>
          <a:solidFill>
            <a:srgbClr val="DDE5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F690B-1235-2D2D-EE9B-B237115E5651}"/>
              </a:ext>
            </a:extLst>
          </p:cNvPr>
          <p:cNvSpPr/>
          <p:nvPr/>
        </p:nvSpPr>
        <p:spPr>
          <a:xfrm>
            <a:off x="3429000" y="3657600"/>
            <a:ext cx="2706990" cy="152400"/>
          </a:xfrm>
          <a:prstGeom prst="rect">
            <a:avLst/>
          </a:prstGeom>
          <a:solidFill>
            <a:srgbClr val="7183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E2A99D-691B-DADA-31AF-D08FA15AA170}"/>
              </a:ext>
            </a:extLst>
          </p:cNvPr>
          <p:cNvSpPr/>
          <p:nvPr/>
        </p:nvSpPr>
        <p:spPr>
          <a:xfrm>
            <a:off x="3429000" y="3924300"/>
            <a:ext cx="6350000" cy="152400"/>
          </a:xfrm>
          <a:prstGeom prst="rect">
            <a:avLst/>
          </a:prstGeom>
          <a:solidFill>
            <a:srgbClr val="DDE5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950774-3F36-91A6-6803-3952797E9157}"/>
              </a:ext>
            </a:extLst>
          </p:cNvPr>
          <p:cNvSpPr/>
          <p:nvPr/>
        </p:nvSpPr>
        <p:spPr>
          <a:xfrm>
            <a:off x="3429000" y="3924300"/>
            <a:ext cx="6331990" cy="152400"/>
          </a:xfrm>
          <a:prstGeom prst="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27393-4540-42E1-C3E5-3BCE15622D4A}"/>
              </a:ext>
            </a:extLst>
          </p:cNvPr>
          <p:cNvSpPr txBox="1"/>
          <p:nvPr/>
        </p:nvSpPr>
        <p:spPr>
          <a:xfrm>
            <a:off x="10033000" y="35941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60727D"/>
                </a:solidFill>
                <a:latin typeface="Aptos" panose="020B0004020202020204" pitchFamily="34" charset="0"/>
              </a:rPr>
              <a:t>42.63%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DB071-B705-BC6F-D490-47611C02AB67}"/>
              </a:ext>
            </a:extLst>
          </p:cNvPr>
          <p:cNvSpPr txBox="1"/>
          <p:nvPr/>
        </p:nvSpPr>
        <p:spPr>
          <a:xfrm>
            <a:off x="10033000" y="38608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3232E"/>
                </a:solidFill>
                <a:latin typeface="Aptos" panose="020B0004020202020204" pitchFamily="34" charset="0"/>
              </a:rPr>
              <a:t>99.72%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0FC56A-BB76-B8B0-D343-8F7373D03CFD}"/>
              </a:ext>
            </a:extLst>
          </p:cNvPr>
          <p:cNvCxnSpPr/>
          <p:nvPr/>
        </p:nvCxnSpPr>
        <p:spPr>
          <a:xfrm>
            <a:off x="889000" y="4800600"/>
            <a:ext cx="10414000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D6F856-CB84-474B-33E7-CF067325833C}"/>
              </a:ext>
            </a:extLst>
          </p:cNvPr>
          <p:cNvSpPr txBox="1"/>
          <p:nvPr/>
        </p:nvSpPr>
        <p:spPr>
          <a:xfrm>
            <a:off x="889000" y="5143499"/>
            <a:ext cx="5461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E0B957"/>
                </a:solidFill>
                <a:latin typeface="Aptos" panose="020B0004020202020204" pitchFamily="34" charset="0"/>
              </a:rPr>
              <a:t>+57.09 pp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2E6D1-64C4-605D-6FE4-6FF1AD89B0C6}"/>
              </a:ext>
            </a:extLst>
          </p:cNvPr>
          <p:cNvSpPr txBox="1"/>
          <p:nvPr/>
        </p:nvSpPr>
        <p:spPr>
          <a:xfrm>
            <a:off x="7112000" y="5079999"/>
            <a:ext cx="3810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13232E"/>
                </a:solidFill>
                <a:latin typeface="Aptos" panose="020B0004020202020204" pitchFamily="34" charset="0"/>
              </a:rPr>
              <a:t>Critical-outage locality-hours
102.07  -&gt;  18.67</a:t>
            </a:r>
          </a:p>
        </p:txBody>
      </p:sp>
    </p:spTree>
    <p:extLst>
      <p:ext uri="{BB962C8B-B14F-4D97-AF65-F5344CB8AC3E}">
        <p14:creationId xmlns:p14="http://schemas.microsoft.com/office/powerpoint/2010/main" val="2966546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31FC44-ABE8-2FF2-B71A-74EF90AF277B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594883-CFFB-52F1-42A1-58EDFC3B8308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55EA3B-9E88-BD2C-0661-8EA45F45C29A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2554-DCFF-CDC7-CF96-96494ED8308D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E26E0-2B2F-07CF-7F7E-6D2A6E3C96DC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F3F0E8"/>
                </a:solidFill>
                <a:latin typeface="Aptos" panose="020B0004020202020204" pitchFamily="34" charset="0"/>
              </a:rPr>
              <a:t>PPO serves 2,008 MWh more and uses supply more effectively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AB5AF-1135-8C7C-891D-4D0AAB9FF704}"/>
              </a:ext>
            </a:extLst>
          </p:cNvPr>
          <p:cNvSpPr txBox="1"/>
          <p:nvPr/>
        </p:nvSpPr>
        <p:spPr>
          <a:xfrm>
            <a:off x="889000" y="1955799"/>
            <a:ext cx="241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Served energy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BE702-E448-BFAA-DFB3-B9C269F0C956}"/>
              </a:ext>
            </a:extLst>
          </p:cNvPr>
          <p:cNvSpPr/>
          <p:nvPr/>
        </p:nvSpPr>
        <p:spPr>
          <a:xfrm>
            <a:off x="3429000" y="19812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CB6F3-3308-AB5A-657B-9F8D609C5DD7}"/>
              </a:ext>
            </a:extLst>
          </p:cNvPr>
          <p:cNvSpPr/>
          <p:nvPr/>
        </p:nvSpPr>
        <p:spPr>
          <a:xfrm>
            <a:off x="3429000" y="1981200"/>
            <a:ext cx="4307238" cy="152400"/>
          </a:xfrm>
          <a:prstGeom prst="rect">
            <a:avLst/>
          </a:prstGeom>
          <a:solidFill>
            <a:srgbClr val="7183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9790D-7723-239C-C000-A2875FC32936}"/>
              </a:ext>
            </a:extLst>
          </p:cNvPr>
          <p:cNvSpPr/>
          <p:nvPr/>
        </p:nvSpPr>
        <p:spPr>
          <a:xfrm>
            <a:off x="3429000" y="22479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EC0D8-5E5F-6EDA-360E-40EA1353FAE8}"/>
              </a:ext>
            </a:extLst>
          </p:cNvPr>
          <p:cNvSpPr/>
          <p:nvPr/>
        </p:nvSpPr>
        <p:spPr>
          <a:xfrm>
            <a:off x="3429000" y="2247900"/>
            <a:ext cx="6207866" cy="152400"/>
          </a:xfrm>
          <a:prstGeom prst="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BB5E2-9B3C-AC68-4038-E58B1B66AB57}"/>
              </a:ext>
            </a:extLst>
          </p:cNvPr>
          <p:cNvSpPr txBox="1"/>
          <p:nvPr/>
        </p:nvSpPr>
        <p:spPr>
          <a:xfrm>
            <a:off x="10033000" y="19177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83939D"/>
                </a:solidFill>
                <a:latin typeface="Aptos" panose="020B0004020202020204" pitchFamily="34" charset="0"/>
              </a:rPr>
              <a:t>4,552 MWh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3B871-CC8F-DF72-C24E-7C89B15CEAE0}"/>
              </a:ext>
            </a:extLst>
          </p:cNvPr>
          <p:cNvSpPr txBox="1"/>
          <p:nvPr/>
        </p:nvSpPr>
        <p:spPr>
          <a:xfrm>
            <a:off x="10033000" y="21844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3F0E8"/>
                </a:solidFill>
                <a:latin typeface="Aptos" panose="020B0004020202020204" pitchFamily="34" charset="0"/>
              </a:rPr>
              <a:t>6,560 MWh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56A1B-F8BF-8FA8-3601-240C9A73B813}"/>
              </a:ext>
            </a:extLst>
          </p:cNvPr>
          <p:cNvSpPr txBox="1"/>
          <p:nvPr/>
        </p:nvSpPr>
        <p:spPr>
          <a:xfrm>
            <a:off x="889000" y="3086099"/>
            <a:ext cx="241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Utilization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AA13BA-1D4F-C808-DBD3-BB598DE08CDE}"/>
              </a:ext>
            </a:extLst>
          </p:cNvPr>
          <p:cNvSpPr/>
          <p:nvPr/>
        </p:nvSpPr>
        <p:spPr>
          <a:xfrm>
            <a:off x="3429000" y="31115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E547D7-E260-4561-9FEC-352F40BEA209}"/>
              </a:ext>
            </a:extLst>
          </p:cNvPr>
          <p:cNvSpPr/>
          <p:nvPr/>
        </p:nvSpPr>
        <p:spPr>
          <a:xfrm>
            <a:off x="3429000" y="3111500"/>
            <a:ext cx="4522687" cy="152400"/>
          </a:xfrm>
          <a:prstGeom prst="rect">
            <a:avLst/>
          </a:prstGeom>
          <a:solidFill>
            <a:srgbClr val="7183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2A82AC-3C6F-1162-58F6-4220596CB02A}"/>
              </a:ext>
            </a:extLst>
          </p:cNvPr>
          <p:cNvSpPr/>
          <p:nvPr/>
        </p:nvSpPr>
        <p:spPr>
          <a:xfrm>
            <a:off x="3429000" y="33782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3C3F7D-9766-CDAD-5EE5-621B050F7C83}"/>
              </a:ext>
            </a:extLst>
          </p:cNvPr>
          <p:cNvSpPr/>
          <p:nvPr/>
        </p:nvSpPr>
        <p:spPr>
          <a:xfrm>
            <a:off x="3429000" y="3378200"/>
            <a:ext cx="6200911" cy="152400"/>
          </a:xfrm>
          <a:prstGeom prst="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069A8-C8CC-171D-9689-F4F387006F09}"/>
              </a:ext>
            </a:extLst>
          </p:cNvPr>
          <p:cNvSpPr txBox="1"/>
          <p:nvPr/>
        </p:nvSpPr>
        <p:spPr>
          <a:xfrm>
            <a:off x="10033000" y="30480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83939D"/>
                </a:solidFill>
                <a:latin typeface="Aptos" panose="020B0004020202020204" pitchFamily="34" charset="0"/>
              </a:rPr>
              <a:t>71.22%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665BBE-2F14-077C-6FEE-A5B6B704122A}"/>
              </a:ext>
            </a:extLst>
          </p:cNvPr>
          <p:cNvSpPr txBox="1"/>
          <p:nvPr/>
        </p:nvSpPr>
        <p:spPr>
          <a:xfrm>
            <a:off x="10033000" y="33147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3F0E8"/>
                </a:solidFill>
                <a:latin typeface="Aptos" panose="020B0004020202020204" pitchFamily="34" charset="0"/>
              </a:rPr>
              <a:t>97.65%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D1026-F149-3D17-8859-D16F27A56942}"/>
              </a:ext>
            </a:extLst>
          </p:cNvPr>
          <p:cNvSpPr txBox="1"/>
          <p:nvPr/>
        </p:nvSpPr>
        <p:spPr>
          <a:xfrm>
            <a:off x="889000" y="4216399"/>
            <a:ext cx="241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3F0E8"/>
                </a:solidFill>
                <a:latin typeface="Aptos" panose="020B0004020202020204" pitchFamily="34" charset="0"/>
              </a:rPr>
              <a:t>Curtailed energy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320191-3683-01E9-7C9D-E2DA1A7C3370}"/>
              </a:ext>
            </a:extLst>
          </p:cNvPr>
          <p:cNvSpPr/>
          <p:nvPr/>
        </p:nvSpPr>
        <p:spPr>
          <a:xfrm>
            <a:off x="3429000" y="42418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E5B90B-E1A0-8A4C-F1D0-364AC76BAD7E}"/>
              </a:ext>
            </a:extLst>
          </p:cNvPr>
          <p:cNvSpPr/>
          <p:nvPr/>
        </p:nvSpPr>
        <p:spPr>
          <a:xfrm>
            <a:off x="3429000" y="4241800"/>
            <a:ext cx="6350000" cy="152400"/>
          </a:xfrm>
          <a:prstGeom prst="rect">
            <a:avLst/>
          </a:prstGeom>
          <a:solidFill>
            <a:srgbClr val="7183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29E306-DE85-3087-189A-D01154A0DECD}"/>
              </a:ext>
            </a:extLst>
          </p:cNvPr>
          <p:cNvSpPr/>
          <p:nvPr/>
        </p:nvSpPr>
        <p:spPr>
          <a:xfrm>
            <a:off x="3429000" y="4508500"/>
            <a:ext cx="6350000" cy="152400"/>
          </a:xfrm>
          <a:prstGeom prst="rect">
            <a:avLst/>
          </a:prstGeom>
          <a:solidFill>
            <a:srgbClr val="1A3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FEAC2D-DCD1-C71E-37F3-CB837ADD3C09}"/>
              </a:ext>
            </a:extLst>
          </p:cNvPr>
          <p:cNvSpPr/>
          <p:nvPr/>
        </p:nvSpPr>
        <p:spPr>
          <a:xfrm>
            <a:off x="3429000" y="4508500"/>
            <a:ext cx="4273617" cy="152400"/>
          </a:xfrm>
          <a:prstGeom prst="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21F3EA-7B58-B247-C188-4184A2F8153D}"/>
              </a:ext>
            </a:extLst>
          </p:cNvPr>
          <p:cNvSpPr txBox="1"/>
          <p:nvPr/>
        </p:nvSpPr>
        <p:spPr>
          <a:xfrm>
            <a:off x="10033000" y="41783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83939D"/>
                </a:solidFill>
                <a:latin typeface="Aptos" panose="020B0004020202020204" pitchFamily="34" charset="0"/>
              </a:rPr>
              <a:t>Fixed 6,142 MWh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750B6E-BE3A-5528-0B40-ED9B606742D1}"/>
              </a:ext>
            </a:extLst>
          </p:cNvPr>
          <p:cNvSpPr txBox="1"/>
          <p:nvPr/>
        </p:nvSpPr>
        <p:spPr>
          <a:xfrm>
            <a:off x="10033000" y="4445000"/>
            <a:ext cx="1333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3F0E8"/>
                </a:solidFill>
                <a:latin typeface="Aptos" panose="020B0004020202020204" pitchFamily="34" charset="0"/>
              </a:rPr>
              <a:t>PPO 4,134 MWh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D192D6-6482-BC18-FC66-68153074C92C}"/>
              </a:ext>
            </a:extLst>
          </p:cNvPr>
          <p:cNvSpPr txBox="1"/>
          <p:nvPr/>
        </p:nvSpPr>
        <p:spPr>
          <a:xfrm>
            <a:off x="889000" y="5384799"/>
            <a:ext cx="3429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3FC6AC"/>
                </a:solidFill>
                <a:latin typeface="Aptos" panose="020B0004020202020204" pitchFamily="34" charset="0"/>
              </a:rPr>
              <a:t>+2,008 MWh served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E4602-B61D-87F6-F5BE-2214E0DF646A}"/>
              </a:ext>
            </a:extLst>
          </p:cNvPr>
          <p:cNvSpPr txBox="1"/>
          <p:nvPr/>
        </p:nvSpPr>
        <p:spPr>
          <a:xfrm>
            <a:off x="4533900" y="5384799"/>
            <a:ext cx="3429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E0B957"/>
                </a:solidFill>
                <a:latin typeface="Aptos" panose="020B0004020202020204" pitchFamily="34" charset="0"/>
              </a:rPr>
              <a:t>+26.43 pp utilization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C1CD1F-3404-2B45-8CC1-DD8FF02070EF}"/>
              </a:ext>
            </a:extLst>
          </p:cNvPr>
          <p:cNvSpPr txBox="1"/>
          <p:nvPr/>
        </p:nvSpPr>
        <p:spPr>
          <a:xfrm>
            <a:off x="8229600" y="5384799"/>
            <a:ext cx="317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3FC6AC"/>
                </a:solidFill>
                <a:latin typeface="Aptos" panose="020B0004020202020204" pitchFamily="34" charset="0"/>
              </a:rPr>
              <a:t>-2,008 MWh curtailed</a:t>
            </a:r>
          </a:p>
        </p:txBody>
      </p:sp>
    </p:spTree>
    <p:extLst>
      <p:ext uri="{BB962C8B-B14F-4D97-AF65-F5344CB8AC3E}">
        <p14:creationId xmlns:p14="http://schemas.microsoft.com/office/powerpoint/2010/main" val="387963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CE1E9-4C0B-22BA-999F-1802DAD6EC6C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60727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79392D-EE1C-0BF3-000B-14269E205C02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CD2083-584D-6833-37A5-F5751070DD04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0727D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F3292-0179-019A-AD5D-4B2E4F16B6D8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0727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40476-B2C8-647A-1C15-31668F7265C5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13232E"/>
                </a:solidFill>
                <a:latin typeface="Aptos" panose="020B0004020202020204" pitchFamily="34" charset="0"/>
              </a:rPr>
              <a:t>All seven paired intervals favor PPO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F28F6-D3DA-7335-59DF-C0CEF1F4FD03}"/>
              </a:ext>
            </a:extLst>
          </p:cNvPr>
          <p:cNvSpPr txBox="1"/>
          <p:nvPr/>
        </p:nvSpPr>
        <p:spPr>
          <a:xfrm>
            <a:off x="812800" y="1676399"/>
            <a:ext cx="292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60727D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C0DC0-F79D-83AE-D2E4-B7A6B309223E}"/>
              </a:ext>
            </a:extLst>
          </p:cNvPr>
          <p:cNvSpPr txBox="1"/>
          <p:nvPr/>
        </p:nvSpPr>
        <p:spPr>
          <a:xfrm>
            <a:off x="4216400" y="1676399"/>
            <a:ext cx="2222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60727D"/>
                </a:solidFill>
                <a:latin typeface="Aptos" panose="020B0004020202020204" pitchFamily="34" charset="0"/>
              </a:rPr>
              <a:t>PPO - Fixed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55632-6EB7-6588-0C4B-5E9B3627F16E}"/>
              </a:ext>
            </a:extLst>
          </p:cNvPr>
          <p:cNvSpPr txBox="1"/>
          <p:nvPr/>
        </p:nvSpPr>
        <p:spPr>
          <a:xfrm>
            <a:off x="6858000" y="1676399"/>
            <a:ext cx="444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60727D"/>
                </a:solidFill>
                <a:latin typeface="Aptos" panose="020B0004020202020204" pitchFamily="34" charset="0"/>
              </a:rPr>
              <a:t>Cluster-bootstrap 95% interval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A18CD-1776-AF14-F98A-96CDDD79AEC3}"/>
              </a:ext>
            </a:extLst>
          </p:cNvPr>
          <p:cNvSpPr/>
          <p:nvPr/>
        </p:nvSpPr>
        <p:spPr>
          <a:xfrm>
            <a:off x="685800" y="2095500"/>
            <a:ext cx="10795000" cy="482600"/>
          </a:xfrm>
          <a:prstGeom prst="rect">
            <a:avLst/>
          </a:prstGeom>
          <a:solidFill>
            <a:srgbClr val="E7EC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B8791-DFAE-B49A-F7D8-C63E8F0FE68A}"/>
              </a:ext>
            </a:extLst>
          </p:cNvPr>
          <p:cNvSpPr txBox="1"/>
          <p:nvPr/>
        </p:nvSpPr>
        <p:spPr>
          <a:xfrm>
            <a:off x="812800" y="21716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Episode reward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F2AA2-7C3A-0596-8A55-9C3B289DA4F8}"/>
              </a:ext>
            </a:extLst>
          </p:cNvPr>
          <p:cNvSpPr txBox="1"/>
          <p:nvPr/>
        </p:nvSpPr>
        <p:spPr>
          <a:xfrm>
            <a:off x="4216400" y="21716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+9.54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0BC11-3979-40F2-8431-4557C4100FB1}"/>
              </a:ext>
            </a:extLst>
          </p:cNvPr>
          <p:cNvSpPr txBox="1"/>
          <p:nvPr/>
        </p:nvSpPr>
        <p:spPr>
          <a:xfrm>
            <a:off x="6858000" y="21716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[9.54, 9.55]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C4EB7-AE15-6948-E57D-FE5EA2EC8479}"/>
              </a:ext>
            </a:extLst>
          </p:cNvPr>
          <p:cNvSpPr txBox="1"/>
          <p:nvPr/>
        </p:nvSpPr>
        <p:spPr>
          <a:xfrm>
            <a:off x="812800" y="27177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Critical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F28D6-1864-8565-9AB5-C9FFCD580572}"/>
              </a:ext>
            </a:extLst>
          </p:cNvPr>
          <p:cNvSpPr txBox="1"/>
          <p:nvPr/>
        </p:nvSpPr>
        <p:spPr>
          <a:xfrm>
            <a:off x="4216400" y="27177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+57.09 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B0F5A-D351-72B8-524C-DC3B80A86C96}"/>
              </a:ext>
            </a:extLst>
          </p:cNvPr>
          <p:cNvSpPr txBox="1"/>
          <p:nvPr/>
        </p:nvSpPr>
        <p:spPr>
          <a:xfrm>
            <a:off x="6858000" y="27177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[57.06, 57.11] 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3E69CF-5215-CDDE-9AE5-E97ACB5EB0BC}"/>
              </a:ext>
            </a:extLst>
          </p:cNvPr>
          <p:cNvSpPr/>
          <p:nvPr/>
        </p:nvSpPr>
        <p:spPr>
          <a:xfrm>
            <a:off x="685800" y="3187700"/>
            <a:ext cx="10795000" cy="482600"/>
          </a:xfrm>
          <a:prstGeom prst="rect">
            <a:avLst/>
          </a:prstGeom>
          <a:solidFill>
            <a:srgbClr val="E7EC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D76543-C74C-1A3B-59CD-3F00834DB0CD}"/>
              </a:ext>
            </a:extLst>
          </p:cNvPr>
          <p:cNvSpPr txBox="1"/>
          <p:nvPr/>
        </p:nvSpPr>
        <p:spPr>
          <a:xfrm>
            <a:off x="812800" y="32638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Utilization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4A0C7-B7AE-4FC7-BD03-5A4B757C6111}"/>
              </a:ext>
            </a:extLst>
          </p:cNvPr>
          <p:cNvSpPr txBox="1"/>
          <p:nvPr/>
        </p:nvSpPr>
        <p:spPr>
          <a:xfrm>
            <a:off x="4216400" y="32638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+26.43 pp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72491B-7A14-B6CE-4E03-6A46237B5E85}"/>
              </a:ext>
            </a:extLst>
          </p:cNvPr>
          <p:cNvSpPr txBox="1"/>
          <p:nvPr/>
        </p:nvSpPr>
        <p:spPr>
          <a:xfrm>
            <a:off x="6858000" y="32638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[26.32, 26.53] pp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1E64CD-D797-E999-115F-60D82B83935E}"/>
              </a:ext>
            </a:extLst>
          </p:cNvPr>
          <p:cNvSpPr txBox="1"/>
          <p:nvPr/>
        </p:nvSpPr>
        <p:spPr>
          <a:xfrm>
            <a:off x="812800" y="38099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Jain fairness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EB281D-C520-E292-A990-C056C31E00A4}"/>
              </a:ext>
            </a:extLst>
          </p:cNvPr>
          <p:cNvSpPr txBox="1"/>
          <p:nvPr/>
        </p:nvSpPr>
        <p:spPr>
          <a:xfrm>
            <a:off x="4216400" y="38099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+9.16 pp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D03BB4-45ED-64DB-B98B-8A609F41A0F5}"/>
              </a:ext>
            </a:extLst>
          </p:cNvPr>
          <p:cNvSpPr txBox="1"/>
          <p:nvPr/>
        </p:nvSpPr>
        <p:spPr>
          <a:xfrm>
            <a:off x="6858000" y="38099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[9.09, 9.23] 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15D74A-2381-66F6-6243-9DE714D33EFA}"/>
              </a:ext>
            </a:extLst>
          </p:cNvPr>
          <p:cNvSpPr/>
          <p:nvPr/>
        </p:nvSpPr>
        <p:spPr>
          <a:xfrm>
            <a:off x="685800" y="4279900"/>
            <a:ext cx="10795000" cy="482600"/>
          </a:xfrm>
          <a:prstGeom prst="rect">
            <a:avLst/>
          </a:prstGeom>
          <a:solidFill>
            <a:srgbClr val="E7EC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4C9B13-E58C-CF3E-55A3-6686234EB2A8}"/>
              </a:ext>
            </a:extLst>
          </p:cNvPr>
          <p:cNvSpPr txBox="1"/>
          <p:nvPr/>
        </p:nvSpPr>
        <p:spPr>
          <a:xfrm>
            <a:off x="812800" y="43560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Served energy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C865D8-DC82-6B3B-F4F5-69E6F5844A76}"/>
              </a:ext>
            </a:extLst>
          </p:cNvPr>
          <p:cNvSpPr txBox="1"/>
          <p:nvPr/>
        </p:nvSpPr>
        <p:spPr>
          <a:xfrm>
            <a:off x="4216400" y="43560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+2,008 MWh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861040-1445-91B4-D64E-D07750210CE9}"/>
              </a:ext>
            </a:extLst>
          </p:cNvPr>
          <p:cNvSpPr txBox="1"/>
          <p:nvPr/>
        </p:nvSpPr>
        <p:spPr>
          <a:xfrm>
            <a:off x="6858000" y="43560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[2,000, 2,017] MWh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E4F97D-D933-6B6A-B2AF-36779C063D8E}"/>
              </a:ext>
            </a:extLst>
          </p:cNvPr>
          <p:cNvSpPr txBox="1"/>
          <p:nvPr/>
        </p:nvSpPr>
        <p:spPr>
          <a:xfrm>
            <a:off x="812800" y="49021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Curtailed 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A2D0C-9400-34D8-2633-39D385228E9C}"/>
              </a:ext>
            </a:extLst>
          </p:cNvPr>
          <p:cNvSpPr txBox="1"/>
          <p:nvPr/>
        </p:nvSpPr>
        <p:spPr>
          <a:xfrm>
            <a:off x="4216400" y="49021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-2,008 MWh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D92187-74CC-8078-3EB2-62A81B66058C}"/>
              </a:ext>
            </a:extLst>
          </p:cNvPr>
          <p:cNvSpPr txBox="1"/>
          <p:nvPr/>
        </p:nvSpPr>
        <p:spPr>
          <a:xfrm>
            <a:off x="6858000" y="49021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[-2,017, -2,000] MWh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40B6DA-789C-B093-2114-D6E4D6237D63}"/>
              </a:ext>
            </a:extLst>
          </p:cNvPr>
          <p:cNvSpPr/>
          <p:nvPr/>
        </p:nvSpPr>
        <p:spPr>
          <a:xfrm>
            <a:off x="685800" y="5372100"/>
            <a:ext cx="10795000" cy="482600"/>
          </a:xfrm>
          <a:prstGeom prst="rect">
            <a:avLst/>
          </a:prstGeom>
          <a:solidFill>
            <a:srgbClr val="E7EC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EE2F8-5A53-DBDD-3A09-7728396D2221}"/>
              </a:ext>
            </a:extLst>
          </p:cNvPr>
          <p:cNvSpPr txBox="1"/>
          <p:nvPr/>
        </p:nvSpPr>
        <p:spPr>
          <a:xfrm>
            <a:off x="812800" y="5448299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Switching 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4C2B57-71DB-CE34-3569-9ADB62F1CEE7}"/>
              </a:ext>
            </a:extLst>
          </p:cNvPr>
          <p:cNvSpPr txBox="1"/>
          <p:nvPr/>
        </p:nvSpPr>
        <p:spPr>
          <a:xfrm>
            <a:off x="4216400" y="5448299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FC6AC"/>
                </a:solidFill>
                <a:latin typeface="Aptos" panose="020B0004020202020204" pitchFamily="34" charset="0"/>
              </a:rPr>
              <a:t>-3.11 pp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274E5F-6C9B-4877-34DD-399F6AE27631}"/>
              </a:ext>
            </a:extLst>
          </p:cNvPr>
          <p:cNvSpPr txBox="1"/>
          <p:nvPr/>
        </p:nvSpPr>
        <p:spPr>
          <a:xfrm>
            <a:off x="6858000" y="5448299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[-3.48, -2.75] pp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41F430-BCCD-6EF3-1D19-E7ED22485E62}"/>
              </a:ext>
            </a:extLst>
          </p:cNvPr>
          <p:cNvSpPr txBox="1"/>
          <p:nvPr/>
        </p:nvSpPr>
        <p:spPr>
          <a:xfrm>
            <a:off x="812800" y="60705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60727D"/>
                </a:solidFill>
                <a:latin typeface="Aptos" panose="020B0004020202020204" pitchFamily="34" charset="0"/>
              </a:rPr>
              <a:t>10,000 deterministic seed-stratified paired cluster replicates</a:t>
            </a:r>
          </a:p>
        </p:txBody>
      </p:sp>
    </p:spTree>
    <p:extLst>
      <p:ext uri="{BB962C8B-B14F-4D97-AF65-F5344CB8AC3E}">
        <p14:creationId xmlns:p14="http://schemas.microsoft.com/office/powerpoint/2010/main" val="397766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20ED68-AF2E-739E-DA60-F3855E038C4B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858626-3F3A-044B-9707-3BD028B72A3D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113A65-AB60-1AE4-5339-CA2E034F3F2B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E7D01-80BC-31E2-66F7-327FB358FE53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4049B-0F95-4BAF-49D0-035C7CBAF0F8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F3F0E8"/>
                </a:solidFill>
                <a:latin typeface="Aptos" panose="020B0004020202020204" pitchFamily="34" charset="0"/>
              </a:rPr>
              <a:t>The advantage is consistent, not driven by one seed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5A028-5F56-9A57-49F4-BD7E6E18C739}"/>
              </a:ext>
            </a:extLst>
          </p:cNvPr>
          <p:cNvSpPr txBox="1"/>
          <p:nvPr/>
        </p:nvSpPr>
        <p:spPr>
          <a:xfrm>
            <a:off x="812800" y="1676399"/>
            <a:ext cx="3429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500" b="1">
                <a:solidFill>
                  <a:srgbClr val="E0B957"/>
                </a:solidFill>
                <a:latin typeface="Aptos" panose="020B0004020202020204" pitchFamily="34" charset="0"/>
              </a:rPr>
              <a:t>9 /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08827-5B6B-5D78-01E5-E56927A9B885}"/>
              </a:ext>
            </a:extLst>
          </p:cNvPr>
          <p:cNvSpPr txBox="1"/>
          <p:nvPr/>
        </p:nvSpPr>
        <p:spPr>
          <a:xfrm>
            <a:off x="863600" y="2730499"/>
            <a:ext cx="4064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F3F0E8"/>
                </a:solidFill>
                <a:latin typeface="Aptos" panose="020B0004020202020204" pitchFamily="34" charset="0"/>
              </a:rPr>
              <a:t>shortage-by-seed cells favor PPO
for every primary 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CF9EC-5FAB-A3AA-14F3-39BBAFD674B0}"/>
              </a:ext>
            </a:extLst>
          </p:cNvPr>
          <p:cNvSpPr txBox="1"/>
          <p:nvPr/>
        </p:nvSpPr>
        <p:spPr>
          <a:xfrm>
            <a:off x="889000" y="37972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Reward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CDFF4C-12E8-FBA2-1B98-2D355241D546}"/>
              </a:ext>
            </a:extLst>
          </p:cNvPr>
          <p:cNvCxnSpPr/>
          <p:nvPr/>
        </p:nvCxnSpPr>
        <p:spPr>
          <a:xfrm>
            <a:off x="3022600" y="39370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FBDD96-6F53-2807-219D-2ADFED214E9D}"/>
              </a:ext>
            </a:extLst>
          </p:cNvPr>
          <p:cNvSpPr txBox="1"/>
          <p:nvPr/>
        </p:nvSpPr>
        <p:spPr>
          <a:xfrm>
            <a:off x="5295900" y="37845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49469-E641-3050-0F4D-271FF55CCB0C}"/>
              </a:ext>
            </a:extLst>
          </p:cNvPr>
          <p:cNvSpPr txBox="1"/>
          <p:nvPr/>
        </p:nvSpPr>
        <p:spPr>
          <a:xfrm>
            <a:off x="889000" y="41909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Critical service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1BDE25-3A27-9086-7E59-68BEC842AA52}"/>
              </a:ext>
            </a:extLst>
          </p:cNvPr>
          <p:cNvCxnSpPr/>
          <p:nvPr/>
        </p:nvCxnSpPr>
        <p:spPr>
          <a:xfrm>
            <a:off x="3022600" y="43307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F90245-C976-FA57-E0B5-B5661BEC4A94}"/>
              </a:ext>
            </a:extLst>
          </p:cNvPr>
          <p:cNvSpPr txBox="1"/>
          <p:nvPr/>
        </p:nvSpPr>
        <p:spPr>
          <a:xfrm>
            <a:off x="5295900" y="41782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7619C-3BA0-E0CF-44C4-5B1C17CC1F1B}"/>
              </a:ext>
            </a:extLst>
          </p:cNvPr>
          <p:cNvSpPr txBox="1"/>
          <p:nvPr/>
        </p:nvSpPr>
        <p:spPr>
          <a:xfrm>
            <a:off x="889000" y="45846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Utilization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47C39B-99F6-5FB9-FA28-13EAFB788948}"/>
              </a:ext>
            </a:extLst>
          </p:cNvPr>
          <p:cNvCxnSpPr/>
          <p:nvPr/>
        </p:nvCxnSpPr>
        <p:spPr>
          <a:xfrm>
            <a:off x="3022600" y="47244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DAF3405-178A-053C-CAB1-358BF42FD3E6}"/>
              </a:ext>
            </a:extLst>
          </p:cNvPr>
          <p:cNvSpPr txBox="1"/>
          <p:nvPr/>
        </p:nvSpPr>
        <p:spPr>
          <a:xfrm>
            <a:off x="5295900" y="45719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CF5CC-9F17-DDA1-6512-E1869017435F}"/>
              </a:ext>
            </a:extLst>
          </p:cNvPr>
          <p:cNvSpPr txBox="1"/>
          <p:nvPr/>
        </p:nvSpPr>
        <p:spPr>
          <a:xfrm>
            <a:off x="889000" y="49783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Fairness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D408CE-1D2C-C3C1-83B2-579F9C819106}"/>
              </a:ext>
            </a:extLst>
          </p:cNvPr>
          <p:cNvCxnSpPr/>
          <p:nvPr/>
        </p:nvCxnSpPr>
        <p:spPr>
          <a:xfrm>
            <a:off x="3022600" y="51181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DC0CDC-9224-2907-6E92-6629E875F954}"/>
              </a:ext>
            </a:extLst>
          </p:cNvPr>
          <p:cNvSpPr txBox="1"/>
          <p:nvPr/>
        </p:nvSpPr>
        <p:spPr>
          <a:xfrm>
            <a:off x="5295900" y="49656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3FA1C6-9B77-141C-9947-F36CC9AFA6BA}"/>
              </a:ext>
            </a:extLst>
          </p:cNvPr>
          <p:cNvSpPr txBox="1"/>
          <p:nvPr/>
        </p:nvSpPr>
        <p:spPr>
          <a:xfrm>
            <a:off x="889000" y="53720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Served energy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14CC23-5135-F1C1-CF6F-A1C99E8846B4}"/>
              </a:ext>
            </a:extLst>
          </p:cNvPr>
          <p:cNvCxnSpPr/>
          <p:nvPr/>
        </p:nvCxnSpPr>
        <p:spPr>
          <a:xfrm>
            <a:off x="3022600" y="55118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01C9805-3348-C8AF-1E2B-F20FEC9E057B}"/>
              </a:ext>
            </a:extLst>
          </p:cNvPr>
          <p:cNvSpPr txBox="1"/>
          <p:nvPr/>
        </p:nvSpPr>
        <p:spPr>
          <a:xfrm>
            <a:off x="5295900" y="53593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8AEBB-F716-13FA-32D4-3F5EE60CD55D}"/>
              </a:ext>
            </a:extLst>
          </p:cNvPr>
          <p:cNvSpPr txBox="1"/>
          <p:nvPr/>
        </p:nvSpPr>
        <p:spPr>
          <a:xfrm>
            <a:off x="889000" y="57657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3F0E8"/>
                </a:solidFill>
                <a:latin typeface="Aptos" panose="020B0004020202020204" pitchFamily="34" charset="0"/>
              </a:rPr>
              <a:t>Curtailed energy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562770-B688-8E02-C619-D576F7244BE3}"/>
              </a:ext>
            </a:extLst>
          </p:cNvPr>
          <p:cNvCxnSpPr/>
          <p:nvPr/>
        </p:nvCxnSpPr>
        <p:spPr>
          <a:xfrm>
            <a:off x="3022600" y="5905500"/>
            <a:ext cx="2120900" cy="0"/>
          </a:xfrm>
          <a:prstGeom prst="line">
            <a:avLst/>
          </a:prstGeom>
          <a:ln w="635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B2FDB9-F223-D9D1-9131-47508BB62EFA}"/>
              </a:ext>
            </a:extLst>
          </p:cNvPr>
          <p:cNvSpPr txBox="1"/>
          <p:nvPr/>
        </p:nvSpPr>
        <p:spPr>
          <a:xfrm>
            <a:off x="5295900" y="5753099"/>
            <a:ext cx="660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9/9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AC55BC-82FD-8773-61F0-8D906DE03F2A}"/>
              </a:ext>
            </a:extLst>
          </p:cNvPr>
          <p:cNvCxnSpPr/>
          <p:nvPr/>
        </p:nvCxnSpPr>
        <p:spPr>
          <a:xfrm>
            <a:off x="6350000" y="1676400"/>
            <a:ext cx="0" cy="4165600"/>
          </a:xfrm>
          <a:prstGeom prst="line">
            <a:avLst/>
          </a:prstGeom>
          <a:ln w="1270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CD64220-4E5C-8135-4660-C7EC5EB0819A}"/>
              </a:ext>
            </a:extLst>
          </p:cNvPr>
          <p:cNvSpPr txBox="1"/>
          <p:nvPr/>
        </p:nvSpPr>
        <p:spPr>
          <a:xfrm>
            <a:off x="6959600" y="1841499"/>
            <a:ext cx="4191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3FC6AC"/>
                </a:solidFill>
                <a:latin typeface="Aptos" panose="020B0004020202020204" pitchFamily="34" charset="0"/>
              </a:rPr>
              <a:t>Safety and diagnostics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F8D5D-5B73-E878-2501-56FD039E70D9}"/>
              </a:ext>
            </a:extLst>
          </p:cNvPr>
          <p:cNvSpPr txBox="1"/>
          <p:nvPr/>
        </p:nvSpPr>
        <p:spPr>
          <a:xfrm>
            <a:off x="6959600" y="2603499"/>
            <a:ext cx="2095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F3F0E8"/>
                </a:solidFill>
                <a:latin typeface="Aptos" panose="020B0004020202020204" pitchFamily="34" charset="0"/>
              </a:rPr>
              <a:t>0.00%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C99786-3901-404C-7E4E-47CA7CB63A98}"/>
              </a:ext>
            </a:extLst>
          </p:cNvPr>
          <p:cNvSpPr txBox="1"/>
          <p:nvPr/>
        </p:nvSpPr>
        <p:spPr>
          <a:xfrm>
            <a:off x="9144000" y="2666999"/>
            <a:ext cx="22606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F3F0E8"/>
                </a:solidFill>
                <a:latin typeface="Aptos" panose="020B0004020202020204" pitchFamily="34" charset="0"/>
              </a:rPr>
              <a:t>power-balance violation rate
in both controllers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D89C19-7974-A3B1-E939-D04D46B3C49A}"/>
              </a:ext>
            </a:extLst>
          </p:cNvPr>
          <p:cNvSpPr txBox="1"/>
          <p:nvPr/>
        </p:nvSpPr>
        <p:spPr>
          <a:xfrm>
            <a:off x="6959600" y="3809999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900" b="1">
                <a:solidFill>
                  <a:srgbClr val="E0B957"/>
                </a:solidFill>
                <a:latin typeface="Aptos" panose="020B0004020202020204" pitchFamily="34" charset="0"/>
              </a:rPr>
              <a:t>-3.11 pp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9D4A6B-DBD1-A004-A6E2-77B05646D727}"/>
              </a:ext>
            </a:extLst>
          </p:cNvPr>
          <p:cNvSpPr txBox="1"/>
          <p:nvPr/>
        </p:nvSpPr>
        <p:spPr>
          <a:xfrm>
            <a:off x="8991600" y="3898899"/>
            <a:ext cx="241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F3F0E8"/>
                </a:solidFill>
                <a:latin typeface="Aptos" panose="020B0004020202020204" pitchFamily="34" charset="0"/>
              </a:rPr>
              <a:t>aggregate switching 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8012B-A560-A476-6C97-798B43B671F9}"/>
              </a:ext>
            </a:extLst>
          </p:cNvPr>
          <p:cNvSpPr txBox="1"/>
          <p:nvPr/>
        </p:nvSpPr>
        <p:spPr>
          <a:xfrm>
            <a:off x="6959600" y="4813299"/>
            <a:ext cx="4191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83939D"/>
                </a:solidFill>
                <a:latin typeface="Aptos" panose="020B0004020202020204" pitchFamily="34" charset="0"/>
              </a:rPr>
              <a:t>Oversubscription stays diagnostic:
direction was mixed across cells</a:t>
            </a:r>
          </a:p>
        </p:txBody>
      </p:sp>
    </p:spTree>
    <p:extLst>
      <p:ext uri="{BB962C8B-B14F-4D97-AF65-F5344CB8AC3E}">
        <p14:creationId xmlns:p14="http://schemas.microsoft.com/office/powerpoint/2010/main" val="213583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B691A-03A9-F6FB-1365-ED639D248F94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60727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98C779-D963-CCDA-3A16-0E670192BE59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B73F239-DDBC-D103-108B-C269AEB271B4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0727D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AAE8D-B4DA-541D-7690-AD1B62CF2E09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0727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B26EE-AF9A-1A04-CF18-7522162CE813}"/>
              </a:ext>
            </a:extLst>
          </p:cNvPr>
          <p:cNvSpPr txBox="1"/>
          <p:nvPr/>
        </p:nvSpPr>
        <p:spPr>
          <a:xfrm>
            <a:off x="609600" y="736599"/>
            <a:ext cx="10972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500" b="1">
                <a:solidFill>
                  <a:srgbClr val="13232E"/>
                </a:solidFill>
                <a:latin typeface="Aptos" panose="020B0004020202020204" pitchFamily="34" charset="0"/>
              </a:rPr>
              <a:t>The evidence answers the proposal - within a strict boundary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DA627-D2A4-7285-EA90-F320FB6603A2}"/>
              </a:ext>
            </a:extLst>
          </p:cNvPr>
          <p:cNvSpPr txBox="1"/>
          <p:nvPr/>
        </p:nvSpPr>
        <p:spPr>
          <a:xfrm>
            <a:off x="812800" y="1739899"/>
            <a:ext cx="457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3FC6AC"/>
                </a:solidFill>
                <a:latin typeface="Aptos" panose="020B0004020202020204" pitchFamily="34" charset="0"/>
              </a:rPr>
              <a:t>What this establishes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A00AE5-04F7-B361-3991-662494EB304E}"/>
              </a:ext>
            </a:extLst>
          </p:cNvPr>
          <p:cNvCxnSpPr/>
          <p:nvPr/>
        </p:nvCxnSpPr>
        <p:spPr>
          <a:xfrm>
            <a:off x="812800" y="24892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FBF142-4CB1-5755-2F3B-EE55A7791162}"/>
              </a:ext>
            </a:extLst>
          </p:cNvPr>
          <p:cNvSpPr txBox="1"/>
          <p:nvPr/>
        </p:nvSpPr>
        <p:spPr>
          <a:xfrm>
            <a:off x="1168400" y="23367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PPO beats Fixed Rotation in the locked simulator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47FFBD-33FA-340F-691C-8081A5215795}"/>
              </a:ext>
            </a:extLst>
          </p:cNvPr>
          <p:cNvCxnSpPr/>
          <p:nvPr/>
        </p:nvCxnSpPr>
        <p:spPr>
          <a:xfrm>
            <a:off x="812800" y="30988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E46EF4-3ECA-EA1A-0090-C152F0DCF267}"/>
              </a:ext>
            </a:extLst>
          </p:cNvPr>
          <p:cNvSpPr txBox="1"/>
          <p:nvPr/>
        </p:nvSpPr>
        <p:spPr>
          <a:xfrm>
            <a:off x="1168400" y="29463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Critical-service protection and fairness improve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6B8432-AD68-7F7D-B32B-37CB751CF230}"/>
              </a:ext>
            </a:extLst>
          </p:cNvPr>
          <p:cNvCxnSpPr/>
          <p:nvPr/>
        </p:nvCxnSpPr>
        <p:spPr>
          <a:xfrm>
            <a:off x="812800" y="37084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C128BF-5F97-1961-1BA4-A2FA798CE480}"/>
              </a:ext>
            </a:extLst>
          </p:cNvPr>
          <p:cNvSpPr txBox="1"/>
          <p:nvPr/>
        </p:nvSpPr>
        <p:spPr>
          <a:xfrm>
            <a:off x="1168400" y="35559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The result is reproducible from pinned artifacts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566AAC-1ABC-CB1E-F8C8-64A5744D529E}"/>
              </a:ext>
            </a:extLst>
          </p:cNvPr>
          <p:cNvCxnSpPr/>
          <p:nvPr/>
        </p:nvCxnSpPr>
        <p:spPr>
          <a:xfrm>
            <a:off x="812800" y="4318000"/>
            <a:ext cx="203200" cy="0"/>
          </a:xfrm>
          <a:prstGeom prst="line">
            <a:avLst/>
          </a:prstGeom>
          <a:ln w="38100">
            <a:solidFill>
              <a:srgbClr val="3FC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EBF083-5C3C-07B9-F770-489107C7A69C}"/>
              </a:ext>
            </a:extLst>
          </p:cNvPr>
          <p:cNvSpPr txBox="1"/>
          <p:nvPr/>
        </p:nvSpPr>
        <p:spPr>
          <a:xfrm>
            <a:off x="1168400" y="41655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The desktop demonstrates one shared scenario honestly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0F58F-794B-6848-3BE8-6FD86052E4C8}"/>
              </a:ext>
            </a:extLst>
          </p:cNvPr>
          <p:cNvSpPr txBox="1"/>
          <p:nvPr/>
        </p:nvSpPr>
        <p:spPr>
          <a:xfrm>
            <a:off x="6629400" y="1739899"/>
            <a:ext cx="4699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A15E40"/>
                </a:solidFill>
                <a:latin typeface="Aptos" panose="020B0004020202020204" pitchFamily="34" charset="0"/>
              </a:rPr>
              <a:t>What this does not establish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011A04-8933-D9DD-F37D-05FE02BB8DB3}"/>
              </a:ext>
            </a:extLst>
          </p:cNvPr>
          <p:cNvCxnSpPr/>
          <p:nvPr/>
        </p:nvCxnSpPr>
        <p:spPr>
          <a:xfrm>
            <a:off x="6629400" y="2489200"/>
            <a:ext cx="203200" cy="0"/>
          </a:xfrm>
          <a:prstGeom prst="line">
            <a:avLst/>
          </a:prstGeom>
          <a:ln w="38100">
            <a:solidFill>
              <a:srgbClr val="A15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3721C0-75C2-3852-5E56-6E49D6BB8E8E}"/>
              </a:ext>
            </a:extLst>
          </p:cNvPr>
          <p:cNvSpPr txBox="1"/>
          <p:nvPr/>
        </p:nvSpPr>
        <p:spPr>
          <a:xfrm>
            <a:off x="6985000" y="23367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Field performance on Sudan's electrical grid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D5AAE5-EFB0-ED5F-B3C0-2D609BE249AF}"/>
              </a:ext>
            </a:extLst>
          </p:cNvPr>
          <p:cNvCxnSpPr/>
          <p:nvPr/>
        </p:nvCxnSpPr>
        <p:spPr>
          <a:xfrm>
            <a:off x="6629400" y="3098800"/>
            <a:ext cx="203200" cy="0"/>
          </a:xfrm>
          <a:prstGeom prst="line">
            <a:avLst/>
          </a:prstGeom>
          <a:ln w="38100">
            <a:solidFill>
              <a:srgbClr val="A15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2F42F4-688D-EF85-6F98-7DFBD222BBFC}"/>
              </a:ext>
            </a:extLst>
          </p:cNvPr>
          <p:cNvSpPr txBox="1"/>
          <p:nvPr/>
        </p:nvSpPr>
        <p:spPr>
          <a:xfrm>
            <a:off x="6985000" y="29463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Network stability, voltage, or protection behavior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E12262-1889-165F-59A5-C9A5B48FB8EA}"/>
              </a:ext>
            </a:extLst>
          </p:cNvPr>
          <p:cNvCxnSpPr/>
          <p:nvPr/>
        </p:nvCxnSpPr>
        <p:spPr>
          <a:xfrm>
            <a:off x="6629400" y="3708400"/>
            <a:ext cx="203200" cy="0"/>
          </a:xfrm>
          <a:prstGeom prst="line">
            <a:avLst/>
          </a:prstGeom>
          <a:ln w="38100">
            <a:solidFill>
              <a:srgbClr val="A15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1B502F-BEE2-A910-E456-EEC51F6E2B1F}"/>
              </a:ext>
            </a:extLst>
          </p:cNvPr>
          <p:cNvSpPr txBox="1"/>
          <p:nvPr/>
        </p:nvSpPr>
        <p:spPr>
          <a:xfrm>
            <a:off x="6985000" y="35559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Superiority over every possible controller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9F7078-D090-C6A3-BDA2-EB5F514F1727}"/>
              </a:ext>
            </a:extLst>
          </p:cNvPr>
          <p:cNvCxnSpPr/>
          <p:nvPr/>
        </p:nvCxnSpPr>
        <p:spPr>
          <a:xfrm>
            <a:off x="6629400" y="4318000"/>
            <a:ext cx="203200" cy="0"/>
          </a:xfrm>
          <a:prstGeom prst="line">
            <a:avLst/>
          </a:prstGeom>
          <a:ln w="38100">
            <a:solidFill>
              <a:srgbClr val="A15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7044B76-4FF9-51E2-D4B6-8B972E1671D5}"/>
              </a:ext>
            </a:extLst>
          </p:cNvPr>
          <p:cNvSpPr txBox="1"/>
          <p:nvPr/>
        </p:nvSpPr>
        <p:spPr>
          <a:xfrm>
            <a:off x="6985000" y="4165599"/>
            <a:ext cx="4597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13232E"/>
                </a:solidFill>
                <a:latin typeface="Aptos" panose="020B0004020202020204" pitchFamily="34" charset="0"/>
              </a:rPr>
              <a:t>Forecast accuracy from real operational 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0233C2E-30D2-522E-23F9-A6E78998C709}"/>
              </a:ext>
            </a:extLst>
          </p:cNvPr>
          <p:cNvSpPr/>
          <p:nvPr/>
        </p:nvSpPr>
        <p:spPr>
          <a:xfrm>
            <a:off x="812800" y="5092700"/>
            <a:ext cx="10515600" cy="838200"/>
          </a:xfrm>
          <a:prstGeom prst="roundRect">
            <a:avLst/>
          </a:prstGeom>
          <a:solidFill>
            <a:srgbClr val="E4F4F0"/>
          </a:solidFill>
          <a:ln w="15240">
            <a:solidFill>
              <a:srgbClr val="3FC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D40CE-873F-A6BA-00A3-36401F399361}"/>
              </a:ext>
            </a:extLst>
          </p:cNvPr>
          <p:cNvSpPr txBox="1"/>
          <p:nvPr/>
        </p:nvSpPr>
        <p:spPr>
          <a:xfrm>
            <a:off x="1041400" y="5295899"/>
            <a:ext cx="10033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 b="1">
                <a:solidFill>
                  <a:srgbClr val="13232E"/>
                </a:solidFill>
                <a:latin typeface="Aptos" panose="020B0004020202020204" pitchFamily="34" charset="0"/>
              </a:rPr>
              <a:t>Historical evidence stored 18 batch-cell summaries. Episode rows and intervals were regenerated from the audited simulator and frozen PPO checkpoint.</a:t>
            </a:r>
          </a:p>
        </p:txBody>
      </p:sp>
    </p:spTree>
    <p:extLst>
      <p:ext uri="{BB962C8B-B14F-4D97-AF65-F5344CB8AC3E}">
        <p14:creationId xmlns:p14="http://schemas.microsoft.com/office/powerpoint/2010/main" val="146108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7EF040-F414-9D96-3AF2-B92BB15CCB02}"/>
              </a:ext>
            </a:extLst>
          </p:cNvPr>
          <p:cNvSpPr txBox="1"/>
          <p:nvPr/>
        </p:nvSpPr>
        <p:spPr>
          <a:xfrm>
            <a:off x="609600" y="25400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83939D"/>
                </a:solidFill>
                <a:latin typeface="Aptos" panose="020B0004020202020204" pitchFamily="34" charset="0"/>
              </a:rPr>
              <a:t>GRIDGUARD KHARTOUM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71AF5D-51FF-9ABA-0ABF-2079C8A56E51}"/>
              </a:ext>
            </a:extLst>
          </p:cNvPr>
          <p:cNvCxnSpPr/>
          <p:nvPr/>
        </p:nvCxnSpPr>
        <p:spPr>
          <a:xfrm>
            <a:off x="609600" y="533400"/>
            <a:ext cx="10972800" cy="0"/>
          </a:xfrm>
          <a:prstGeom prst="line">
            <a:avLst/>
          </a:prstGeom>
          <a:ln w="1016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7E11F5-726A-7521-0AFC-CD263E74A371}"/>
              </a:ext>
            </a:extLst>
          </p:cNvPr>
          <p:cNvSpPr txBox="1"/>
          <p:nvPr/>
        </p:nvSpPr>
        <p:spPr>
          <a:xfrm>
            <a:off x="11201400" y="6451600"/>
            <a:ext cx="381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83939D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2ACED-7E33-7C46-B533-D809CE513468}"/>
              </a:ext>
            </a:extLst>
          </p:cNvPr>
          <p:cNvSpPr txBox="1"/>
          <p:nvPr/>
        </p:nvSpPr>
        <p:spPr>
          <a:xfrm>
            <a:off x="609600" y="6438900"/>
            <a:ext cx="355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3939D"/>
                </a:solidFill>
                <a:latin typeface="Aptos" panose="020B0004020202020204" pitchFamily="34" charset="0"/>
              </a:rPr>
              <a:t>OFFLINE GPU RESEARCH SIMULATION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3DE0B-0508-0901-C0A0-DCB6AFE723EF}"/>
              </a:ext>
            </a:extLst>
          </p:cNvPr>
          <p:cNvSpPr txBox="1"/>
          <p:nvPr/>
        </p:nvSpPr>
        <p:spPr>
          <a:xfrm>
            <a:off x="762000" y="914399"/>
            <a:ext cx="304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FC6AC"/>
                </a:solidFill>
                <a:latin typeface="Aptos" panose="020B0004020202020204" pitchFamily="34" charset="0"/>
              </a:rPr>
              <a:t>THE 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556B-21E5-6B12-8B19-A48ABB47D33B}"/>
              </a:ext>
            </a:extLst>
          </p:cNvPr>
          <p:cNvSpPr txBox="1"/>
          <p:nvPr/>
        </p:nvSpPr>
        <p:spPr>
          <a:xfrm>
            <a:off x="762000" y="1625599"/>
            <a:ext cx="1041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900" b="1">
                <a:solidFill>
                  <a:srgbClr val="F3F0E8"/>
                </a:solidFill>
                <a:latin typeface="Aptos" panose="020B0004020202020204" pitchFamily="34" charset="0"/>
              </a:rPr>
              <a:t>PPO &gt; Fixed Rotation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9E50A-845A-187C-6D7C-47F1781372B9}"/>
              </a:ext>
            </a:extLst>
          </p:cNvPr>
          <p:cNvSpPr txBox="1"/>
          <p:nvPr/>
        </p:nvSpPr>
        <p:spPr>
          <a:xfrm>
            <a:off x="787400" y="2603499"/>
            <a:ext cx="8382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>
                <a:solidFill>
                  <a:srgbClr val="E0B957"/>
                </a:solidFill>
                <a:latin typeface="Aptos" panose="020B0004020202020204" pitchFamily="34" charset="0"/>
              </a:rPr>
              <a:t>under the locked synthetic evaluation protocol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3E089-A711-3DC1-1F92-4ED6BBDD3DCB}"/>
              </a:ext>
            </a:extLst>
          </p:cNvPr>
          <p:cNvCxnSpPr/>
          <p:nvPr/>
        </p:nvCxnSpPr>
        <p:spPr>
          <a:xfrm>
            <a:off x="787400" y="3441700"/>
            <a:ext cx="10617200" cy="0"/>
          </a:xfrm>
          <a:prstGeom prst="line">
            <a:avLst/>
          </a:prstGeom>
          <a:ln w="12700">
            <a:solidFill>
              <a:srgbClr val="36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0943CC-1E99-6AC8-FB0D-F761199AF4A8}"/>
              </a:ext>
            </a:extLst>
          </p:cNvPr>
          <p:cNvCxnSpPr/>
          <p:nvPr/>
        </p:nvCxnSpPr>
        <p:spPr>
          <a:xfrm>
            <a:off x="787400" y="40386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B9B25A-260C-8751-6F49-673B62CD99D7}"/>
              </a:ext>
            </a:extLst>
          </p:cNvPr>
          <p:cNvSpPr txBox="1"/>
          <p:nvPr/>
        </p:nvSpPr>
        <p:spPr>
          <a:xfrm>
            <a:off x="1143000" y="3886199"/>
            <a:ext cx="9931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F3F0E8"/>
                </a:solidFill>
                <a:latin typeface="Aptos" panose="020B0004020202020204" pitchFamily="34" charset="0"/>
              </a:rPr>
              <a:t>Verified - pinned model, evidence, provenance, and release gate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73B72D-B5ED-306C-2505-9835302B763C}"/>
              </a:ext>
            </a:extLst>
          </p:cNvPr>
          <p:cNvCxnSpPr/>
          <p:nvPr/>
        </p:nvCxnSpPr>
        <p:spPr>
          <a:xfrm>
            <a:off x="787400" y="46609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FD64E6-A1EF-CA4C-2FE4-D86258099480}"/>
              </a:ext>
            </a:extLst>
          </p:cNvPr>
          <p:cNvSpPr txBox="1"/>
          <p:nvPr/>
        </p:nvSpPr>
        <p:spPr>
          <a:xfrm>
            <a:off x="1143000" y="4508499"/>
            <a:ext cx="9931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F3F0E8"/>
                </a:solidFill>
                <a:latin typeface="Aptos" panose="020B0004020202020204" pitchFamily="34" charset="0"/>
              </a:rPr>
              <a:t>Interactive - one shared GPU scenario with locality-level replay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57279D-9685-9F02-6C1E-F78DF0F1E070}"/>
              </a:ext>
            </a:extLst>
          </p:cNvPr>
          <p:cNvCxnSpPr/>
          <p:nvPr/>
        </p:nvCxnSpPr>
        <p:spPr>
          <a:xfrm>
            <a:off x="787400" y="5283200"/>
            <a:ext cx="203200" cy="0"/>
          </a:xfrm>
          <a:prstGeom prst="line">
            <a:avLst/>
          </a:prstGeom>
          <a:ln w="38100">
            <a:solidFill>
              <a:srgbClr val="E0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B581EEA-33D2-8BBF-1ED6-5E769A57A80E}"/>
              </a:ext>
            </a:extLst>
          </p:cNvPr>
          <p:cNvSpPr txBox="1"/>
          <p:nvPr/>
        </p:nvSpPr>
        <p:spPr>
          <a:xfrm>
            <a:off x="1143000" y="5130799"/>
            <a:ext cx="9931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F3F0E8"/>
                </a:solidFill>
                <a:latin typeface="Aptos" panose="020B0004020202020204" pitchFamily="34" charset="0"/>
              </a:rPr>
              <a:t>Honest - synthetic scope, historical boundary, and limitations visible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C545EE-BF76-F82D-52CC-58B501F4D6F7}"/>
              </a:ext>
            </a:extLst>
          </p:cNvPr>
          <p:cNvSpPr/>
          <p:nvPr/>
        </p:nvSpPr>
        <p:spPr>
          <a:xfrm>
            <a:off x="787400" y="5740400"/>
            <a:ext cx="10617200" cy="533400"/>
          </a:xfrm>
          <a:prstGeom prst="roundRect">
            <a:avLst/>
          </a:prstGeom>
          <a:solidFill>
            <a:srgbClr val="3FC6A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382D77-1941-A6D3-CEC6-D55E94704673}"/>
              </a:ext>
            </a:extLst>
          </p:cNvPr>
          <p:cNvSpPr txBox="1"/>
          <p:nvPr/>
        </p:nvSpPr>
        <p:spPr>
          <a:xfrm>
            <a:off x="990600" y="5880099"/>
            <a:ext cx="10210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 b="1">
                <a:solidFill>
                  <a:srgbClr val="071923"/>
                </a:solidFill>
                <a:latin typeface="Aptos" panose="020B0004020202020204" pitchFamily="34" charset="0"/>
              </a:rPr>
              <a:t>Next: validate with representative operational data and electrical-network constraints</a:t>
            </a:r>
          </a:p>
        </p:txBody>
      </p:sp>
    </p:spTree>
    <p:extLst>
      <p:ext uri="{BB962C8B-B14F-4D97-AF65-F5344CB8AC3E}">
        <p14:creationId xmlns:p14="http://schemas.microsoft.com/office/powerpoint/2010/main" val="89211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Custom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Suliman Babiker</dc:creator>
  <cp:lastModifiedBy>Suliman Babiker</cp:lastModifiedBy>
  <cp:revision>1</cp:revision>
  <dcterms:created xsi:type="dcterms:W3CDTF">2026-08-15T11:47:35Z</dcterms:created>
  <dcterms:modified xsi:type="dcterms:W3CDTF">2026-08-15T11:47:35Z</dcterms:modified>
</cp:coreProperties>
</file>