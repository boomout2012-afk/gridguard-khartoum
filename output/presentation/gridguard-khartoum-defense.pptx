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E73821-90AC-44F2-90FB-25C32752FA9F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C4D004-1548-4EB6-8774-9EB7120B6A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194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Open with the project question: can a learned policy allocate limited modeled supply more effectively than a traditional schedule?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docs/source/graduation-project-proposal.pdf</a:t>
            </a:r>
          </a:p>
          <a:p>
            <a:r>
              <a:rPr lang="en-US"/>
              <a:t>- docs/REPORT.md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2533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Frame the problem as constrained allocation, not a claim that the simulator models the full electrical network. The administrative boundaries provide presentation context only.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 (Simulation domain; Limitations)</a:t>
            </a:r>
          </a:p>
          <a:p>
            <a:r>
              <a:rPr lang="en-US"/>
              <a:t>- docs/assets/screenshots/overview.png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Walk left to right. The controller path and display-only forecast are deliberately separated so a presentation feature cannot silently change the claim.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 (System overview; Display-only forecast)</a:t>
            </a:r>
          </a:p>
          <a:p>
            <a:r>
              <a:rPr lang="en-US"/>
              <a:t>- docs/decisions/ADR-001-gpu-runtime.md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7322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Stress the pairing: both controllers receive the same immutable Scenario object. The 288 conditions are severity variants of 96 independent base draws, not 288 independent draws; together they produce 576 controller-scenario evaluations.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 (Controller decisions; Matched evaluation design)</a:t>
            </a:r>
          </a:p>
          <a:p>
            <a:r>
              <a:rPr lang="en-US"/>
              <a:t>- data/evidence/paired-benchmark.json, SHA-256 2c3e71e48c4c7bff4fe609d42a76ca4f770f6dd717cd7d45d5e8e0d99fdf2d11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3475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performance-critical scenario, simulation, PPO, metric, and bootstrap paths run on CUDA. One explicit final host transfer supports canonical evidence assembly and validation; it is not a controller fallback. The release gate validates Torch, CuPy, CUDA, DLPack sharing, the PPO artifact, and evidence before launch.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 (GPU-first execution; Verification strategy)</a:t>
            </a:r>
          </a:p>
          <a:p>
            <a:r>
              <a:rPr lang="en-US"/>
              <a:t>- docs/decisions/ADR-001-gpu-runtime.md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643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Demo this after the slide: choose a shortage and seed, run once, then change controller and hour without changing the scenario. Point out demand, served MW, critical ratio, sector service, and the display-only next-hour projection.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 (Desktop presentation)</a:t>
            </a:r>
          </a:p>
          <a:p>
            <a:r>
              <a:rPr lang="en-US"/>
              <a:t>- docs/assets/screenshots/live.png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1699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strongest proposal-facing result. The critical-service ratio is modeled critical energy served divided by critical demand. Critical-outage locality-hours use the locked 99% threshold and are diagnostic, not a bootstrap endpoint.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docs/RESULTS.md (Reproduced paired aggregate comparison)</a:t>
            </a:r>
          </a:p>
          <a:p>
            <a:r>
              <a:rPr lang="en-US"/>
              <a:t>- data/evidence/paired-benchmark.json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2393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Served and curtailed energy are complementary under the energy identity, so present them as two views of the same allocation change rather than independent endpoints.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docs/RESULTS.md (Reproduced paired aggregate comparison)</a:t>
            </a:r>
          </a:p>
          <a:p>
            <a:r>
              <a:rPr lang="en-US"/>
              <a:t>- data/evidence/paired-benchmark.json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067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Positive favors PPO for higher-is-better outcomes; negative favors PPO for lower-is-better outcomes. The bootstrap resamples 96 base-draw clusters inside seed strata and keeps all 3 shortage variants together.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 (Paired uncertainty calculation)</a:t>
            </a:r>
          </a:p>
          <a:p>
            <a:r>
              <a:rPr lang="en-US"/>
              <a:t>- docs/RESULTS.md (Paired differences and 95% intervals)</a:t>
            </a:r>
          </a:p>
          <a:p>
            <a:r>
              <a:rPr lang="en-US"/>
              <a:t>- data/evidence/paired-benchmark.json, SHA-256 2c3e71e48c4c7bff4fe609d42a76ca4f770f6dd717cd7d45d5e8e0d99fdf2d11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272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 6 primary outcomes favor PPO in all 9 cells. Switching favors PPO overall but in 7 of 9 cells. Oversubscription is lower in aggregate for PPO but mixed by cell, so it is not presented as a consistent primary advantage.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docs/RESULTS.md (Consistency across the nine evaluation cells)</a:t>
            </a:r>
          </a:p>
          <a:p>
            <a:r>
              <a:rPr lang="en-US"/>
              <a:t>- data/evidence/paired-benchmark.json, SHA-256 2c3e71e48c4c7bff4fe609d42a76ca4f770f6dd717cd7d45d5e8e0d99fdf2d11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8316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boundary is part of the result, not a weakness to hide. The accepted historical artifact did not contain episode rows, so the paired rows and intervals are a reviewed regeneration, not reconstructed historical observations.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docs/RESULTS.md (Two evidence layers; Limitations)</a:t>
            </a:r>
          </a:p>
          <a:p>
            <a:r>
              <a:rPr lang="en-US"/>
              <a:t>- docs/METHODOLOGY.md (Limitations and threats to validity)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638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Close by answering the original question, then transition to the live demonstration. The next scientific step is operational-data and network-constraint validation before any field-facing use.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docs/RESULTS.md (Result statement; Interpretation)</a:t>
            </a:r>
          </a:p>
          <a:p>
            <a:r>
              <a:rPr lang="en-US"/>
              <a:t>- docs/REPORT.md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C4D004-1548-4EB6-8774-9EB7120B6A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4291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DAAEE-3E9B-BB37-A52D-F0382C4AE3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E5F6D-EB39-2D57-4647-001E25F344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D7803-071E-F93E-A23C-5CAA29951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D6AA3-A34E-AB6D-3758-F9D9FDBEB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AF3683-6EF1-6E13-16E2-1BB82485F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435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8E199-E062-8A9C-F134-135835D52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51FDA-9584-0188-FA69-ED43D99D2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791EB-24E5-1545-91FA-1648BA931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ABAFFD-DBD5-74CE-9FAA-011E900F3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97B2B-2B0A-9F5A-8631-1B43883DD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9711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1943-81A3-F055-43D1-16E8A17D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F6550-3A59-98A1-7976-BBBB8CDE6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98A350-ED5B-A1DC-4E88-907F10EB1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7E87E-D5D2-91F4-44D5-A2B20D40A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15C73-32A9-A9DF-67D7-76070000F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153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B6C5F-F9AE-CC56-2093-749A04B71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E599D-78CE-10BE-E0EA-397FE19EEA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96FF3-6657-F29C-E3F7-41EC90F92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BE3AED-2EB9-9349-0DA8-915CDCE0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4F876E-E322-636E-5C5F-EA50B9FD3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9DFB29-7513-C527-8001-B1D76A3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295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29E6B-A725-098E-7944-54A3FD6C3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F49D69-1BAD-281E-03DF-55B2BC033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96CA9A-CB5C-503C-DBD1-2534F3B581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26DD7-D78E-BF91-57B3-05A935A043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340AB6-2E4B-5F7A-B197-FDB9E66B07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2FBAD6-ED8B-1FCA-9D41-AB213ADBE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00C233-FDC4-4616-3D3C-EE4F5EA97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116872-C58F-D7C7-1E5B-6DF77A051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760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4F633-AFBF-D3F6-67F5-44DC4446B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7791E1-B1C6-54AF-B01B-C09F8CDC4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1468B4-72BE-1322-B487-703B4ACFB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9E034-2AD4-03D3-DA91-41A218DE5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450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78799-3D60-4ABE-2EC2-B8E62DEF9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9F668F-BF32-531F-3938-39543FE78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1BA146-112B-A4CD-9245-07A1748AB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970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B354D-0C18-6B6A-8C79-E57224BBF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2670D-AB54-E499-3975-1103A75E3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72B1D3-53CE-8E9C-25A1-4019DE405A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432C4C-2988-4089-711A-51A338565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3893D7-7517-2111-ED2A-4B0521C70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8B82D-FD69-52AA-4FBE-6B4A30E82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414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A91CA-1E9D-5F82-AD39-43C457A44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DA0E6B-B7BF-5A84-34BB-7A42F2923C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ED0628-9918-1AE5-9F8F-E98107332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979557-F30A-556A-482E-F681DB9C1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799918-85EF-D6D2-51CF-CF9E27EE2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6D0E57-EE10-5A61-C391-DB147A468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722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28D76-3546-EDC5-8E8F-592AC360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138E54-191D-B7A5-F2B7-5A50FA240E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E0410-E761-38DB-DA91-B3A6A1E4D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6E832-CF7A-8F7F-462B-CDA9BFBD9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2F5E47-533F-DCF6-7FFB-03E48CF56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148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9A2B0F-F6DF-3734-B15E-E0B3A5C609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48718A-88DF-4F9F-415F-0C7EF53CE7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8856A5-CA89-9A96-3DD3-10BC8FCB6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57B04-8A3D-0C8B-CA06-675AE2BBD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F372E-6AAC-216B-FF9B-69264C40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83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91C26D-97FC-7022-5C19-432C70F01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FE0FC-4BD5-0980-DFD0-4E5049E9D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B889C0-0D15-92D6-2F1A-E1CA8C8EC7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1BE91F-0B33-40E3-9AB7-59DD5EB738EA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CE66F-225A-7B3B-AB46-6E665AABC5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9F52F7-083C-4556-D6CA-C8C7A0AE9D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B070CA-7418-40FB-A3DF-DA5FA69D9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844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6D2EE9-A263-E515-2ED0-D7C73479BD3F}"/>
              </a:ext>
            </a:extLst>
          </p:cNvPr>
          <p:cNvSpPr txBox="1"/>
          <p:nvPr/>
        </p:nvSpPr>
        <p:spPr>
          <a:xfrm>
            <a:off x="762000" y="736599"/>
            <a:ext cx="533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GRADUATION PROJECT DEFENSE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FFECFC-5877-44D0-EA3B-0DE2E3027AAA}"/>
              </a:ext>
            </a:extLst>
          </p:cNvPr>
          <p:cNvSpPr txBox="1"/>
          <p:nvPr/>
        </p:nvSpPr>
        <p:spPr>
          <a:xfrm>
            <a:off x="762000" y="1625599"/>
            <a:ext cx="99060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400" b="1">
                <a:solidFill>
                  <a:srgbClr val="F3F0E8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D2267-F486-066B-2BA9-AC93D3105C4D}"/>
              </a:ext>
            </a:extLst>
          </p:cNvPr>
          <p:cNvSpPr txBox="1"/>
          <p:nvPr/>
        </p:nvSpPr>
        <p:spPr>
          <a:xfrm>
            <a:off x="762000" y="2692399"/>
            <a:ext cx="9652000" cy="863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600">
                <a:solidFill>
                  <a:srgbClr val="E0B957"/>
                </a:solidFill>
                <a:latin typeface="Aptos" panose="020B0004020202020204" pitchFamily="34" charset="0"/>
              </a:rPr>
              <a:t>PPO-assisted load shedding and energy management for developing countries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3FCC5EA-B765-D47A-848E-B0CB529DC40D}"/>
              </a:ext>
            </a:extLst>
          </p:cNvPr>
          <p:cNvCxnSpPr/>
          <p:nvPr/>
        </p:nvCxnSpPr>
        <p:spPr>
          <a:xfrm>
            <a:off x="762000" y="3835400"/>
            <a:ext cx="2870200" cy="0"/>
          </a:xfrm>
          <a:prstGeom prst="line">
            <a:avLst/>
          </a:prstGeom>
          <a:ln w="635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FE57C32-7965-2D0E-7BC4-E7853A7EAC96}"/>
              </a:ext>
            </a:extLst>
          </p:cNvPr>
          <p:cNvSpPr txBox="1"/>
          <p:nvPr/>
        </p:nvSpPr>
        <p:spPr>
          <a:xfrm>
            <a:off x="762000" y="4381499"/>
            <a:ext cx="533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pt-BR" sz="1700">
                <a:solidFill>
                  <a:srgbClr val="F3F0E8"/>
                </a:solidFill>
                <a:latin typeface="Aptos" panose="020B0004020202020204" pitchFamily="34" charset="0"/>
              </a:rPr>
              <a:t>Murtada Asim Ibrahim Bakhit (18-317)</a:t>
            </a:r>
            <a:endParaRPr lang="en-US" sz="1700">
              <a:solidFill>
                <a:srgbClr val="F3F0E8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62C42C-174D-5530-75D9-86A51692B864}"/>
              </a:ext>
            </a:extLst>
          </p:cNvPr>
          <p:cNvSpPr txBox="1"/>
          <p:nvPr/>
        </p:nvSpPr>
        <p:spPr>
          <a:xfrm>
            <a:off x="762000" y="4749799"/>
            <a:ext cx="533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Suliman Elawad Suliman Babiker (18-310)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06E705-CAB0-BEF2-66A1-2D81715797A0}"/>
              </a:ext>
            </a:extLst>
          </p:cNvPr>
          <p:cNvSpPr txBox="1"/>
          <p:nvPr/>
        </p:nvSpPr>
        <p:spPr>
          <a:xfrm>
            <a:off x="762000" y="5118099"/>
            <a:ext cx="533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Abdalhay Abass Mobarak Abass (15-306)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C3D356-3CD7-095F-E0A9-DADB64B42C38}"/>
              </a:ext>
            </a:extLst>
          </p:cNvPr>
          <p:cNvSpPr txBox="1"/>
          <p:nvPr/>
        </p:nvSpPr>
        <p:spPr>
          <a:xfrm>
            <a:off x="762000" y="5968999"/>
            <a:ext cx="609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research simulation  |  August 2026</a:t>
            </a:r>
          </a:p>
        </p:txBody>
      </p:sp>
    </p:spTree>
    <p:extLst>
      <p:ext uri="{BB962C8B-B14F-4D97-AF65-F5344CB8AC3E}">
        <p14:creationId xmlns:p14="http://schemas.microsoft.com/office/powerpoint/2010/main" val="2979189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81747E-C277-4809-3DA0-52186AFBC906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02DC5D-CA2E-A4F9-7E07-8C6D32D43BD6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F0E91DA-9322-A962-858B-D74008691C58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902A66-2DE8-7554-3911-65D2A163CF2E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BAC04F-93D8-9A88-4E99-8C2F2E17A3DE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A shortage creates seven simultaneous allocation choices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C6DE40-9FF8-6BC8-49E6-B5C1E72933A2}"/>
              </a:ext>
            </a:extLst>
          </p:cNvPr>
          <p:cNvCxnSpPr/>
          <p:nvPr/>
        </p:nvCxnSpPr>
        <p:spPr>
          <a:xfrm>
            <a:off x="736600" y="21844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1CCC872-4207-7620-B301-65CCFB013E90}"/>
              </a:ext>
            </a:extLst>
          </p:cNvPr>
          <p:cNvSpPr txBox="1"/>
          <p:nvPr/>
        </p:nvSpPr>
        <p:spPr>
          <a:xfrm>
            <a:off x="1092200" y="2031999"/>
            <a:ext cx="38354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Protect Hospital, Water, and Bakery demand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CB8640-42E1-52D7-91F2-CC741A5EA3A3}"/>
              </a:ext>
            </a:extLst>
          </p:cNvPr>
          <p:cNvCxnSpPr/>
          <p:nvPr/>
        </p:nvCxnSpPr>
        <p:spPr>
          <a:xfrm>
            <a:off x="736600" y="30226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B61A93D-6980-197A-8FF0-DC38A11F65AA}"/>
              </a:ext>
            </a:extLst>
          </p:cNvPr>
          <p:cNvSpPr txBox="1"/>
          <p:nvPr/>
        </p:nvSpPr>
        <p:spPr>
          <a:xfrm>
            <a:off x="1092200" y="2870199"/>
            <a:ext cx="38354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Use the available supply without exceeding 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C00AB70-C7BA-A5FB-08E3-3EE7ADB95495}"/>
              </a:ext>
            </a:extLst>
          </p:cNvPr>
          <p:cNvCxnSpPr/>
          <p:nvPr/>
        </p:nvCxnSpPr>
        <p:spPr>
          <a:xfrm>
            <a:off x="736600" y="38608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67A19E8-F919-C948-FBF5-B8E35BF73965}"/>
              </a:ext>
            </a:extLst>
          </p:cNvPr>
          <p:cNvSpPr txBox="1"/>
          <p:nvPr/>
        </p:nvSpPr>
        <p:spPr>
          <a:xfrm>
            <a:off x="1092200" y="3708399"/>
            <a:ext cx="38354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Share service across seven modeled localities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E9598A4-02A9-B72A-7300-4B57F8EA8FD8}"/>
              </a:ext>
            </a:extLst>
          </p:cNvPr>
          <p:cNvSpPr/>
          <p:nvPr/>
        </p:nvSpPr>
        <p:spPr>
          <a:xfrm>
            <a:off x="5397500" y="1778000"/>
            <a:ext cx="6159500" cy="3467100"/>
          </a:xfrm>
          <a:prstGeom prst="roundRect">
            <a:avLst/>
          </a:prstGeom>
          <a:solidFill>
            <a:srgbClr val="102A3B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GridGuard overview showing seven administrative locality boundaries and the frozen controller summary">
            <a:extLst>
              <a:ext uri="{FF2B5EF4-FFF2-40B4-BE49-F238E27FC236}">
                <a16:creationId xmlns:a16="http://schemas.microsoft.com/office/drawing/2014/main" id="{7DEF9CC5-B1ED-A827-2B75-16BDD56D247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0" y="1866900"/>
            <a:ext cx="5981700" cy="33655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77A7543-804D-967B-4CE1-175A5EFBA599}"/>
              </a:ext>
            </a:extLst>
          </p:cNvPr>
          <p:cNvSpPr txBox="1"/>
          <p:nvPr/>
        </p:nvSpPr>
        <p:spPr>
          <a:xfrm>
            <a:off x="736600" y="5562599"/>
            <a:ext cx="10033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3FC6AC"/>
                </a:solidFill>
                <a:latin typeface="Aptos" panose="020B0004020202020204" pitchFamily="34" charset="0"/>
              </a:rPr>
              <a:t>Synthetic decision-support scope - not a live grid controller</a:t>
            </a:r>
          </a:p>
        </p:txBody>
      </p:sp>
    </p:spTree>
    <p:extLst>
      <p:ext uri="{BB962C8B-B14F-4D97-AF65-F5344CB8AC3E}">
        <p14:creationId xmlns:p14="http://schemas.microsoft.com/office/powerpoint/2010/main" val="2620795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97EDB4-8A57-F6CD-7664-17E9168A4783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96C6082-83EC-F6EA-87CE-22E6DDE089C4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7528B1E-5FF2-E37A-4388-203887DB03A4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35F0C-16CB-F7C1-E085-8FC92D6B2FF3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13AE98-3BC0-8F72-C881-8A3B7B96759C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proposal became a clean, auditable desktop system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150445-101D-D826-2912-DF5162B5DC51}"/>
              </a:ext>
            </a:extLst>
          </p:cNvPr>
          <p:cNvCxnSpPr/>
          <p:nvPr/>
        </p:nvCxnSpPr>
        <p:spPr>
          <a:xfrm>
            <a:off x="2476500" y="2921000"/>
            <a:ext cx="571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77FDC3E-556F-73AF-C709-0D9131519A62}"/>
              </a:ext>
            </a:extLst>
          </p:cNvPr>
          <p:cNvCxnSpPr/>
          <p:nvPr/>
        </p:nvCxnSpPr>
        <p:spPr>
          <a:xfrm>
            <a:off x="4699000" y="2921000"/>
            <a:ext cx="571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B3903F0-CFA4-3F83-35B1-530343CF0F34}"/>
              </a:ext>
            </a:extLst>
          </p:cNvPr>
          <p:cNvCxnSpPr/>
          <p:nvPr/>
        </p:nvCxnSpPr>
        <p:spPr>
          <a:xfrm>
            <a:off x="6921500" y="2921000"/>
            <a:ext cx="571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E4BDFE-1817-536E-709D-2397CFF9BB87}"/>
              </a:ext>
            </a:extLst>
          </p:cNvPr>
          <p:cNvCxnSpPr/>
          <p:nvPr/>
        </p:nvCxnSpPr>
        <p:spPr>
          <a:xfrm>
            <a:off x="9144000" y="2921000"/>
            <a:ext cx="571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B60C3A3-A0F8-D380-6383-27B5F949D0F2}"/>
              </a:ext>
            </a:extLst>
          </p:cNvPr>
          <p:cNvSpPr/>
          <p:nvPr/>
        </p:nvSpPr>
        <p:spPr>
          <a:xfrm>
            <a:off x="825500" y="2336800"/>
            <a:ext cx="16510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1AA78A-C641-4106-022F-930CDB222709}"/>
              </a:ext>
            </a:extLst>
          </p:cNvPr>
          <p:cNvSpPr txBox="1"/>
          <p:nvPr/>
        </p:nvSpPr>
        <p:spPr>
          <a:xfrm>
            <a:off x="927100" y="2578099"/>
            <a:ext cx="1447800" cy="838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F3F0E8"/>
                </a:solidFill>
                <a:latin typeface="Aptos" panose="020B0004020202020204" pitchFamily="34" charset="0"/>
              </a:rPr>
              <a:t>Seeded
scenarios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63DC37C-DD4E-0E02-F382-BE73DC45B243}"/>
              </a:ext>
            </a:extLst>
          </p:cNvPr>
          <p:cNvSpPr/>
          <p:nvPr/>
        </p:nvSpPr>
        <p:spPr>
          <a:xfrm>
            <a:off x="3048000" y="2336800"/>
            <a:ext cx="16510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922122-9AB4-C880-9C9D-EBB0C52A89DB}"/>
              </a:ext>
            </a:extLst>
          </p:cNvPr>
          <p:cNvSpPr txBox="1"/>
          <p:nvPr/>
        </p:nvSpPr>
        <p:spPr>
          <a:xfrm>
            <a:off x="3149600" y="2578099"/>
            <a:ext cx="1447800" cy="838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F3F0E8"/>
                </a:solidFill>
                <a:latin typeface="Aptos" panose="020B0004020202020204" pitchFamily="34" charset="0"/>
              </a:rPr>
              <a:t>Shared CUDA
tensors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08BB0A-805E-BDB2-09E2-2D88A7DB7B84}"/>
              </a:ext>
            </a:extLst>
          </p:cNvPr>
          <p:cNvSpPr/>
          <p:nvPr/>
        </p:nvSpPr>
        <p:spPr>
          <a:xfrm>
            <a:off x="5270500" y="2336800"/>
            <a:ext cx="1651000" cy="1168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2A2E27-00A7-51E6-57CC-2E0C079A3F00}"/>
              </a:ext>
            </a:extLst>
          </p:cNvPr>
          <p:cNvSpPr txBox="1"/>
          <p:nvPr/>
        </p:nvSpPr>
        <p:spPr>
          <a:xfrm>
            <a:off x="5372100" y="2578099"/>
            <a:ext cx="1447800" cy="838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F3F0E8"/>
                </a:solidFill>
                <a:latin typeface="Aptos" panose="020B0004020202020204" pitchFamily="34" charset="0"/>
              </a:rPr>
              <a:t>PPO and
Fixed Rotation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B607CF5-7C33-E98F-9A37-C5EAFB5965A0}"/>
              </a:ext>
            </a:extLst>
          </p:cNvPr>
          <p:cNvSpPr/>
          <p:nvPr/>
        </p:nvSpPr>
        <p:spPr>
          <a:xfrm>
            <a:off x="7493000" y="2336800"/>
            <a:ext cx="16510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CB2ECD-5EE7-FF9F-712A-438DD74D1965}"/>
              </a:ext>
            </a:extLst>
          </p:cNvPr>
          <p:cNvSpPr txBox="1"/>
          <p:nvPr/>
        </p:nvSpPr>
        <p:spPr>
          <a:xfrm>
            <a:off x="7594600" y="2578099"/>
            <a:ext cx="1447800" cy="838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F3F0E8"/>
                </a:solidFill>
                <a:latin typeface="Aptos" panose="020B0004020202020204" pitchFamily="34" charset="0"/>
              </a:rPr>
              <a:t>Paired
evidence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5ACCF93-34ED-3768-F7B0-36C3BCB29F0C}"/>
              </a:ext>
            </a:extLst>
          </p:cNvPr>
          <p:cNvSpPr/>
          <p:nvPr/>
        </p:nvSpPr>
        <p:spPr>
          <a:xfrm>
            <a:off x="9715500" y="2336800"/>
            <a:ext cx="1651000" cy="1168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5F1248-F89D-C83C-B6B3-04794D626AF6}"/>
              </a:ext>
            </a:extLst>
          </p:cNvPr>
          <p:cNvSpPr txBox="1"/>
          <p:nvPr/>
        </p:nvSpPr>
        <p:spPr>
          <a:xfrm>
            <a:off x="9817100" y="2578099"/>
            <a:ext cx="1447800" cy="838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F3F0E8"/>
                </a:solidFill>
                <a:latin typeface="Aptos" panose="020B0004020202020204" pitchFamily="34" charset="0"/>
              </a:rPr>
              <a:t>Desktop
replay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0FB328-FA19-78AA-16E4-20C0BAF88847}"/>
              </a:ext>
            </a:extLst>
          </p:cNvPr>
          <p:cNvSpPr txBox="1"/>
          <p:nvPr/>
        </p:nvSpPr>
        <p:spPr>
          <a:xfrm>
            <a:off x="736600" y="4063999"/>
            <a:ext cx="355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13232E"/>
                </a:solidFill>
                <a:latin typeface="Aptos" panose="020B0004020202020204" pitchFamily="34" charset="0"/>
              </a:rPr>
              <a:t>Controller evidence path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151DD3-7C4B-0A54-2A86-D3623925CF25}"/>
              </a:ext>
            </a:extLst>
          </p:cNvPr>
          <p:cNvCxnSpPr/>
          <p:nvPr/>
        </p:nvCxnSpPr>
        <p:spPr>
          <a:xfrm>
            <a:off x="736600" y="4508500"/>
            <a:ext cx="106934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88C7A4F-8236-B332-1D87-F343FFC711BC}"/>
              </a:ext>
            </a:extLst>
          </p:cNvPr>
          <p:cNvSpPr txBox="1"/>
          <p:nvPr/>
        </p:nvSpPr>
        <p:spPr>
          <a:xfrm>
            <a:off x="736600" y="4825999"/>
            <a:ext cx="2413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Demand projection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7CD3FB-246C-3654-4E13-7015A53A1007}"/>
              </a:ext>
            </a:extLst>
          </p:cNvPr>
          <p:cNvSpPr txBox="1"/>
          <p:nvPr/>
        </p:nvSpPr>
        <p:spPr>
          <a:xfrm>
            <a:off x="3175000" y="4825999"/>
            <a:ext cx="8255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60727D"/>
                </a:solidFill>
                <a:latin typeface="Aptos" panose="020B0004020202020204" pitchFamily="34" charset="0"/>
              </a:rPr>
              <a:t>Display only - never enters PPO, dispatch, reward, or benchmark evidence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D3D890-3282-F820-D82E-7D7A275A8BBA}"/>
              </a:ext>
            </a:extLst>
          </p:cNvPr>
          <p:cNvSpPr txBox="1"/>
          <p:nvPr/>
        </p:nvSpPr>
        <p:spPr>
          <a:xfrm>
            <a:off x="736600" y="5664199"/>
            <a:ext cx="1041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Offline after installation  |  hash-bound artifacts  |  fail-closed startup</a:t>
            </a:r>
          </a:p>
        </p:txBody>
      </p:sp>
    </p:spTree>
    <p:extLst>
      <p:ext uri="{BB962C8B-B14F-4D97-AF65-F5344CB8AC3E}">
        <p14:creationId xmlns:p14="http://schemas.microsoft.com/office/powerpoint/2010/main" val="2788614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DAF6FF-498A-E17C-7B04-A3E9D763AB43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D3BF224-ACC9-EF49-0D7E-9911E1558CB9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ABF5236-8434-4902-AD7E-F8493D1C73D3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42508A-411B-8C9B-BDD5-AD55820DFFA7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36B773-9716-48DB-2B33-8196C1FFDA36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PPO and Fixed Rotation receive exactly the same scenario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0FC856-9A1F-D7B4-49A2-39CAFC363959}"/>
              </a:ext>
            </a:extLst>
          </p:cNvPr>
          <p:cNvSpPr txBox="1"/>
          <p:nvPr/>
        </p:nvSpPr>
        <p:spPr>
          <a:xfrm>
            <a:off x="863600" y="1904999"/>
            <a:ext cx="19050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4800" b="1">
                <a:solidFill>
                  <a:srgbClr val="E0B957"/>
                </a:solidFill>
                <a:latin typeface="Aptos" panose="020B0004020202020204" pitchFamily="34" charset="0"/>
              </a:rPr>
              <a:t>96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1A98DD-F403-B0C9-EADB-43186015760A}"/>
              </a:ext>
            </a:extLst>
          </p:cNvPr>
          <p:cNvSpPr txBox="1"/>
          <p:nvPr/>
        </p:nvSpPr>
        <p:spPr>
          <a:xfrm>
            <a:off x="863600" y="2717799"/>
            <a:ext cx="19050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F3F0E8"/>
                </a:solidFill>
                <a:latin typeface="Aptos" panose="020B0004020202020204" pitchFamily="34" charset="0"/>
              </a:rPr>
              <a:t>independent
base draws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17AFE0-B561-15AC-86E3-BEE9BDC98C18}"/>
              </a:ext>
            </a:extLst>
          </p:cNvPr>
          <p:cNvSpPr txBox="1"/>
          <p:nvPr/>
        </p:nvSpPr>
        <p:spPr>
          <a:xfrm>
            <a:off x="2946400" y="2146299"/>
            <a:ext cx="1270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100" b="1">
                <a:solidFill>
                  <a:srgbClr val="83939D"/>
                </a:solidFill>
                <a:latin typeface="Aptos" panose="020B0004020202020204" pitchFamily="34" charset="0"/>
              </a:rPr>
              <a:t>x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CC2192-2412-B15A-8564-1923400A6C4C}"/>
              </a:ext>
            </a:extLst>
          </p:cNvPr>
          <p:cNvSpPr txBox="1"/>
          <p:nvPr/>
        </p:nvSpPr>
        <p:spPr>
          <a:xfrm>
            <a:off x="4368800" y="1904999"/>
            <a:ext cx="20320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4800" b="1">
                <a:solidFill>
                  <a:srgbClr val="3FC6AC"/>
                </a:solidFill>
                <a:latin typeface="Aptos" panose="020B0004020202020204" pitchFamily="34" charset="0"/>
              </a:rPr>
              <a:t>288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F444C9-A276-A7F5-B673-CFDF205A9A7D}"/>
              </a:ext>
            </a:extLst>
          </p:cNvPr>
          <p:cNvSpPr txBox="1"/>
          <p:nvPr/>
        </p:nvSpPr>
        <p:spPr>
          <a:xfrm>
            <a:off x="4368800" y="2717799"/>
            <a:ext cx="20320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F3F0E8"/>
                </a:solidFill>
                <a:latin typeface="Aptos" panose="020B0004020202020204" pitchFamily="34" charset="0"/>
              </a:rPr>
              <a:t>matched scenario
conditions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9433F2-03D2-96AA-ACEC-806284CE800E}"/>
              </a:ext>
            </a:extLst>
          </p:cNvPr>
          <p:cNvSpPr txBox="1"/>
          <p:nvPr/>
        </p:nvSpPr>
        <p:spPr>
          <a:xfrm>
            <a:off x="6578600" y="2146299"/>
            <a:ext cx="1270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100" b="1">
                <a:solidFill>
                  <a:srgbClr val="83939D"/>
                </a:solidFill>
                <a:latin typeface="Aptos" panose="020B0004020202020204" pitchFamily="34" charset="0"/>
              </a:rPr>
              <a:t>x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D86F75-FC0B-8486-E64A-0AE56084DF37}"/>
              </a:ext>
            </a:extLst>
          </p:cNvPr>
          <p:cNvSpPr txBox="1"/>
          <p:nvPr/>
        </p:nvSpPr>
        <p:spPr>
          <a:xfrm>
            <a:off x="8001000" y="1904999"/>
            <a:ext cx="21590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4800" b="1">
                <a:solidFill>
                  <a:srgbClr val="E0B957"/>
                </a:solidFill>
                <a:latin typeface="Aptos" panose="020B0004020202020204" pitchFamily="34" charset="0"/>
              </a:rPr>
              <a:t>576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7D1258-B8B7-22DF-C09D-1426B2E1FC5A}"/>
              </a:ext>
            </a:extLst>
          </p:cNvPr>
          <p:cNvSpPr txBox="1"/>
          <p:nvPr/>
        </p:nvSpPr>
        <p:spPr>
          <a:xfrm>
            <a:off x="8001000" y="2717799"/>
            <a:ext cx="24130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F3F0E8"/>
                </a:solidFill>
                <a:latin typeface="Aptos" panose="020B0004020202020204" pitchFamily="34" charset="0"/>
              </a:rPr>
              <a:t>controller-scenario
evaluations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60EB01-AE12-8E1C-7C26-B52FA08D00C1}"/>
              </a:ext>
            </a:extLst>
          </p:cNvPr>
          <p:cNvCxnSpPr/>
          <p:nvPr/>
        </p:nvCxnSpPr>
        <p:spPr>
          <a:xfrm>
            <a:off x="889000" y="3873500"/>
            <a:ext cx="104140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F0FC851-C6C4-383E-BE65-D5CF881ACBB3}"/>
              </a:ext>
            </a:extLst>
          </p:cNvPr>
          <p:cNvSpPr txBox="1"/>
          <p:nvPr/>
        </p:nvSpPr>
        <p:spPr>
          <a:xfrm>
            <a:off x="990600" y="4317999"/>
            <a:ext cx="2159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3FC6AC"/>
                </a:solidFill>
                <a:latin typeface="Aptos" panose="020B0004020202020204" pitchFamily="34" charset="0"/>
              </a:rPr>
              <a:t>PPO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41112-903F-86D4-86FF-39DC7762E2A0}"/>
              </a:ext>
            </a:extLst>
          </p:cNvPr>
          <p:cNvSpPr txBox="1"/>
          <p:nvPr/>
        </p:nvSpPr>
        <p:spPr>
          <a:xfrm>
            <a:off x="990600" y="4800599"/>
            <a:ext cx="3556000" cy="698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32-value causal observation
Learned 7-locality joint action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27FEAE-3B78-627E-4694-1E4732B92A51}"/>
              </a:ext>
            </a:extLst>
          </p:cNvPr>
          <p:cNvSpPr txBox="1"/>
          <p:nvPr/>
        </p:nvSpPr>
        <p:spPr>
          <a:xfrm>
            <a:off x="6451600" y="4317999"/>
            <a:ext cx="2921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E0B957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9B2506-C583-4E0F-8E9C-D7349A5FDC14}"/>
              </a:ext>
            </a:extLst>
          </p:cNvPr>
          <p:cNvSpPr txBox="1"/>
          <p:nvPr/>
        </p:nvSpPr>
        <p:spPr>
          <a:xfrm>
            <a:off x="6451600" y="4800599"/>
            <a:ext cx="4191000" cy="698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Three-hour schedule blocks
No demand or fairness observation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4E9FCE-02CE-D873-F478-82066FA0C902}"/>
              </a:ext>
            </a:extLst>
          </p:cNvPr>
          <p:cNvSpPr txBox="1"/>
          <p:nvPr/>
        </p:nvSpPr>
        <p:spPr>
          <a:xfrm>
            <a:off x="3175000" y="5816599"/>
            <a:ext cx="5842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Every stored delta is PPO - Fixed Rotation</a:t>
            </a:r>
          </a:p>
        </p:txBody>
      </p:sp>
    </p:spTree>
    <p:extLst>
      <p:ext uri="{BB962C8B-B14F-4D97-AF65-F5344CB8AC3E}">
        <p14:creationId xmlns:p14="http://schemas.microsoft.com/office/powerpoint/2010/main" val="882380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4BA779-651B-EAF2-A7BE-23DF7853156C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2D997C5-5988-24A7-E9F8-1ACCA2496C55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8B60EC9-9493-0D32-9EAA-1FEE04E1CDEB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9537C2-1E60-51B3-D0D9-A4673795502A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A9DC15-FE54-E615-F7E2-CA6B8C816CB9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GPU-first simulation, PPO inference, and paired bootstrap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A18D4F-CFDE-7458-8675-50B48A6B7AE6}"/>
              </a:ext>
            </a:extLst>
          </p:cNvPr>
          <p:cNvCxnSpPr/>
          <p:nvPr/>
        </p:nvCxnSpPr>
        <p:spPr>
          <a:xfrm>
            <a:off x="2286000" y="2997200"/>
            <a:ext cx="24130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42671-58AC-FCD2-1271-1B9DFA33881F}"/>
              </a:ext>
            </a:extLst>
          </p:cNvPr>
          <p:cNvCxnSpPr/>
          <p:nvPr/>
        </p:nvCxnSpPr>
        <p:spPr>
          <a:xfrm>
            <a:off x="6413500" y="2997200"/>
            <a:ext cx="24130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335FCA-D198-94AC-B3CD-AF9E3017AA18}"/>
              </a:ext>
            </a:extLst>
          </p:cNvPr>
          <p:cNvSpPr/>
          <p:nvPr/>
        </p:nvSpPr>
        <p:spPr>
          <a:xfrm>
            <a:off x="889000" y="2260600"/>
            <a:ext cx="2286000" cy="1473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BFCC-6F37-FBBA-9EA4-A62AD25AD12A}"/>
              </a:ext>
            </a:extLst>
          </p:cNvPr>
          <p:cNvSpPr txBox="1"/>
          <p:nvPr/>
        </p:nvSpPr>
        <p:spPr>
          <a:xfrm>
            <a:off x="1092200" y="2514599"/>
            <a:ext cx="18796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400" b="1">
                <a:solidFill>
                  <a:srgbClr val="F3F0E8"/>
                </a:solidFill>
                <a:latin typeface="Aptos" panose="020B0004020202020204" pitchFamily="34" charset="0"/>
              </a:rPr>
              <a:t>PyTorch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33590F-4EBD-1E05-C28B-7D00793BE2F0}"/>
              </a:ext>
            </a:extLst>
          </p:cNvPr>
          <p:cNvSpPr txBox="1"/>
          <p:nvPr/>
        </p:nvSpPr>
        <p:spPr>
          <a:xfrm>
            <a:off x="1092200" y="2946399"/>
            <a:ext cx="18796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scenarios
simulation
PPO inference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139C811-368E-8FD4-27B3-0C79AE7484BC}"/>
              </a:ext>
            </a:extLst>
          </p:cNvPr>
          <p:cNvSpPr/>
          <p:nvPr/>
        </p:nvSpPr>
        <p:spPr>
          <a:xfrm>
            <a:off x="4953000" y="1993900"/>
            <a:ext cx="1778000" cy="20066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6AA11-F130-1AB7-C118-15818887DB5B}"/>
              </a:ext>
            </a:extLst>
          </p:cNvPr>
          <p:cNvSpPr txBox="1"/>
          <p:nvPr/>
        </p:nvSpPr>
        <p:spPr>
          <a:xfrm>
            <a:off x="5105400" y="2527299"/>
            <a:ext cx="1473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100" b="1">
                <a:solidFill>
                  <a:srgbClr val="071923"/>
                </a:solidFill>
                <a:latin typeface="Aptos" panose="020B0004020202020204" pitchFamily="34" charset="0"/>
              </a:rPr>
              <a:t>cuda:0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623D7E-707C-D1D2-1B4E-9AD23C6EF7A1}"/>
              </a:ext>
            </a:extLst>
          </p:cNvPr>
          <p:cNvSpPr txBox="1"/>
          <p:nvPr/>
        </p:nvSpPr>
        <p:spPr>
          <a:xfrm>
            <a:off x="5054600" y="3174999"/>
            <a:ext cx="15748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071923"/>
                </a:solidFill>
                <a:latin typeface="Aptos" panose="020B0004020202020204" pitchFamily="34" charset="0"/>
              </a:rPr>
              <a:t>no CPU fallback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7A21BDF-D574-4535-A08B-8A96E080C3B1}"/>
              </a:ext>
            </a:extLst>
          </p:cNvPr>
          <p:cNvSpPr/>
          <p:nvPr/>
        </p:nvSpPr>
        <p:spPr>
          <a:xfrm>
            <a:off x="9080500" y="2260600"/>
            <a:ext cx="2286000" cy="1473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67E87D-385F-3B5C-388C-6378624EE4D4}"/>
              </a:ext>
            </a:extLst>
          </p:cNvPr>
          <p:cNvSpPr txBox="1"/>
          <p:nvPr/>
        </p:nvSpPr>
        <p:spPr>
          <a:xfrm>
            <a:off x="9283700" y="2514599"/>
            <a:ext cx="18796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400" b="1">
                <a:solidFill>
                  <a:srgbClr val="F3F0E8"/>
                </a:solidFill>
                <a:latin typeface="Aptos" panose="020B0004020202020204" pitchFamily="34" charset="0"/>
              </a:rPr>
              <a:t>CuPy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514C09-063B-B4B1-2908-FDDD1522BBB3}"/>
              </a:ext>
            </a:extLst>
          </p:cNvPr>
          <p:cNvSpPr txBox="1"/>
          <p:nvPr/>
        </p:nvSpPr>
        <p:spPr>
          <a:xfrm>
            <a:off x="9283700" y="2946399"/>
            <a:ext cx="18796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cluster bootstrap
CUDA sort
linear percentiles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6DFEA5-B92F-3CA6-DA42-6FBED2B0B965}"/>
              </a:ext>
            </a:extLst>
          </p:cNvPr>
          <p:cNvSpPr txBox="1"/>
          <p:nvPr/>
        </p:nvSpPr>
        <p:spPr>
          <a:xfrm>
            <a:off x="889000" y="44449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13232E"/>
                </a:solidFill>
                <a:latin typeface="Aptos" panose="020B0004020202020204" pitchFamily="34" charset="0"/>
              </a:rPr>
              <a:t>Validated presentation runtime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AFEE0B8-A775-101F-55DC-4E19246BC5E6}"/>
              </a:ext>
            </a:extLst>
          </p:cNvPr>
          <p:cNvCxnSpPr/>
          <p:nvPr/>
        </p:nvCxnSpPr>
        <p:spPr>
          <a:xfrm>
            <a:off x="889000" y="51054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9A34DA4-DD80-5599-E54F-F312C442DD3D}"/>
              </a:ext>
            </a:extLst>
          </p:cNvPr>
          <p:cNvSpPr txBox="1"/>
          <p:nvPr/>
        </p:nvSpPr>
        <p:spPr>
          <a:xfrm>
            <a:off x="1244600" y="4952999"/>
            <a:ext cx="10058400" cy="368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RTX 5060 Laptop GPU  |  PyTorch 2.8.0+cu128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6130BEF-B2AD-BA00-C3D7-DD50127FAA8D}"/>
              </a:ext>
            </a:extLst>
          </p:cNvPr>
          <p:cNvCxnSpPr/>
          <p:nvPr/>
        </p:nvCxnSpPr>
        <p:spPr>
          <a:xfrm>
            <a:off x="889000" y="55245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8A49489-2965-549D-ECE3-8F3E3680F7AA}"/>
              </a:ext>
            </a:extLst>
          </p:cNvPr>
          <p:cNvSpPr txBox="1"/>
          <p:nvPr/>
        </p:nvSpPr>
        <p:spPr>
          <a:xfrm>
            <a:off x="1244600" y="5372099"/>
            <a:ext cx="10058400" cy="368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CUDA 12.8  |  CuPy 14.1.1  |  DLPack coherence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DBF6E94-05DD-31D9-0953-1714D71DA797}"/>
              </a:ext>
            </a:extLst>
          </p:cNvPr>
          <p:cNvCxnSpPr/>
          <p:nvPr/>
        </p:nvCxnSpPr>
        <p:spPr>
          <a:xfrm>
            <a:off x="889000" y="59436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AC3B780-34FC-FB60-C1F2-7278C67ECA4D}"/>
              </a:ext>
            </a:extLst>
          </p:cNvPr>
          <p:cNvSpPr txBox="1"/>
          <p:nvPr/>
        </p:nvSpPr>
        <p:spPr>
          <a:xfrm>
            <a:off x="1244600" y="5791199"/>
            <a:ext cx="10058400" cy="368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Startup blocks on GPU, model, evidence, or provenance failure</a:t>
            </a:r>
          </a:p>
        </p:txBody>
      </p:sp>
    </p:spTree>
    <p:extLst>
      <p:ext uri="{BB962C8B-B14F-4D97-AF65-F5344CB8AC3E}">
        <p14:creationId xmlns:p14="http://schemas.microsoft.com/office/powerpoint/2010/main" val="3426412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53F77D-2538-B1D8-E7F7-4F553D1D72C5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FFA0E6B-343E-5F47-79A5-FBE53B6CEFD7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3F8E0AE-6343-6D45-BFB9-772FC35AE032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9D684-6133-C35D-B9FE-335F4B5E2D35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AB00C8-5C0B-83A0-67DC-02B6ABF1FF6B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The desktop replays one audited GPU scenario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1EA8167-F5B6-C1B1-FE74-CB0653F0759D}"/>
              </a:ext>
            </a:extLst>
          </p:cNvPr>
          <p:cNvSpPr/>
          <p:nvPr/>
        </p:nvSpPr>
        <p:spPr>
          <a:xfrm>
            <a:off x="800100" y="1562100"/>
            <a:ext cx="10591800" cy="4508500"/>
          </a:xfrm>
          <a:prstGeom prst="roundRect">
            <a:avLst/>
          </a:prstGeom>
          <a:solidFill>
            <a:srgbClr val="102A3B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Live Scenario page showing a shared GPU run, interactive administrative map, and locality detail">
            <a:extLst>
              <a:ext uri="{FF2B5EF4-FFF2-40B4-BE49-F238E27FC236}">
                <a16:creationId xmlns:a16="http://schemas.microsoft.com/office/drawing/2014/main" id="{7D9AC1A2-D966-4363-8BC8-A0A13F8F3A9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" y="1651000"/>
            <a:ext cx="10414000" cy="4394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9FC05E0-584D-4344-612B-C35C4BBA30D6}"/>
              </a:ext>
            </a:extLst>
          </p:cNvPr>
          <p:cNvSpPr txBox="1"/>
          <p:nvPr/>
        </p:nvSpPr>
        <p:spPr>
          <a:xfrm>
            <a:off x="990600" y="6095999"/>
            <a:ext cx="102108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Switch controller  |  scrub 24 hours  |  inspect locality  |  forecast is DISPLAY ONLY</a:t>
            </a:r>
          </a:p>
        </p:txBody>
      </p:sp>
    </p:spTree>
    <p:extLst>
      <p:ext uri="{BB962C8B-B14F-4D97-AF65-F5344CB8AC3E}">
        <p14:creationId xmlns:p14="http://schemas.microsoft.com/office/powerpoint/2010/main" val="4024831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853572-7720-494E-761B-F757BD6B629E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02E0A25-6117-2E1D-BE9E-12D5681F1D93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F2060CA-80B7-2018-E1D0-482291DAC335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D9790-E74E-97C3-2FA9-DBAF52A51460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883C82-5041-08B8-65EE-B8660F007E1B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PPO protects nearly all modeled critical demand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9A47D3-E49C-36AA-A949-E9E24F61F225}"/>
              </a:ext>
            </a:extLst>
          </p:cNvPr>
          <p:cNvSpPr txBox="1"/>
          <p:nvPr/>
        </p:nvSpPr>
        <p:spPr>
          <a:xfrm>
            <a:off x="863600" y="1841499"/>
            <a:ext cx="4191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400" b="1">
                <a:solidFill>
                  <a:srgbClr val="3FC6AC"/>
                </a:solidFill>
                <a:latin typeface="Aptos" panose="020B0004020202020204" pitchFamily="34" charset="0"/>
              </a:rPr>
              <a:t>99.72%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A5764A-A386-856C-CF9C-D30939EFCC96}"/>
              </a:ext>
            </a:extLst>
          </p:cNvPr>
          <p:cNvSpPr txBox="1"/>
          <p:nvPr/>
        </p:nvSpPr>
        <p:spPr>
          <a:xfrm>
            <a:off x="889000" y="2870199"/>
            <a:ext cx="3937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13232E"/>
                </a:solidFill>
                <a:latin typeface="Aptos" panose="020B0004020202020204" pitchFamily="34" charset="0"/>
              </a:rPr>
              <a:t>PPO critical-service ratio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0B9E32-B2D8-B022-FA9C-6AFAD7457B69}"/>
              </a:ext>
            </a:extLst>
          </p:cNvPr>
          <p:cNvSpPr txBox="1"/>
          <p:nvPr/>
        </p:nvSpPr>
        <p:spPr>
          <a:xfrm>
            <a:off x="6858000" y="1841499"/>
            <a:ext cx="4191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400" b="1">
                <a:solidFill>
                  <a:srgbClr val="60727D"/>
                </a:solidFill>
                <a:latin typeface="Aptos" panose="020B0004020202020204" pitchFamily="34" charset="0"/>
              </a:rPr>
              <a:t>42.63%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561A36-4AC6-B00A-D55B-1F489B3B2C4D}"/>
              </a:ext>
            </a:extLst>
          </p:cNvPr>
          <p:cNvSpPr txBox="1"/>
          <p:nvPr/>
        </p:nvSpPr>
        <p:spPr>
          <a:xfrm>
            <a:off x="6883400" y="2870199"/>
            <a:ext cx="3937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13232E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014784-D55A-2A1D-95FA-B1A75E697F90}"/>
              </a:ext>
            </a:extLst>
          </p:cNvPr>
          <p:cNvSpPr txBox="1"/>
          <p:nvPr/>
        </p:nvSpPr>
        <p:spPr>
          <a:xfrm>
            <a:off x="889000" y="3632199"/>
            <a:ext cx="2413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Critical service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39858E-101B-C302-AE8C-9ADB88C309CC}"/>
              </a:ext>
            </a:extLst>
          </p:cNvPr>
          <p:cNvSpPr/>
          <p:nvPr/>
        </p:nvSpPr>
        <p:spPr>
          <a:xfrm>
            <a:off x="3429000" y="3657600"/>
            <a:ext cx="6350000" cy="152400"/>
          </a:xfrm>
          <a:prstGeom prst="rect">
            <a:avLst/>
          </a:prstGeom>
          <a:solidFill>
            <a:srgbClr val="DDE5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982DAA-EEE9-782E-9A75-241575F69113}"/>
              </a:ext>
            </a:extLst>
          </p:cNvPr>
          <p:cNvSpPr/>
          <p:nvPr/>
        </p:nvSpPr>
        <p:spPr>
          <a:xfrm>
            <a:off x="3429000" y="3657600"/>
            <a:ext cx="2706990" cy="152400"/>
          </a:xfrm>
          <a:prstGeom prst="rect">
            <a:avLst/>
          </a:prstGeom>
          <a:solidFill>
            <a:srgbClr val="71838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CFD3F14-F7D2-DE69-8D69-327C81518B3C}"/>
              </a:ext>
            </a:extLst>
          </p:cNvPr>
          <p:cNvSpPr/>
          <p:nvPr/>
        </p:nvSpPr>
        <p:spPr>
          <a:xfrm>
            <a:off x="3429000" y="3924300"/>
            <a:ext cx="6350000" cy="152400"/>
          </a:xfrm>
          <a:prstGeom prst="rect">
            <a:avLst/>
          </a:prstGeom>
          <a:solidFill>
            <a:srgbClr val="DDE5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DA0876-5F49-8363-495D-B54A5C63AE5D}"/>
              </a:ext>
            </a:extLst>
          </p:cNvPr>
          <p:cNvSpPr/>
          <p:nvPr/>
        </p:nvSpPr>
        <p:spPr>
          <a:xfrm>
            <a:off x="3429000" y="3924300"/>
            <a:ext cx="6331990" cy="152400"/>
          </a:xfrm>
          <a:prstGeom prst="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C7EDF7-DC45-EF9E-4961-006D02ED9BDC}"/>
              </a:ext>
            </a:extLst>
          </p:cNvPr>
          <p:cNvSpPr txBox="1"/>
          <p:nvPr/>
        </p:nvSpPr>
        <p:spPr>
          <a:xfrm>
            <a:off x="9906000" y="3581399"/>
            <a:ext cx="152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42.63%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949B4F-98C7-780C-EEE1-FDD4F7F821C0}"/>
              </a:ext>
            </a:extLst>
          </p:cNvPr>
          <p:cNvSpPr txBox="1"/>
          <p:nvPr/>
        </p:nvSpPr>
        <p:spPr>
          <a:xfrm>
            <a:off x="9906000" y="3848099"/>
            <a:ext cx="152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99.72%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CA12E81-93DB-0525-8B95-2E5920BE3584}"/>
              </a:ext>
            </a:extLst>
          </p:cNvPr>
          <p:cNvCxnSpPr/>
          <p:nvPr/>
        </p:nvCxnSpPr>
        <p:spPr>
          <a:xfrm>
            <a:off x="889000" y="4800600"/>
            <a:ext cx="10414000" cy="0"/>
          </a:xfrm>
          <a:prstGeom prst="line">
            <a:avLst/>
          </a:prstGeom>
          <a:ln w="1270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536E1F-29F4-772E-8C83-F229B0241A90}"/>
              </a:ext>
            </a:extLst>
          </p:cNvPr>
          <p:cNvSpPr txBox="1"/>
          <p:nvPr/>
        </p:nvSpPr>
        <p:spPr>
          <a:xfrm>
            <a:off x="889000" y="5143499"/>
            <a:ext cx="5461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0B957"/>
                </a:solidFill>
                <a:latin typeface="Aptos" panose="020B0004020202020204" pitchFamily="34" charset="0"/>
              </a:rPr>
              <a:t>+57.09 pp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F6E5DE-106B-644E-7C42-079D96212A8C}"/>
              </a:ext>
            </a:extLst>
          </p:cNvPr>
          <p:cNvSpPr txBox="1"/>
          <p:nvPr/>
        </p:nvSpPr>
        <p:spPr>
          <a:xfrm>
            <a:off x="7112000" y="5079999"/>
            <a:ext cx="3810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13232E"/>
                </a:solidFill>
                <a:latin typeface="Aptos" panose="020B0004020202020204" pitchFamily="34" charset="0"/>
              </a:rPr>
              <a:t>Critical-outage locality-hours
102.07  -&gt;  18.67</a:t>
            </a:r>
          </a:p>
        </p:txBody>
      </p:sp>
    </p:spTree>
    <p:extLst>
      <p:ext uri="{BB962C8B-B14F-4D97-AF65-F5344CB8AC3E}">
        <p14:creationId xmlns:p14="http://schemas.microsoft.com/office/powerpoint/2010/main" val="3455812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53514C-FB02-0970-35F9-ED2CEAFF9FA9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950B542-62C7-ACED-8840-6086D8041B65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2F8A889-A2E5-3D4A-5122-43E91D0C2842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2F9187-5F52-27EB-442E-857667CB6062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5504C4-86E3-AAA9-AF6D-F682658300B3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PPO serves 2,008 MWh more and uses supply more effectively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5CE754-42C9-DBC9-995F-D213EAB864D8}"/>
              </a:ext>
            </a:extLst>
          </p:cNvPr>
          <p:cNvSpPr txBox="1"/>
          <p:nvPr/>
        </p:nvSpPr>
        <p:spPr>
          <a:xfrm>
            <a:off x="889000" y="1955799"/>
            <a:ext cx="2413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F3F0E8"/>
                </a:solidFill>
                <a:latin typeface="Aptos" panose="020B0004020202020204" pitchFamily="34" charset="0"/>
              </a:rPr>
              <a:t>Served energy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E54C82-A027-9496-81CF-53A8359CD928}"/>
              </a:ext>
            </a:extLst>
          </p:cNvPr>
          <p:cNvSpPr/>
          <p:nvPr/>
        </p:nvSpPr>
        <p:spPr>
          <a:xfrm>
            <a:off x="3429000" y="1981200"/>
            <a:ext cx="6350000" cy="152400"/>
          </a:xfrm>
          <a:prstGeom prst="rect">
            <a:avLst/>
          </a:prstGeom>
          <a:solidFill>
            <a:srgbClr val="1A39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89CF46-9CBC-0DCA-8697-6062AD18E218}"/>
              </a:ext>
            </a:extLst>
          </p:cNvPr>
          <p:cNvSpPr/>
          <p:nvPr/>
        </p:nvSpPr>
        <p:spPr>
          <a:xfrm>
            <a:off x="3429000" y="1981200"/>
            <a:ext cx="4307238" cy="152400"/>
          </a:xfrm>
          <a:prstGeom prst="rect">
            <a:avLst/>
          </a:prstGeom>
          <a:solidFill>
            <a:srgbClr val="71838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9C429C-AB62-AA88-E1FB-99191D1A0117}"/>
              </a:ext>
            </a:extLst>
          </p:cNvPr>
          <p:cNvSpPr/>
          <p:nvPr/>
        </p:nvSpPr>
        <p:spPr>
          <a:xfrm>
            <a:off x="3429000" y="2247900"/>
            <a:ext cx="6350000" cy="152400"/>
          </a:xfrm>
          <a:prstGeom prst="rect">
            <a:avLst/>
          </a:prstGeom>
          <a:solidFill>
            <a:srgbClr val="1A39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80E67E-FBEC-89FE-7C35-EAE8D6C4D903}"/>
              </a:ext>
            </a:extLst>
          </p:cNvPr>
          <p:cNvSpPr/>
          <p:nvPr/>
        </p:nvSpPr>
        <p:spPr>
          <a:xfrm>
            <a:off x="3429000" y="2247900"/>
            <a:ext cx="6207866" cy="152400"/>
          </a:xfrm>
          <a:prstGeom prst="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F35EC-0703-78DE-48B5-EA5F89B136E4}"/>
              </a:ext>
            </a:extLst>
          </p:cNvPr>
          <p:cNvSpPr txBox="1"/>
          <p:nvPr/>
        </p:nvSpPr>
        <p:spPr>
          <a:xfrm>
            <a:off x="9906000" y="1904999"/>
            <a:ext cx="152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4,552 MWh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7DE906-7948-3570-2CCE-484E4BB92252}"/>
              </a:ext>
            </a:extLst>
          </p:cNvPr>
          <p:cNvSpPr txBox="1"/>
          <p:nvPr/>
        </p:nvSpPr>
        <p:spPr>
          <a:xfrm>
            <a:off x="9906000" y="2171699"/>
            <a:ext cx="152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6,560 MWh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47D4AD-7C49-6D72-38F1-71EF616CDE87}"/>
              </a:ext>
            </a:extLst>
          </p:cNvPr>
          <p:cNvSpPr txBox="1"/>
          <p:nvPr/>
        </p:nvSpPr>
        <p:spPr>
          <a:xfrm>
            <a:off x="889000" y="3086099"/>
            <a:ext cx="2413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F3F0E8"/>
                </a:solidFill>
                <a:latin typeface="Aptos" panose="020B0004020202020204" pitchFamily="34" charset="0"/>
              </a:rPr>
              <a:t>Utilization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7F0B82-4D4B-2968-77EA-F908EDA7A9FF}"/>
              </a:ext>
            </a:extLst>
          </p:cNvPr>
          <p:cNvSpPr/>
          <p:nvPr/>
        </p:nvSpPr>
        <p:spPr>
          <a:xfrm>
            <a:off x="3429000" y="3111500"/>
            <a:ext cx="6350000" cy="152400"/>
          </a:xfrm>
          <a:prstGeom prst="rect">
            <a:avLst/>
          </a:prstGeom>
          <a:solidFill>
            <a:srgbClr val="1A39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D856B9-D0BF-2030-4337-A5383B175E3A}"/>
              </a:ext>
            </a:extLst>
          </p:cNvPr>
          <p:cNvSpPr/>
          <p:nvPr/>
        </p:nvSpPr>
        <p:spPr>
          <a:xfrm>
            <a:off x="3429000" y="3111500"/>
            <a:ext cx="4522687" cy="152400"/>
          </a:xfrm>
          <a:prstGeom prst="rect">
            <a:avLst/>
          </a:prstGeom>
          <a:solidFill>
            <a:srgbClr val="71838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C2E57B-85F2-CFF0-8247-C67D694CDEF8}"/>
              </a:ext>
            </a:extLst>
          </p:cNvPr>
          <p:cNvSpPr/>
          <p:nvPr/>
        </p:nvSpPr>
        <p:spPr>
          <a:xfrm>
            <a:off x="3429000" y="3378200"/>
            <a:ext cx="6350000" cy="152400"/>
          </a:xfrm>
          <a:prstGeom prst="rect">
            <a:avLst/>
          </a:prstGeom>
          <a:solidFill>
            <a:srgbClr val="1A39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0F1554-6FD6-B7E1-35CE-42D2B0BE711E}"/>
              </a:ext>
            </a:extLst>
          </p:cNvPr>
          <p:cNvSpPr/>
          <p:nvPr/>
        </p:nvSpPr>
        <p:spPr>
          <a:xfrm>
            <a:off x="3429000" y="3378200"/>
            <a:ext cx="6200911" cy="152400"/>
          </a:xfrm>
          <a:prstGeom prst="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27D62-F43D-8A7A-0A4E-C2EEDBC369DD}"/>
              </a:ext>
            </a:extLst>
          </p:cNvPr>
          <p:cNvSpPr txBox="1"/>
          <p:nvPr/>
        </p:nvSpPr>
        <p:spPr>
          <a:xfrm>
            <a:off x="9906000" y="3035299"/>
            <a:ext cx="152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71.22%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0EF05A-D363-A2B7-E3D3-4F976BBAB455}"/>
              </a:ext>
            </a:extLst>
          </p:cNvPr>
          <p:cNvSpPr txBox="1"/>
          <p:nvPr/>
        </p:nvSpPr>
        <p:spPr>
          <a:xfrm>
            <a:off x="9906000" y="3301999"/>
            <a:ext cx="152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97.65%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9A8AB0-60E8-C3D8-2E45-E6CD734E215A}"/>
              </a:ext>
            </a:extLst>
          </p:cNvPr>
          <p:cNvSpPr txBox="1"/>
          <p:nvPr/>
        </p:nvSpPr>
        <p:spPr>
          <a:xfrm>
            <a:off x="889000" y="4216399"/>
            <a:ext cx="2413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F3F0E8"/>
                </a:solidFill>
                <a:latin typeface="Aptos" panose="020B0004020202020204" pitchFamily="34" charset="0"/>
              </a:rPr>
              <a:t>Curtailed energy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5DE172-A2A1-BB0D-43CB-050ACAF73287}"/>
              </a:ext>
            </a:extLst>
          </p:cNvPr>
          <p:cNvSpPr/>
          <p:nvPr/>
        </p:nvSpPr>
        <p:spPr>
          <a:xfrm>
            <a:off x="3429000" y="4241800"/>
            <a:ext cx="6350000" cy="152400"/>
          </a:xfrm>
          <a:prstGeom prst="rect">
            <a:avLst/>
          </a:prstGeom>
          <a:solidFill>
            <a:srgbClr val="1A39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6E3B54-056C-BF19-B238-00B794A260BB}"/>
              </a:ext>
            </a:extLst>
          </p:cNvPr>
          <p:cNvSpPr/>
          <p:nvPr/>
        </p:nvSpPr>
        <p:spPr>
          <a:xfrm>
            <a:off x="3429000" y="4241800"/>
            <a:ext cx="6350000" cy="152400"/>
          </a:xfrm>
          <a:prstGeom prst="rect">
            <a:avLst/>
          </a:prstGeom>
          <a:solidFill>
            <a:srgbClr val="71838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E96AC2-EE18-C592-5D15-0EC9CC212A43}"/>
              </a:ext>
            </a:extLst>
          </p:cNvPr>
          <p:cNvSpPr/>
          <p:nvPr/>
        </p:nvSpPr>
        <p:spPr>
          <a:xfrm>
            <a:off x="3429000" y="4508500"/>
            <a:ext cx="6350000" cy="152400"/>
          </a:xfrm>
          <a:prstGeom prst="rect">
            <a:avLst/>
          </a:prstGeom>
          <a:solidFill>
            <a:srgbClr val="1A39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580767A-D276-C988-223F-A23C9D343920}"/>
              </a:ext>
            </a:extLst>
          </p:cNvPr>
          <p:cNvSpPr/>
          <p:nvPr/>
        </p:nvSpPr>
        <p:spPr>
          <a:xfrm>
            <a:off x="3429000" y="4508500"/>
            <a:ext cx="4273617" cy="152400"/>
          </a:xfrm>
          <a:prstGeom prst="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522251F-7725-CA74-701A-84447C77820D}"/>
              </a:ext>
            </a:extLst>
          </p:cNvPr>
          <p:cNvSpPr txBox="1"/>
          <p:nvPr/>
        </p:nvSpPr>
        <p:spPr>
          <a:xfrm>
            <a:off x="9906000" y="4165599"/>
            <a:ext cx="152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Fixed 6,142 MWh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A64C30-8557-8F50-FBA4-8723C0811EDC}"/>
              </a:ext>
            </a:extLst>
          </p:cNvPr>
          <p:cNvSpPr txBox="1"/>
          <p:nvPr/>
        </p:nvSpPr>
        <p:spPr>
          <a:xfrm>
            <a:off x="9906000" y="4432299"/>
            <a:ext cx="152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PPO 4,134 MWh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C3AD8A-F542-A5DC-232C-DC9E591BA494}"/>
              </a:ext>
            </a:extLst>
          </p:cNvPr>
          <p:cNvSpPr txBox="1"/>
          <p:nvPr/>
        </p:nvSpPr>
        <p:spPr>
          <a:xfrm>
            <a:off x="889000" y="5384799"/>
            <a:ext cx="3429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3FC6AC"/>
                </a:solidFill>
                <a:latin typeface="Aptos" panose="020B0004020202020204" pitchFamily="34" charset="0"/>
              </a:rPr>
              <a:t>+2,008 MWh served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D2CA97-DFCD-617F-F745-526D61AD7889}"/>
              </a:ext>
            </a:extLst>
          </p:cNvPr>
          <p:cNvSpPr txBox="1"/>
          <p:nvPr/>
        </p:nvSpPr>
        <p:spPr>
          <a:xfrm>
            <a:off x="4533900" y="5384799"/>
            <a:ext cx="3429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E0B957"/>
                </a:solidFill>
                <a:latin typeface="Aptos" panose="020B0004020202020204" pitchFamily="34" charset="0"/>
              </a:rPr>
              <a:t>+26.43 pp utilization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6E3183-4435-4F00-1C0D-A8CD621973CC}"/>
              </a:ext>
            </a:extLst>
          </p:cNvPr>
          <p:cNvSpPr txBox="1"/>
          <p:nvPr/>
        </p:nvSpPr>
        <p:spPr>
          <a:xfrm>
            <a:off x="8229600" y="5384799"/>
            <a:ext cx="3175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3FC6AC"/>
                </a:solidFill>
                <a:latin typeface="Aptos" panose="020B0004020202020204" pitchFamily="34" charset="0"/>
              </a:rPr>
              <a:t>-2,008 MWh curtailed</a:t>
            </a:r>
          </a:p>
        </p:txBody>
      </p:sp>
    </p:spTree>
    <p:extLst>
      <p:ext uri="{BB962C8B-B14F-4D97-AF65-F5344CB8AC3E}">
        <p14:creationId xmlns:p14="http://schemas.microsoft.com/office/powerpoint/2010/main" val="281743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667713-0B6F-404F-C73D-1BB40F15DA3B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FBB37E5-14C1-5F8A-4F61-FB16C2D52833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DDC93F2-9614-0E2F-F26E-20374ECF548D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26E2A-B3AC-6E0E-42E0-E50894C3EB2C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8B514A-FA2E-EC03-F88C-2093E2D226EF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All seven paired intervals favor PPO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6B9589-869F-E80C-D0FD-F700C61236E6}"/>
              </a:ext>
            </a:extLst>
          </p:cNvPr>
          <p:cNvSpPr txBox="1"/>
          <p:nvPr/>
        </p:nvSpPr>
        <p:spPr>
          <a:xfrm>
            <a:off x="812800" y="1676399"/>
            <a:ext cx="292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60727D"/>
                </a:solidFill>
                <a:latin typeface="Aptos" panose="020B0004020202020204" pitchFamily="34" charset="0"/>
              </a:rPr>
              <a:t>Outcome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79FB3C-AE52-F11B-A937-12938F606315}"/>
              </a:ext>
            </a:extLst>
          </p:cNvPr>
          <p:cNvSpPr txBox="1"/>
          <p:nvPr/>
        </p:nvSpPr>
        <p:spPr>
          <a:xfrm>
            <a:off x="4216400" y="16763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60727D"/>
                </a:solidFill>
                <a:latin typeface="Aptos" panose="020B0004020202020204" pitchFamily="34" charset="0"/>
              </a:rPr>
              <a:t>PPO - Fixed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05B919-B17B-616E-5567-A31ADF52F85A}"/>
              </a:ext>
            </a:extLst>
          </p:cNvPr>
          <p:cNvSpPr txBox="1"/>
          <p:nvPr/>
        </p:nvSpPr>
        <p:spPr>
          <a:xfrm>
            <a:off x="6858000" y="1676399"/>
            <a:ext cx="4445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60727D"/>
                </a:solidFill>
                <a:latin typeface="Aptos" panose="020B0004020202020204" pitchFamily="34" charset="0"/>
              </a:rPr>
              <a:t>Cluster-bootstrap 95% interval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3DFE7C-9CFC-D556-7098-474CEE381B1B}"/>
              </a:ext>
            </a:extLst>
          </p:cNvPr>
          <p:cNvSpPr/>
          <p:nvPr/>
        </p:nvSpPr>
        <p:spPr>
          <a:xfrm>
            <a:off x="685800" y="2095500"/>
            <a:ext cx="10795000" cy="4826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44DBEA-A75B-59CA-691E-1A2A776A364F}"/>
              </a:ext>
            </a:extLst>
          </p:cNvPr>
          <p:cNvSpPr txBox="1"/>
          <p:nvPr/>
        </p:nvSpPr>
        <p:spPr>
          <a:xfrm>
            <a:off x="812800" y="21716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Episode reward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416C25-17C0-5E57-5666-2FA6FAA26775}"/>
              </a:ext>
            </a:extLst>
          </p:cNvPr>
          <p:cNvSpPr txBox="1"/>
          <p:nvPr/>
        </p:nvSpPr>
        <p:spPr>
          <a:xfrm>
            <a:off x="4216400" y="2171699"/>
            <a:ext cx="228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+9.54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D40CC8-588B-3BA7-B56E-C83EDAECA5E5}"/>
              </a:ext>
            </a:extLst>
          </p:cNvPr>
          <p:cNvSpPr txBox="1"/>
          <p:nvPr/>
        </p:nvSpPr>
        <p:spPr>
          <a:xfrm>
            <a:off x="6858000" y="2171699"/>
            <a:ext cx="419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[9.54, 9.55]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AF4A74-6D58-E9E6-289C-82BDE8E36077}"/>
              </a:ext>
            </a:extLst>
          </p:cNvPr>
          <p:cNvSpPr txBox="1"/>
          <p:nvPr/>
        </p:nvSpPr>
        <p:spPr>
          <a:xfrm>
            <a:off x="812800" y="27177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Critical service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C4F3E4-31D3-60E1-5F26-DAD27DE90267}"/>
              </a:ext>
            </a:extLst>
          </p:cNvPr>
          <p:cNvSpPr txBox="1"/>
          <p:nvPr/>
        </p:nvSpPr>
        <p:spPr>
          <a:xfrm>
            <a:off x="4216400" y="2717799"/>
            <a:ext cx="228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+57.09 pp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CF8649-49F2-2B8A-F43A-72DB8F091DA7}"/>
              </a:ext>
            </a:extLst>
          </p:cNvPr>
          <p:cNvSpPr txBox="1"/>
          <p:nvPr/>
        </p:nvSpPr>
        <p:spPr>
          <a:xfrm>
            <a:off x="6858000" y="2717799"/>
            <a:ext cx="419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[57.06, 57.11] pp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2DB557-2AA1-5EED-33B2-F9028167C5B1}"/>
              </a:ext>
            </a:extLst>
          </p:cNvPr>
          <p:cNvSpPr/>
          <p:nvPr/>
        </p:nvSpPr>
        <p:spPr>
          <a:xfrm>
            <a:off x="685800" y="3187700"/>
            <a:ext cx="10795000" cy="4826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9C9083-9735-60F1-D89B-688BE4C38A6D}"/>
              </a:ext>
            </a:extLst>
          </p:cNvPr>
          <p:cNvSpPr txBox="1"/>
          <p:nvPr/>
        </p:nvSpPr>
        <p:spPr>
          <a:xfrm>
            <a:off x="812800" y="32638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Utilization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E70A0F-3589-F721-A231-6D4273D1A102}"/>
              </a:ext>
            </a:extLst>
          </p:cNvPr>
          <p:cNvSpPr txBox="1"/>
          <p:nvPr/>
        </p:nvSpPr>
        <p:spPr>
          <a:xfrm>
            <a:off x="4216400" y="3263899"/>
            <a:ext cx="228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+26.43 pp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77096A-5CB8-542C-5AA8-20B32FCA68B7}"/>
              </a:ext>
            </a:extLst>
          </p:cNvPr>
          <p:cNvSpPr txBox="1"/>
          <p:nvPr/>
        </p:nvSpPr>
        <p:spPr>
          <a:xfrm>
            <a:off x="6858000" y="3263899"/>
            <a:ext cx="419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[26.32, 26.53] pp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EF94CE-B439-60D9-A0D2-B068B83D5782}"/>
              </a:ext>
            </a:extLst>
          </p:cNvPr>
          <p:cNvSpPr txBox="1"/>
          <p:nvPr/>
        </p:nvSpPr>
        <p:spPr>
          <a:xfrm>
            <a:off x="812800" y="38099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Jain fairness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BC23B7-E43D-1071-D01A-925A465F7DCE}"/>
              </a:ext>
            </a:extLst>
          </p:cNvPr>
          <p:cNvSpPr txBox="1"/>
          <p:nvPr/>
        </p:nvSpPr>
        <p:spPr>
          <a:xfrm>
            <a:off x="4216400" y="3809999"/>
            <a:ext cx="228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+9.16 pp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E2223-22DF-4459-E648-8F38C897CB4B}"/>
              </a:ext>
            </a:extLst>
          </p:cNvPr>
          <p:cNvSpPr txBox="1"/>
          <p:nvPr/>
        </p:nvSpPr>
        <p:spPr>
          <a:xfrm>
            <a:off x="6858000" y="3809999"/>
            <a:ext cx="419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[9.09, 9.23] pp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1F7D770-1738-4E9D-3E6E-248AC9DECD77}"/>
              </a:ext>
            </a:extLst>
          </p:cNvPr>
          <p:cNvSpPr/>
          <p:nvPr/>
        </p:nvSpPr>
        <p:spPr>
          <a:xfrm>
            <a:off x="685800" y="4279900"/>
            <a:ext cx="10795000" cy="4826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A0263D-B636-604E-7489-731EA7F57CB7}"/>
              </a:ext>
            </a:extLst>
          </p:cNvPr>
          <p:cNvSpPr txBox="1"/>
          <p:nvPr/>
        </p:nvSpPr>
        <p:spPr>
          <a:xfrm>
            <a:off x="812800" y="43560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Served energy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BF488B-C504-082F-646B-D9B041192D16}"/>
              </a:ext>
            </a:extLst>
          </p:cNvPr>
          <p:cNvSpPr txBox="1"/>
          <p:nvPr/>
        </p:nvSpPr>
        <p:spPr>
          <a:xfrm>
            <a:off x="4216400" y="4356099"/>
            <a:ext cx="228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+2,008 MWh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BD7CF2-FC30-E116-EDE8-A17EE3017E26}"/>
              </a:ext>
            </a:extLst>
          </p:cNvPr>
          <p:cNvSpPr txBox="1"/>
          <p:nvPr/>
        </p:nvSpPr>
        <p:spPr>
          <a:xfrm>
            <a:off x="6858000" y="4356099"/>
            <a:ext cx="419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[2,000, 2,017] MWh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4220E00-3297-51E2-7F32-A1EE8196236F}"/>
              </a:ext>
            </a:extLst>
          </p:cNvPr>
          <p:cNvSpPr txBox="1"/>
          <p:nvPr/>
        </p:nvSpPr>
        <p:spPr>
          <a:xfrm>
            <a:off x="812800" y="49021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Curtailed energy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0C72FC-AF16-21B5-2EE6-E0FEDDE21753}"/>
              </a:ext>
            </a:extLst>
          </p:cNvPr>
          <p:cNvSpPr txBox="1"/>
          <p:nvPr/>
        </p:nvSpPr>
        <p:spPr>
          <a:xfrm>
            <a:off x="4216400" y="4902199"/>
            <a:ext cx="228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-2,008 MWh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AF950A-79EB-266E-5FF6-C94AF893D195}"/>
              </a:ext>
            </a:extLst>
          </p:cNvPr>
          <p:cNvSpPr txBox="1"/>
          <p:nvPr/>
        </p:nvSpPr>
        <p:spPr>
          <a:xfrm>
            <a:off x="6858000" y="4902199"/>
            <a:ext cx="419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[-2,017, -2,000] MWh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43A2CEA-A59B-371F-7799-7A5DCDBAD26A}"/>
              </a:ext>
            </a:extLst>
          </p:cNvPr>
          <p:cNvSpPr/>
          <p:nvPr/>
        </p:nvSpPr>
        <p:spPr>
          <a:xfrm>
            <a:off x="685800" y="5372100"/>
            <a:ext cx="10795000" cy="4826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6DB1F0-E63D-8BE6-9671-CB30892EA50C}"/>
              </a:ext>
            </a:extLst>
          </p:cNvPr>
          <p:cNvSpPr txBox="1"/>
          <p:nvPr/>
        </p:nvSpPr>
        <p:spPr>
          <a:xfrm>
            <a:off x="812800" y="54482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Switching rate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ECDFB9-C02A-C354-EC07-E8C88638AC4F}"/>
              </a:ext>
            </a:extLst>
          </p:cNvPr>
          <p:cNvSpPr txBox="1"/>
          <p:nvPr/>
        </p:nvSpPr>
        <p:spPr>
          <a:xfrm>
            <a:off x="4216400" y="5448299"/>
            <a:ext cx="228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-3.11 pp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CF1F5F-737D-B70F-1612-6836CC897902}"/>
              </a:ext>
            </a:extLst>
          </p:cNvPr>
          <p:cNvSpPr txBox="1"/>
          <p:nvPr/>
        </p:nvSpPr>
        <p:spPr>
          <a:xfrm>
            <a:off x="6858000" y="5448299"/>
            <a:ext cx="419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[-3.48, -2.75] pp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38F767-1101-9475-DEF6-2524CC478339}"/>
              </a:ext>
            </a:extLst>
          </p:cNvPr>
          <p:cNvSpPr txBox="1"/>
          <p:nvPr/>
        </p:nvSpPr>
        <p:spPr>
          <a:xfrm>
            <a:off x="812800" y="6045199"/>
            <a:ext cx="1041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10,000 deterministic seed-stratified paired cluster replicates</a:t>
            </a:r>
          </a:p>
        </p:txBody>
      </p:sp>
    </p:spTree>
    <p:extLst>
      <p:ext uri="{BB962C8B-B14F-4D97-AF65-F5344CB8AC3E}">
        <p14:creationId xmlns:p14="http://schemas.microsoft.com/office/powerpoint/2010/main" val="2577933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5D0907-D779-2C12-20F4-60267C0D47DD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14A0704-C1C0-4662-C455-C4B432EAB103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4D5DEA8-42C8-6754-6247-CDA83118FE40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8663C1-D072-488A-8798-F97CD484E323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54890-6AE6-CCF4-ECE5-9D953AD7C698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The advantage is consistent, not driven by one seed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081DA-8AA4-1DBA-8635-85E3AB4018A7}"/>
              </a:ext>
            </a:extLst>
          </p:cNvPr>
          <p:cNvSpPr txBox="1"/>
          <p:nvPr/>
        </p:nvSpPr>
        <p:spPr>
          <a:xfrm>
            <a:off x="812800" y="1676399"/>
            <a:ext cx="3429000" cy="990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500" b="1">
                <a:solidFill>
                  <a:srgbClr val="E0B957"/>
                </a:solidFill>
                <a:latin typeface="Aptos" panose="020B0004020202020204" pitchFamily="34" charset="0"/>
              </a:rPr>
              <a:t>9 / 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ACBDE9-5E3C-CCAA-49EC-83C5AB98DF6B}"/>
              </a:ext>
            </a:extLst>
          </p:cNvPr>
          <p:cNvSpPr txBox="1"/>
          <p:nvPr/>
        </p:nvSpPr>
        <p:spPr>
          <a:xfrm>
            <a:off x="863600" y="2730499"/>
            <a:ext cx="4064000" cy="698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3F0E8"/>
                </a:solidFill>
                <a:latin typeface="Aptos" panose="020B0004020202020204" pitchFamily="34" charset="0"/>
              </a:rPr>
              <a:t>shortage-by-seed cells favor PPO
for every primary outcome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D9DE0B-A577-36C9-8A5A-B463D7EB338A}"/>
              </a:ext>
            </a:extLst>
          </p:cNvPr>
          <p:cNvSpPr txBox="1"/>
          <p:nvPr/>
        </p:nvSpPr>
        <p:spPr>
          <a:xfrm>
            <a:off x="889000" y="3797299"/>
            <a:ext cx="2413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F3F0E8"/>
                </a:solidFill>
                <a:latin typeface="Aptos" panose="020B0004020202020204" pitchFamily="34" charset="0"/>
              </a:rPr>
              <a:t>Reward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4B99281-7F7D-101D-B073-DCABD8053168}"/>
              </a:ext>
            </a:extLst>
          </p:cNvPr>
          <p:cNvCxnSpPr/>
          <p:nvPr/>
        </p:nvCxnSpPr>
        <p:spPr>
          <a:xfrm>
            <a:off x="3022600" y="3937000"/>
            <a:ext cx="2120900" cy="0"/>
          </a:xfrm>
          <a:prstGeom prst="line">
            <a:avLst/>
          </a:prstGeom>
          <a:ln w="635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9026D-80D4-775A-33DD-9D1BC1EAC60C}"/>
              </a:ext>
            </a:extLst>
          </p:cNvPr>
          <p:cNvSpPr txBox="1"/>
          <p:nvPr/>
        </p:nvSpPr>
        <p:spPr>
          <a:xfrm>
            <a:off x="5295900" y="3771899"/>
            <a:ext cx="7366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9/9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2FB663-ABD4-BA46-B987-4F7A16003450}"/>
              </a:ext>
            </a:extLst>
          </p:cNvPr>
          <p:cNvSpPr txBox="1"/>
          <p:nvPr/>
        </p:nvSpPr>
        <p:spPr>
          <a:xfrm>
            <a:off x="889000" y="4190999"/>
            <a:ext cx="2413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F3F0E8"/>
                </a:solidFill>
                <a:latin typeface="Aptos" panose="020B0004020202020204" pitchFamily="34" charset="0"/>
              </a:rPr>
              <a:t>Critical service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64BABF-A090-BE0F-FEF0-B46C9CC27048}"/>
              </a:ext>
            </a:extLst>
          </p:cNvPr>
          <p:cNvCxnSpPr/>
          <p:nvPr/>
        </p:nvCxnSpPr>
        <p:spPr>
          <a:xfrm>
            <a:off x="3022600" y="4330700"/>
            <a:ext cx="2120900" cy="0"/>
          </a:xfrm>
          <a:prstGeom prst="line">
            <a:avLst/>
          </a:prstGeom>
          <a:ln w="635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5377C3F-A10B-2592-63D7-D62B0301AE4E}"/>
              </a:ext>
            </a:extLst>
          </p:cNvPr>
          <p:cNvSpPr txBox="1"/>
          <p:nvPr/>
        </p:nvSpPr>
        <p:spPr>
          <a:xfrm>
            <a:off x="5295900" y="4165599"/>
            <a:ext cx="7366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9/9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FE6EA-B1E7-AA7E-3DAC-EAF0D22E7BEC}"/>
              </a:ext>
            </a:extLst>
          </p:cNvPr>
          <p:cNvSpPr txBox="1"/>
          <p:nvPr/>
        </p:nvSpPr>
        <p:spPr>
          <a:xfrm>
            <a:off x="889000" y="4584699"/>
            <a:ext cx="2413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F3F0E8"/>
                </a:solidFill>
                <a:latin typeface="Aptos" panose="020B0004020202020204" pitchFamily="34" charset="0"/>
              </a:rPr>
              <a:t>Utilization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F13143-D15C-1549-C498-EC53C744E703}"/>
              </a:ext>
            </a:extLst>
          </p:cNvPr>
          <p:cNvCxnSpPr/>
          <p:nvPr/>
        </p:nvCxnSpPr>
        <p:spPr>
          <a:xfrm>
            <a:off x="3022600" y="4724400"/>
            <a:ext cx="2120900" cy="0"/>
          </a:xfrm>
          <a:prstGeom prst="line">
            <a:avLst/>
          </a:prstGeom>
          <a:ln w="635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26D3635-45C6-F110-BBB6-623027F7E0A1}"/>
              </a:ext>
            </a:extLst>
          </p:cNvPr>
          <p:cNvSpPr txBox="1"/>
          <p:nvPr/>
        </p:nvSpPr>
        <p:spPr>
          <a:xfrm>
            <a:off x="5295900" y="4559299"/>
            <a:ext cx="7366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9/9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15BFECA-CE9B-2AF6-7E25-DEFE009FCF39}"/>
              </a:ext>
            </a:extLst>
          </p:cNvPr>
          <p:cNvSpPr txBox="1"/>
          <p:nvPr/>
        </p:nvSpPr>
        <p:spPr>
          <a:xfrm>
            <a:off x="889000" y="4978399"/>
            <a:ext cx="2413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F3F0E8"/>
                </a:solidFill>
                <a:latin typeface="Aptos" panose="020B0004020202020204" pitchFamily="34" charset="0"/>
              </a:rPr>
              <a:t>Fairness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DA0A2A4-D566-D896-D541-C48548FE70FC}"/>
              </a:ext>
            </a:extLst>
          </p:cNvPr>
          <p:cNvCxnSpPr/>
          <p:nvPr/>
        </p:nvCxnSpPr>
        <p:spPr>
          <a:xfrm>
            <a:off x="3022600" y="5118100"/>
            <a:ext cx="2120900" cy="0"/>
          </a:xfrm>
          <a:prstGeom prst="line">
            <a:avLst/>
          </a:prstGeom>
          <a:ln w="635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B9658C7-ACD3-3D4E-6094-B67A79D42E9F}"/>
              </a:ext>
            </a:extLst>
          </p:cNvPr>
          <p:cNvSpPr txBox="1"/>
          <p:nvPr/>
        </p:nvSpPr>
        <p:spPr>
          <a:xfrm>
            <a:off x="5295900" y="4952999"/>
            <a:ext cx="7366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9/9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1C3FD6-40C1-D0F7-1C98-FAAF9AB5BF05}"/>
              </a:ext>
            </a:extLst>
          </p:cNvPr>
          <p:cNvSpPr txBox="1"/>
          <p:nvPr/>
        </p:nvSpPr>
        <p:spPr>
          <a:xfrm>
            <a:off x="889000" y="5372099"/>
            <a:ext cx="2413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F3F0E8"/>
                </a:solidFill>
                <a:latin typeface="Aptos" panose="020B0004020202020204" pitchFamily="34" charset="0"/>
              </a:rPr>
              <a:t>Served energy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3AE1862-049F-5C22-E745-EA2D28051F1D}"/>
              </a:ext>
            </a:extLst>
          </p:cNvPr>
          <p:cNvCxnSpPr/>
          <p:nvPr/>
        </p:nvCxnSpPr>
        <p:spPr>
          <a:xfrm>
            <a:off x="3022600" y="5511800"/>
            <a:ext cx="2120900" cy="0"/>
          </a:xfrm>
          <a:prstGeom prst="line">
            <a:avLst/>
          </a:prstGeom>
          <a:ln w="635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0F28CCA-06FC-4FB1-D253-E07B2F4867BE}"/>
              </a:ext>
            </a:extLst>
          </p:cNvPr>
          <p:cNvSpPr txBox="1"/>
          <p:nvPr/>
        </p:nvSpPr>
        <p:spPr>
          <a:xfrm>
            <a:off x="5295900" y="5346699"/>
            <a:ext cx="7366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9/9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8B7AED-52DF-DDFD-04E8-10C06B78EBFD}"/>
              </a:ext>
            </a:extLst>
          </p:cNvPr>
          <p:cNvSpPr txBox="1"/>
          <p:nvPr/>
        </p:nvSpPr>
        <p:spPr>
          <a:xfrm>
            <a:off x="889000" y="5765799"/>
            <a:ext cx="2413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F3F0E8"/>
                </a:solidFill>
                <a:latin typeface="Aptos" panose="020B0004020202020204" pitchFamily="34" charset="0"/>
              </a:rPr>
              <a:t>Curtailed energy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A72D621-0E44-DE86-0B67-42D9E482BD9E}"/>
              </a:ext>
            </a:extLst>
          </p:cNvPr>
          <p:cNvCxnSpPr/>
          <p:nvPr/>
        </p:nvCxnSpPr>
        <p:spPr>
          <a:xfrm>
            <a:off x="3022600" y="5905500"/>
            <a:ext cx="2120900" cy="0"/>
          </a:xfrm>
          <a:prstGeom prst="line">
            <a:avLst/>
          </a:prstGeom>
          <a:ln w="635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127DEFC-6A84-4E9B-6DB0-340103CC35A1}"/>
              </a:ext>
            </a:extLst>
          </p:cNvPr>
          <p:cNvSpPr txBox="1"/>
          <p:nvPr/>
        </p:nvSpPr>
        <p:spPr>
          <a:xfrm>
            <a:off x="5295900" y="5740399"/>
            <a:ext cx="7366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9/9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0EE363C-6D75-A564-77EF-ED4FCF5E487C}"/>
              </a:ext>
            </a:extLst>
          </p:cNvPr>
          <p:cNvCxnSpPr/>
          <p:nvPr/>
        </p:nvCxnSpPr>
        <p:spPr>
          <a:xfrm>
            <a:off x="6350000" y="1676400"/>
            <a:ext cx="0" cy="416560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466BCB5-90B9-2BE2-58FD-69FE262FF540}"/>
              </a:ext>
            </a:extLst>
          </p:cNvPr>
          <p:cNvSpPr txBox="1"/>
          <p:nvPr/>
        </p:nvSpPr>
        <p:spPr>
          <a:xfrm>
            <a:off x="6959600" y="1841499"/>
            <a:ext cx="4191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3FC6AC"/>
                </a:solidFill>
                <a:latin typeface="Aptos" panose="020B0004020202020204" pitchFamily="34" charset="0"/>
              </a:rPr>
              <a:t>Safety and diagnostics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654439-B0B8-3114-CDAF-6B167F3527D3}"/>
              </a:ext>
            </a:extLst>
          </p:cNvPr>
          <p:cNvSpPr txBox="1"/>
          <p:nvPr/>
        </p:nvSpPr>
        <p:spPr>
          <a:xfrm>
            <a:off x="6959600" y="2603499"/>
            <a:ext cx="20955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200" b="1">
                <a:solidFill>
                  <a:srgbClr val="F3F0E8"/>
                </a:solidFill>
                <a:latin typeface="Aptos" panose="020B0004020202020204" pitchFamily="34" charset="0"/>
              </a:rPr>
              <a:t>0.00%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AFC9BE-7E7D-4C01-A88A-D559BAF69440}"/>
              </a:ext>
            </a:extLst>
          </p:cNvPr>
          <p:cNvSpPr txBox="1"/>
          <p:nvPr/>
        </p:nvSpPr>
        <p:spPr>
          <a:xfrm>
            <a:off x="9144000" y="2666999"/>
            <a:ext cx="2260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power-balance violation rate
in both controllers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BE5E485-FB62-77E7-08F4-A0710C772FC3}"/>
              </a:ext>
            </a:extLst>
          </p:cNvPr>
          <p:cNvSpPr txBox="1"/>
          <p:nvPr/>
        </p:nvSpPr>
        <p:spPr>
          <a:xfrm>
            <a:off x="6959600" y="3809999"/>
            <a:ext cx="1905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900" b="1">
                <a:solidFill>
                  <a:srgbClr val="E0B957"/>
                </a:solidFill>
                <a:latin typeface="Aptos" panose="020B0004020202020204" pitchFamily="34" charset="0"/>
              </a:rPr>
              <a:t>-3.11 pp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903B98-12A2-E49D-7DC5-C21A2CD3B69D}"/>
              </a:ext>
            </a:extLst>
          </p:cNvPr>
          <p:cNvSpPr txBox="1"/>
          <p:nvPr/>
        </p:nvSpPr>
        <p:spPr>
          <a:xfrm>
            <a:off x="8991600" y="3898899"/>
            <a:ext cx="2413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aggregate switching rate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E72CC5-5930-04D2-CB15-F51C5B40111A}"/>
              </a:ext>
            </a:extLst>
          </p:cNvPr>
          <p:cNvSpPr txBox="1"/>
          <p:nvPr/>
        </p:nvSpPr>
        <p:spPr>
          <a:xfrm>
            <a:off x="6959600" y="4813299"/>
            <a:ext cx="41910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83939D"/>
                </a:solidFill>
                <a:latin typeface="Aptos" panose="020B0004020202020204" pitchFamily="34" charset="0"/>
              </a:rPr>
              <a:t>Oversubscription stays diagnostic:
direction was mixed across cells</a:t>
            </a:r>
          </a:p>
        </p:txBody>
      </p:sp>
    </p:spTree>
    <p:extLst>
      <p:ext uri="{BB962C8B-B14F-4D97-AF65-F5344CB8AC3E}">
        <p14:creationId xmlns:p14="http://schemas.microsoft.com/office/powerpoint/2010/main" val="29184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558A67-5693-8C83-3617-262C2378FBC2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C0B94-1BB4-F793-3855-26427F974971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DAC40E1-84DF-5078-347E-BC83A0EBE1CC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0CCED8-2A10-8A69-02BB-FA94A2151076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8B0003-F7B8-D4F6-F84D-9432CA674C38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evidence answers the proposal - within a strict boundary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4E48B9-5BC7-1F55-2176-312231AF15C3}"/>
              </a:ext>
            </a:extLst>
          </p:cNvPr>
          <p:cNvSpPr txBox="1"/>
          <p:nvPr/>
        </p:nvSpPr>
        <p:spPr>
          <a:xfrm>
            <a:off x="812800" y="1739899"/>
            <a:ext cx="457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3FC6AC"/>
                </a:solidFill>
                <a:latin typeface="Aptos" panose="020B0004020202020204" pitchFamily="34" charset="0"/>
              </a:rPr>
              <a:t>What this establishes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CBCEF3-BE77-F20E-CB6C-D526FF8377E8}"/>
              </a:ext>
            </a:extLst>
          </p:cNvPr>
          <p:cNvCxnSpPr/>
          <p:nvPr/>
        </p:nvCxnSpPr>
        <p:spPr>
          <a:xfrm>
            <a:off x="812800" y="24892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4D20D56-5F95-254F-AD9F-91C0815F7D67}"/>
              </a:ext>
            </a:extLst>
          </p:cNvPr>
          <p:cNvSpPr txBox="1"/>
          <p:nvPr/>
        </p:nvSpPr>
        <p:spPr>
          <a:xfrm>
            <a:off x="1168400" y="2336799"/>
            <a:ext cx="4597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PPO beats Fixed Rotation in the locked simulator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2439760-72E9-6996-9F20-AD28BF2C5AD3}"/>
              </a:ext>
            </a:extLst>
          </p:cNvPr>
          <p:cNvCxnSpPr/>
          <p:nvPr/>
        </p:nvCxnSpPr>
        <p:spPr>
          <a:xfrm>
            <a:off x="812800" y="3098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0E8BFC8-41B8-8410-C8F9-8EDE007729EB}"/>
              </a:ext>
            </a:extLst>
          </p:cNvPr>
          <p:cNvSpPr txBox="1"/>
          <p:nvPr/>
        </p:nvSpPr>
        <p:spPr>
          <a:xfrm>
            <a:off x="1168400" y="2946399"/>
            <a:ext cx="4597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Critical-service protection and fairness improve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32613E-BA28-AE26-3F94-02B1A90EB50F}"/>
              </a:ext>
            </a:extLst>
          </p:cNvPr>
          <p:cNvCxnSpPr/>
          <p:nvPr/>
        </p:nvCxnSpPr>
        <p:spPr>
          <a:xfrm>
            <a:off x="812800" y="37084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94720C1-96A1-0F5C-2F7D-878462C5819F}"/>
              </a:ext>
            </a:extLst>
          </p:cNvPr>
          <p:cNvSpPr txBox="1"/>
          <p:nvPr/>
        </p:nvSpPr>
        <p:spPr>
          <a:xfrm>
            <a:off x="1168400" y="3555999"/>
            <a:ext cx="4597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The result is reproducible from pinned artifacts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5043AC-6159-77E6-9BEF-59055F984F1A}"/>
              </a:ext>
            </a:extLst>
          </p:cNvPr>
          <p:cNvCxnSpPr/>
          <p:nvPr/>
        </p:nvCxnSpPr>
        <p:spPr>
          <a:xfrm>
            <a:off x="812800" y="43180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1E2B3A0-5DCF-2B99-5BA4-608B6190308B}"/>
              </a:ext>
            </a:extLst>
          </p:cNvPr>
          <p:cNvSpPr txBox="1"/>
          <p:nvPr/>
        </p:nvSpPr>
        <p:spPr>
          <a:xfrm>
            <a:off x="1168400" y="4165599"/>
            <a:ext cx="4597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The desktop demonstrates one shared scenario honestly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0CB958-598B-E4E2-5EAA-335AD85E0B12}"/>
              </a:ext>
            </a:extLst>
          </p:cNvPr>
          <p:cNvSpPr txBox="1"/>
          <p:nvPr/>
        </p:nvSpPr>
        <p:spPr>
          <a:xfrm>
            <a:off x="6629400" y="1739899"/>
            <a:ext cx="4699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A15E40"/>
                </a:solidFill>
                <a:latin typeface="Aptos" panose="020B0004020202020204" pitchFamily="34" charset="0"/>
              </a:rPr>
              <a:t>What this does not establish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3983D9D-3548-A698-0247-D1789C6487E3}"/>
              </a:ext>
            </a:extLst>
          </p:cNvPr>
          <p:cNvCxnSpPr/>
          <p:nvPr/>
        </p:nvCxnSpPr>
        <p:spPr>
          <a:xfrm>
            <a:off x="6629400" y="24892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6CDA73D-6714-6C01-1EDE-09B8848BD4E6}"/>
              </a:ext>
            </a:extLst>
          </p:cNvPr>
          <p:cNvSpPr txBox="1"/>
          <p:nvPr/>
        </p:nvSpPr>
        <p:spPr>
          <a:xfrm>
            <a:off x="6985000" y="2336799"/>
            <a:ext cx="4597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Field performance on Sudan's electrical grid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3E4812-D731-BA0B-FFDB-1ED593CA4700}"/>
              </a:ext>
            </a:extLst>
          </p:cNvPr>
          <p:cNvCxnSpPr/>
          <p:nvPr/>
        </p:nvCxnSpPr>
        <p:spPr>
          <a:xfrm>
            <a:off x="6629400" y="3098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9003E27-79FE-19C7-8970-51341F78ACDD}"/>
              </a:ext>
            </a:extLst>
          </p:cNvPr>
          <p:cNvSpPr txBox="1"/>
          <p:nvPr/>
        </p:nvSpPr>
        <p:spPr>
          <a:xfrm>
            <a:off x="6985000" y="2946399"/>
            <a:ext cx="4597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Network stability, voltage, or protection behavior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FD92DEE-94C5-C2B4-5F99-029A254E6678}"/>
              </a:ext>
            </a:extLst>
          </p:cNvPr>
          <p:cNvCxnSpPr/>
          <p:nvPr/>
        </p:nvCxnSpPr>
        <p:spPr>
          <a:xfrm>
            <a:off x="6629400" y="37084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86E4106-EDF7-B2B0-E22F-9F0EB9CBCA89}"/>
              </a:ext>
            </a:extLst>
          </p:cNvPr>
          <p:cNvSpPr txBox="1"/>
          <p:nvPr/>
        </p:nvSpPr>
        <p:spPr>
          <a:xfrm>
            <a:off x="6985000" y="3555999"/>
            <a:ext cx="4597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Superiority over every possible controller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377F573-9C29-85CB-9BF5-C7FA13010681}"/>
              </a:ext>
            </a:extLst>
          </p:cNvPr>
          <p:cNvCxnSpPr/>
          <p:nvPr/>
        </p:nvCxnSpPr>
        <p:spPr>
          <a:xfrm>
            <a:off x="6629400" y="43180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5229ED5-C617-EF6E-1612-8356F96A8A88}"/>
              </a:ext>
            </a:extLst>
          </p:cNvPr>
          <p:cNvSpPr txBox="1"/>
          <p:nvPr/>
        </p:nvSpPr>
        <p:spPr>
          <a:xfrm>
            <a:off x="6985000" y="4165599"/>
            <a:ext cx="4597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Forecast accuracy from real operational data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5A98BF7-C48F-55F5-45FA-93B1C2C99750}"/>
              </a:ext>
            </a:extLst>
          </p:cNvPr>
          <p:cNvSpPr/>
          <p:nvPr/>
        </p:nvSpPr>
        <p:spPr>
          <a:xfrm>
            <a:off x="812800" y="5092700"/>
            <a:ext cx="10515600" cy="838200"/>
          </a:xfrm>
          <a:prstGeom prst="roundRect">
            <a:avLst/>
          </a:prstGeom>
          <a:solidFill>
            <a:srgbClr val="E4F4F0"/>
          </a:solidFill>
          <a:ln w="15240">
            <a:solidFill>
              <a:srgbClr val="3FC6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3AC5E7-6CCB-2A37-BC19-0D7E01EAE6AC}"/>
              </a:ext>
            </a:extLst>
          </p:cNvPr>
          <p:cNvSpPr txBox="1"/>
          <p:nvPr/>
        </p:nvSpPr>
        <p:spPr>
          <a:xfrm>
            <a:off x="1041400" y="5295899"/>
            <a:ext cx="10033000" cy="482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Historical evidence stored 18 batch-cell summaries. Episode rows and intervals were regenerated from the audited simulator and frozen PPO checkpoint.</a:t>
            </a:r>
          </a:p>
        </p:txBody>
      </p:sp>
    </p:spTree>
    <p:extLst>
      <p:ext uri="{BB962C8B-B14F-4D97-AF65-F5344CB8AC3E}">
        <p14:creationId xmlns:p14="http://schemas.microsoft.com/office/powerpoint/2010/main" val="77113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F48797-9127-F10A-99CB-64F15F6043E9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ED41298-0A47-5E82-C231-A08BA1E10D0C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FC80180-8E95-1B7F-0175-5FF06B7B23DE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024158-A47A-6B98-2F66-03591E2B39DE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C96B13-2403-C5DE-A972-C144DAF579EE}"/>
              </a:ext>
            </a:extLst>
          </p:cNvPr>
          <p:cNvSpPr txBox="1"/>
          <p:nvPr/>
        </p:nvSpPr>
        <p:spPr>
          <a:xfrm>
            <a:off x="762000" y="9143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THE ANSWER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F00AA0-3E6E-7EA8-FFDE-747FF4A14603}"/>
              </a:ext>
            </a:extLst>
          </p:cNvPr>
          <p:cNvSpPr txBox="1"/>
          <p:nvPr/>
        </p:nvSpPr>
        <p:spPr>
          <a:xfrm>
            <a:off x="762000" y="1625599"/>
            <a:ext cx="104140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900" b="1">
                <a:solidFill>
                  <a:srgbClr val="F3F0E8"/>
                </a:solidFill>
                <a:latin typeface="Aptos" panose="020B0004020202020204" pitchFamily="34" charset="0"/>
              </a:rPr>
              <a:t>PPO &gt; Fixed Rotation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E9CAB4-B204-5DAD-313C-0F4D67AB7C4A}"/>
              </a:ext>
            </a:extLst>
          </p:cNvPr>
          <p:cNvSpPr txBox="1"/>
          <p:nvPr/>
        </p:nvSpPr>
        <p:spPr>
          <a:xfrm>
            <a:off x="787400" y="2603499"/>
            <a:ext cx="8382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E0B957"/>
                </a:solidFill>
                <a:latin typeface="Aptos" panose="020B0004020202020204" pitchFamily="34" charset="0"/>
              </a:rPr>
              <a:t>under the locked synthetic evaluation protocol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46D7CC-E292-0CE6-A0E4-789BFD22D27F}"/>
              </a:ext>
            </a:extLst>
          </p:cNvPr>
          <p:cNvCxnSpPr/>
          <p:nvPr/>
        </p:nvCxnSpPr>
        <p:spPr>
          <a:xfrm>
            <a:off x="787400" y="3441700"/>
            <a:ext cx="106172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90C14F5-48BE-0C56-8AAC-03EC83748997}"/>
              </a:ext>
            </a:extLst>
          </p:cNvPr>
          <p:cNvCxnSpPr/>
          <p:nvPr/>
        </p:nvCxnSpPr>
        <p:spPr>
          <a:xfrm>
            <a:off x="787400" y="40386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3C144CF-55C1-6919-BDA1-DC77EC52782D}"/>
              </a:ext>
            </a:extLst>
          </p:cNvPr>
          <p:cNvSpPr txBox="1"/>
          <p:nvPr/>
        </p:nvSpPr>
        <p:spPr>
          <a:xfrm>
            <a:off x="1143000" y="3886199"/>
            <a:ext cx="9931400" cy="571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>
                <a:solidFill>
                  <a:srgbClr val="F3F0E8"/>
                </a:solidFill>
                <a:latin typeface="Aptos" panose="020B0004020202020204" pitchFamily="34" charset="0"/>
              </a:rPr>
              <a:t>Verified - pinned model, evidence, provenance, and release 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227659C-EAEA-1863-4C76-613EF980826D}"/>
              </a:ext>
            </a:extLst>
          </p:cNvPr>
          <p:cNvCxnSpPr/>
          <p:nvPr/>
        </p:nvCxnSpPr>
        <p:spPr>
          <a:xfrm>
            <a:off x="787400" y="46609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959C9DB-47E5-26F8-F216-546E22C7BA72}"/>
              </a:ext>
            </a:extLst>
          </p:cNvPr>
          <p:cNvSpPr txBox="1"/>
          <p:nvPr/>
        </p:nvSpPr>
        <p:spPr>
          <a:xfrm>
            <a:off x="1143000" y="4508499"/>
            <a:ext cx="9931400" cy="571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>
                <a:solidFill>
                  <a:srgbClr val="F3F0E8"/>
                </a:solidFill>
                <a:latin typeface="Aptos" panose="020B0004020202020204" pitchFamily="34" charset="0"/>
              </a:rPr>
              <a:t>Interactive - one shared GPU scenario with locality-level replay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821CA9-7882-EF9C-0DEE-96132DEDC9FB}"/>
              </a:ext>
            </a:extLst>
          </p:cNvPr>
          <p:cNvCxnSpPr/>
          <p:nvPr/>
        </p:nvCxnSpPr>
        <p:spPr>
          <a:xfrm>
            <a:off x="787400" y="52832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D094BBD-7072-0DEA-D3BE-3135B45D2D7F}"/>
              </a:ext>
            </a:extLst>
          </p:cNvPr>
          <p:cNvSpPr txBox="1"/>
          <p:nvPr/>
        </p:nvSpPr>
        <p:spPr>
          <a:xfrm>
            <a:off x="1143000" y="5130799"/>
            <a:ext cx="9931400" cy="571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>
                <a:solidFill>
                  <a:srgbClr val="F3F0E8"/>
                </a:solidFill>
                <a:latin typeface="Aptos" panose="020B0004020202020204" pitchFamily="34" charset="0"/>
              </a:rPr>
              <a:t>Honest - synthetic scope, historical boundary, and limitations visible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860BC64-253D-4B19-14D4-1C9935FC426D}"/>
              </a:ext>
            </a:extLst>
          </p:cNvPr>
          <p:cNvSpPr/>
          <p:nvPr/>
        </p:nvSpPr>
        <p:spPr>
          <a:xfrm>
            <a:off x="787400" y="5740400"/>
            <a:ext cx="10617200" cy="533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556E3D-0D78-5D44-EDA8-7B612BAFEFB8}"/>
              </a:ext>
            </a:extLst>
          </p:cNvPr>
          <p:cNvSpPr txBox="1"/>
          <p:nvPr/>
        </p:nvSpPr>
        <p:spPr>
          <a:xfrm>
            <a:off x="990600" y="5880099"/>
            <a:ext cx="10210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Next: validate with representative operational data and electrical-network constraints</a:t>
            </a:r>
          </a:p>
        </p:txBody>
      </p:sp>
    </p:spTree>
    <p:extLst>
      <p:ext uri="{BB962C8B-B14F-4D97-AF65-F5344CB8AC3E}">
        <p14:creationId xmlns:p14="http://schemas.microsoft.com/office/powerpoint/2010/main" val="42864667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1499</Words>
  <Application>Microsoft Office PowerPoint</Application>
  <PresentationFormat>Custom</PresentationFormat>
  <Paragraphs>256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Suliman Babiker</dc:creator>
  <cp:lastModifiedBy>Suliman Babiker</cp:lastModifiedBy>
  <cp:revision>1</cp:revision>
  <dcterms:created xsi:type="dcterms:W3CDTF">2026-08-15T16:44:08Z</dcterms:created>
  <dcterms:modified xsi:type="dcterms:W3CDTF">2026-08-15T16:44:08Z</dcterms:modified>
</cp:coreProperties>
</file>