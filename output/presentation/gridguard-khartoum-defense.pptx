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55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9048A6-5D6A-448B-81F8-77304A8870A2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0F9F25-4631-43F5-97A3-9226559109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2571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Can PPO allocate limited modeled supply more effectively than Fixed Rotation?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docs/source/graduation-project-proposal.pdf</a:t>
            </a:r>
          </a:p>
          <a:p>
            <a:r>
              <a:rPr lang="en-US"/>
              <a:t>- docs/REPORT.md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4861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Administrative locality boundaries provide presentation context and are not electrical-network topology.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- docs/assets/screenshots/overview.png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837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controller path and display-only forecast remain separate so presentation context cannot silently change the evidence.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</a:t>
            </a:r>
          </a:p>
          <a:p>
            <a:r>
              <a:rPr lang="en-US"/>
              <a:t>- docs/decisions/ADR-001-gpu-runtime.md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5523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960 conditions are severity variants of 320 independent base draws. Both controllers receive the same guarded scenario; detected demand/supply mutation fails closed.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- data/evidence/robustness-supplement.json, SHA-256 fabb5a2f13ab31cd51f641f4e6a6db3cce8a28a6e2c4fa144612f634bad0beb1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9727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displayed runtime, convergence, and checkpoint facts describe selected seed 43; the candidate experiment comprised 3 runs totaling 1,800 iterations, 460,800 episodes, and 11,059,200 transitions. Historical reward gates document model selection and are not independent current headline evidence. The teacher-guided initialization precedes PPO training; the deployed controller remains PPO. No behavior-cloning-only ablation was run, so this comparison cannot isolate the incremental effect of PPO fine-tuning.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data/model/training-provenance.yaml, SHA-256 d2568bce26e9221afa8c266113a704f6fbf2370d3bc949f5aa6c72a7411ba1a8</a:t>
            </a:r>
          </a:p>
          <a:p>
            <a:r>
              <a:rPr lang="en-US"/>
              <a:t>- data/model/manifest.json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2329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Simulation, PPO inference, metrics, and bootstrap stay GPU-first. Scalar invariant flags may synchronize; one final full-array host transfer supports portable artifact assembly.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</a:t>
            </a:r>
          </a:p>
          <a:p>
            <a:r>
              <a:rPr lang="en-US"/>
              <a:t>- docs/decisions/ADR-001-gpu-runtime.md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51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Run once, then change controller and hour without changing the scenario. Live values never replace frozen evidence.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docs/IMPLEMENTATION.md</a:t>
            </a:r>
          </a:p>
          <a:p>
            <a:r>
              <a:rPr lang="en-US"/>
              <a:t>- docs/assets/screenshots/live.png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603106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These are the only three headline outcomes. The seeds are disjoint only from documented activity: the holdout was not preregistered or independently custodied and cannot rule out undocumented activity. Results were reported as observed; direction was not a release condition. No behavior-cloning-only ablation was run, so this comparison cannot isolate the incremental effect of PPO fine-tuning.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data/evidence/robustness-supplement.json, SHA-256 fabb5a2f13ab31cd51f641f4e6a6db3cce8a28a6e2c4fa144612f634bad0beb1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3197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cards report observed direction counts, not a gate. Sensitivity intervals are descriptive, pointwise 95%, and unadjusted for multiple comparisons; they do not support family-wide significance claims. Difference-in-differences reports effect-size shifts versus base.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data/evidence/robustness-supplement.json, sensitivity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47850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Lower error for one-hour persistence is a bounded synthetic display comparison, not operational calibration.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data/evidence/robustness-supplement.json, forecast_evaluation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243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accepted artifact preserves provenance, but acceptance used its seeds. Reviewer-facing comparisons use the separate documented-seed-disjoint holdout, subject to its stated custody limitation.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data/evidence/paired-benchmark.json, SHA-256 7f2009c4f7efbbedf098069ced9218addec51d55a18b969e6c54433027020af5</a:t>
            </a:r>
          </a:p>
          <a:p>
            <a:r>
              <a:rPr lang="en-US"/>
              <a:t>- data/evidence/robustness-supplement.json, seed_separation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21041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The experiment models shortage allocation, not a power-flow network, and the data are synthetic. Fixed Rotation is supply-blind, limited to Off and Full Service, and cannot select Critical Only. No behavior-cloning-only ablation was run, so this comparison cannot isolate the incremental effect of PPO fine-tuning.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docs/METHODOLOGY.md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5742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PPO outperformed Fixed Rotation under this locked synthetic protocol. Fixed Rotation is supply-blind, limited to Off and Full Service, and cannot select Critical Only; this is not evidence of general controller superiority. No behavior-cloning-only ablation was run, so the comparison cannot isolate the incremental effect of PPO fine-tuning. Operational-data and network validation must precede field use.</a:t>
            </a:r>
          </a:p>
          <a:p>
            <a:endParaRPr lang="en-US"/>
          </a:p>
          <a:p>
            <a:r>
              <a:rPr lang="en-US"/>
              <a:t>[Sources]</a:t>
            </a:r>
          </a:p>
          <a:p>
            <a:r>
              <a:rPr lang="en-US"/>
              <a:t>- docs/RESULTS.md</a:t>
            </a:r>
          </a:p>
          <a:p>
            <a:r>
              <a:rPr lang="en-US"/>
              <a:t>- docs/REPORT.md</a:t>
            </a:r>
          </a:p>
          <a:p>
            <a:r>
              <a:rPr lang="en-US"/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0F9F25-4631-43F5-97A3-92265591091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387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A2336-F06A-5CD8-3E93-118963C27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CA1B57-01DD-4F8B-C176-E1A1E1845B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153007-D74C-09A5-A7E3-E35FA42F63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452FA-4B05-4D50-9D4B-B5BDEE9852A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B9B967-87AF-4FD0-8240-CBF4FBA86A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C1E4A-FBFA-2CF4-05C9-94E123ABBD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5BCB8-0C88-4FC1-96D7-FA9A8E2C4D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138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E3FFC-7CE8-E975-E95E-E0EDDD3799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32A947-6107-641A-EC46-FC8E34EC56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83BFD0-7ED0-1852-A675-B785444BB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452FA-4B05-4D50-9D4B-B5BDEE9852A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FB7A3D-B505-0E62-FBA1-AF8564D22C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073997-067F-2E3E-4CAA-55CCFF421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5BCB8-0C88-4FC1-96D7-FA9A8E2C4D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4827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9EA50F-0C52-7937-322C-D962D7C85F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6190EA-4FF9-2502-A69A-DC3D8F3770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BDBFE3-9104-EF2E-C633-B8B3D4EDFE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452FA-4B05-4D50-9D4B-B5BDEE9852A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604DD5-2F73-35AD-2880-86C1E8061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D45D9-E461-6FC3-0CD7-36BF9C06A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5BCB8-0C88-4FC1-96D7-FA9A8E2C4D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64956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9E5B1-5DB4-9703-FAA4-39C48939F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BD140-72DA-2863-757A-04EF888D0A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C9371D-6D93-DA41-F037-FA5E6A9B935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127769A-22BA-A1B2-A4D7-E387B6A46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452FA-4B05-4D50-9D4B-B5BDEE9852A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191833-25A3-BDC5-3139-1798DD5CA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7DA7E9-8CF0-CC5B-F548-A049E31A1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5BCB8-0C88-4FC1-96D7-FA9A8E2C4D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7593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F3B64-D064-D09B-7F71-7AC78D557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ADDA3E-FBC5-220E-A3F7-D0D4B394C9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5D44360-406E-2CDC-CDDE-FC5CD7DBA0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464D964-AF18-9DAF-49A3-CAC6AC8048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894DA9-707B-2AC3-7F03-96918994F0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4FCF2D-98CB-8DEA-0BA8-0D667EBBCA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452FA-4B05-4D50-9D4B-B5BDEE9852A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8E1CEF2-5621-F965-E20F-43111BF55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35DD33-7507-36C5-CE21-8E033D34D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5BCB8-0C88-4FC1-96D7-FA9A8E2C4D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3110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E2B24-FA52-BF6E-CAEA-59D76EC4A4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521CF5-1D7C-EFD0-83D6-39E8D8F27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452FA-4B05-4D50-9D4B-B5BDEE9852A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535A8E-B281-FC0F-DDB1-32108C9781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6C8FA72-7470-EF1C-2CE5-73A1262E7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5BCB8-0C88-4FC1-96D7-FA9A8E2C4D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6545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1241E1-93D4-D88B-EE2C-DE29CABE4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452FA-4B05-4D50-9D4B-B5BDEE9852A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BEE740-F404-4FAC-C105-5D85EBFD8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B2D972-D245-5657-0DFD-95FC7F70A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5BCB8-0C88-4FC1-96D7-FA9A8E2C4D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70701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91910-682C-FC5C-AD4E-95DE631E76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A635A-3C16-2952-828D-86DF5EC07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438A900-8FB1-C13A-8879-5A2B35D48F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8331CF-094D-B665-AA44-881BBA2FE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452FA-4B05-4D50-9D4B-B5BDEE9852A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5E4212-80C8-C5BA-D705-93E1365AE8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219717-465A-6CCF-6D12-7FFF02C67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5BCB8-0C88-4FC1-96D7-FA9A8E2C4D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6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4BBAC-8697-0A25-0C0C-3E5756B78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B486D5-EE62-3903-CB99-E702E97524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72A0F5-200B-95DA-4340-94B9667D40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B42D8D-8CF8-408B-3EF1-35B6E38483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452FA-4B05-4D50-9D4B-B5BDEE9852A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699054-880A-4B07-A03F-61DD2A52F8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D7718C-E7C0-9AEB-4F10-A36F6E404B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5BCB8-0C88-4FC1-96D7-FA9A8E2C4D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904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99A609-C7E3-2A29-8189-6EF215D9B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A4AE5D-52CE-CFE0-1471-8BCF03DE16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E1D15-1BF2-CC3A-99B0-8A33679A6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452FA-4B05-4D50-9D4B-B5BDEE9852A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15F41D-6F95-EB20-1CF6-C5B57292B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BFAC7A-1452-19A6-34DA-E939D38C0C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5BCB8-0C88-4FC1-96D7-FA9A8E2C4D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08373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755B02A-4868-4C2F-5E9E-FCBE329F4F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3990C8-7BC6-7CE8-DC38-A166E62FE1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08A680-DA30-AE65-7F62-DBA40A38DB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452FA-4B05-4D50-9D4B-B5BDEE9852A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645391-BB2E-B87E-B960-C6C18862C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6835CE-6F63-18A8-7289-0DA13C618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65BCB8-0C88-4FC1-96D7-FA9A8E2C4D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365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57D37A-E94C-C303-6499-A8E302056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F6477D-F2E5-931C-9352-B7FFEA30C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1A541B-ACBB-0506-95B4-5157F552C5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452FA-4B05-4D50-9D4B-B5BDEE9852A8}" type="datetimeFigureOut">
              <a:rPr lang="en-US" smtClean="0"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07E54-5BC8-7D96-96D4-C4BD1C1B34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E76C2E-BFE3-40DE-3CE3-DE1563D983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65BCB8-0C88-4FC1-96D7-FA9A8E2C4D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794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6CB3C61-A763-CF07-D4E6-25BD2CB32CCA}"/>
              </a:ext>
            </a:extLst>
          </p:cNvPr>
          <p:cNvSpPr txBox="1"/>
          <p:nvPr/>
        </p:nvSpPr>
        <p:spPr>
          <a:xfrm>
            <a:off x="762000" y="736599"/>
            <a:ext cx="533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GRADUATION PROJECT DEFENSE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FE3814-715C-7742-6975-1918D853140A}"/>
              </a:ext>
            </a:extLst>
          </p:cNvPr>
          <p:cNvSpPr txBox="1"/>
          <p:nvPr/>
        </p:nvSpPr>
        <p:spPr>
          <a:xfrm>
            <a:off x="762000" y="1625599"/>
            <a:ext cx="99060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5400" b="1">
                <a:solidFill>
                  <a:srgbClr val="F3F0E8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4DDC1D-D0A5-1C96-3152-991F98AC5045}"/>
              </a:ext>
            </a:extLst>
          </p:cNvPr>
          <p:cNvSpPr txBox="1"/>
          <p:nvPr/>
        </p:nvSpPr>
        <p:spPr>
          <a:xfrm>
            <a:off x="762000" y="2692399"/>
            <a:ext cx="9652000" cy="863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600">
                <a:solidFill>
                  <a:srgbClr val="E0B957"/>
                </a:solidFill>
                <a:latin typeface="Aptos" panose="020B0004020202020204" pitchFamily="34" charset="0"/>
              </a:rPr>
              <a:t>PPO-assisted load shedding and energy management for developing countries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20216F9-BE94-C0DF-E376-E9629F3C90F9}"/>
              </a:ext>
            </a:extLst>
          </p:cNvPr>
          <p:cNvCxnSpPr/>
          <p:nvPr/>
        </p:nvCxnSpPr>
        <p:spPr>
          <a:xfrm>
            <a:off x="762000" y="3835400"/>
            <a:ext cx="2870200" cy="0"/>
          </a:xfrm>
          <a:prstGeom prst="line">
            <a:avLst/>
          </a:prstGeom>
          <a:ln w="635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9E451D2-F53B-8FA4-7B4F-6A30C4A7D07F}"/>
              </a:ext>
            </a:extLst>
          </p:cNvPr>
          <p:cNvSpPr txBox="1"/>
          <p:nvPr/>
        </p:nvSpPr>
        <p:spPr>
          <a:xfrm>
            <a:off x="762000" y="4381499"/>
            <a:ext cx="546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pt-BR" sz="1700">
                <a:solidFill>
                  <a:srgbClr val="F3F0E8"/>
                </a:solidFill>
                <a:latin typeface="Aptos" panose="020B0004020202020204" pitchFamily="34" charset="0"/>
              </a:rPr>
              <a:t>Murtada Asim Ibrahim Bakhit (18-317)</a:t>
            </a:r>
            <a:endParaRPr lang="en-US" sz="1700">
              <a:solidFill>
                <a:srgbClr val="F3F0E8"/>
              </a:solidFill>
              <a:latin typeface="Aptos" panose="020B00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A0AB05-DD22-3D95-30E6-5AED0103A221}"/>
              </a:ext>
            </a:extLst>
          </p:cNvPr>
          <p:cNvSpPr txBox="1"/>
          <p:nvPr/>
        </p:nvSpPr>
        <p:spPr>
          <a:xfrm>
            <a:off x="762000" y="4749799"/>
            <a:ext cx="546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Suliman Elawad Suliman Babiker (18-310)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29106E-C908-92C2-C8E4-59F72AEE5E0B}"/>
              </a:ext>
            </a:extLst>
          </p:cNvPr>
          <p:cNvSpPr txBox="1"/>
          <p:nvPr/>
        </p:nvSpPr>
        <p:spPr>
          <a:xfrm>
            <a:off x="762000" y="5118099"/>
            <a:ext cx="5461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Abdalhay Abass Mobarak Abass (15-306)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F473A5-25D0-9560-F152-DED05E9F855A}"/>
              </a:ext>
            </a:extLst>
          </p:cNvPr>
          <p:cNvSpPr txBox="1"/>
          <p:nvPr/>
        </p:nvSpPr>
        <p:spPr>
          <a:xfrm>
            <a:off x="762000" y="5968999"/>
            <a:ext cx="6096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research simulation  |  August 2026</a:t>
            </a:r>
          </a:p>
        </p:txBody>
      </p:sp>
    </p:spTree>
    <p:extLst>
      <p:ext uri="{BB962C8B-B14F-4D97-AF65-F5344CB8AC3E}">
        <p14:creationId xmlns:p14="http://schemas.microsoft.com/office/powerpoint/2010/main" val="17066125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BD5741-0879-0317-DDD6-A91DCDDED07B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9269E04-114C-6E82-734C-AC92C9DDA6CE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4CFCD2C-7835-3E3D-FE30-64437C13A7C6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1F48AA-7CE8-B91A-B61B-A03167F9B3CC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457114-F049-F056-44B2-05678DFFE5DF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Seven simultaneous allocation choices under shortage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8619450-86EB-87C8-E793-907853D313F9}"/>
              </a:ext>
            </a:extLst>
          </p:cNvPr>
          <p:cNvCxnSpPr/>
          <p:nvPr/>
        </p:nvCxnSpPr>
        <p:spPr>
          <a:xfrm>
            <a:off x="736600" y="21844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8D199EF-EA8E-8FA4-EFBA-D6D601FB2179}"/>
              </a:ext>
            </a:extLst>
          </p:cNvPr>
          <p:cNvSpPr txBox="1"/>
          <p:nvPr/>
        </p:nvSpPr>
        <p:spPr>
          <a:xfrm>
            <a:off x="1092200" y="2031999"/>
            <a:ext cx="3835400" cy="800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Protect Hospital, Water, and Bakery demand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2CC7513-2E19-9ADE-9007-E0E0D55AA9AE}"/>
              </a:ext>
            </a:extLst>
          </p:cNvPr>
          <p:cNvCxnSpPr/>
          <p:nvPr/>
        </p:nvCxnSpPr>
        <p:spPr>
          <a:xfrm>
            <a:off x="736600" y="30226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FD2C7CA-30EA-7B62-FF64-B79365967114}"/>
              </a:ext>
            </a:extLst>
          </p:cNvPr>
          <p:cNvSpPr txBox="1"/>
          <p:nvPr/>
        </p:nvSpPr>
        <p:spPr>
          <a:xfrm>
            <a:off x="1092200" y="2870199"/>
            <a:ext cx="3835400" cy="800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Use available supply without exceeding it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6B20904-B8C8-E38F-C945-49E327BA1F4A}"/>
              </a:ext>
            </a:extLst>
          </p:cNvPr>
          <p:cNvCxnSpPr/>
          <p:nvPr/>
        </p:nvCxnSpPr>
        <p:spPr>
          <a:xfrm>
            <a:off x="736600" y="38608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E32FD062-7FEC-6935-6BF6-6D207BBE3FDD}"/>
              </a:ext>
            </a:extLst>
          </p:cNvPr>
          <p:cNvSpPr txBox="1"/>
          <p:nvPr/>
        </p:nvSpPr>
        <p:spPr>
          <a:xfrm>
            <a:off x="1092200" y="3708399"/>
            <a:ext cx="3835400" cy="8001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>
                <a:solidFill>
                  <a:srgbClr val="F3F0E8"/>
                </a:solidFill>
                <a:latin typeface="Aptos" panose="020B0004020202020204" pitchFamily="34" charset="0"/>
              </a:rPr>
              <a:t>Share service across seven modeled localities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3687734-9E18-3135-9C9E-A15B702AF5C1}"/>
              </a:ext>
            </a:extLst>
          </p:cNvPr>
          <p:cNvSpPr/>
          <p:nvPr/>
        </p:nvSpPr>
        <p:spPr>
          <a:xfrm>
            <a:off x="5397500" y="1778000"/>
            <a:ext cx="6159500" cy="3467100"/>
          </a:xfrm>
          <a:prstGeom prst="roundRect">
            <a:avLst/>
          </a:prstGeom>
          <a:solidFill>
            <a:srgbClr val="102A3B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 descr="Overview showing seven administrative locality boundaries and frozen outcomes">
            <a:extLst>
              <a:ext uri="{FF2B5EF4-FFF2-40B4-BE49-F238E27FC236}">
                <a16:creationId xmlns:a16="http://schemas.microsoft.com/office/drawing/2014/main" id="{AF5D3578-F201-F610-657F-443C9A55E5C1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86400" y="1866900"/>
            <a:ext cx="5981700" cy="33655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DD9694C1-379E-A770-D9E9-651767172173}"/>
              </a:ext>
            </a:extLst>
          </p:cNvPr>
          <p:cNvSpPr txBox="1"/>
          <p:nvPr/>
        </p:nvSpPr>
        <p:spPr>
          <a:xfrm>
            <a:off x="736600" y="5562599"/>
            <a:ext cx="10033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3FC6AC"/>
                </a:solidFill>
                <a:latin typeface="Aptos" panose="020B0004020202020204" pitchFamily="34" charset="0"/>
              </a:rPr>
              <a:t>Synthetic decision support - not a live grid controller</a:t>
            </a:r>
          </a:p>
        </p:txBody>
      </p:sp>
    </p:spTree>
    <p:extLst>
      <p:ext uri="{BB962C8B-B14F-4D97-AF65-F5344CB8AC3E}">
        <p14:creationId xmlns:p14="http://schemas.microsoft.com/office/powerpoint/2010/main" val="4428970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4CF0F3-0408-F5AA-416B-5E76F9D81A82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0882362-6390-5090-A29F-E4B01B77E519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E8CAE7F-CB1D-FBC6-3641-600F68DD5B4D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B0742E-3FE2-7F4A-72E6-F342F2930327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BCB82C-6A17-3B2B-9F15-508A73A912DC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controller evidence path is isolated from presentation context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F083351-0B4E-0032-C457-184DA0ADB757}"/>
              </a:ext>
            </a:extLst>
          </p:cNvPr>
          <p:cNvCxnSpPr/>
          <p:nvPr/>
        </p:nvCxnSpPr>
        <p:spPr>
          <a:xfrm>
            <a:off x="23749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495474F-648A-79FE-0F15-37D7C8968C73}"/>
              </a:ext>
            </a:extLst>
          </p:cNvPr>
          <p:cNvCxnSpPr/>
          <p:nvPr/>
        </p:nvCxnSpPr>
        <p:spPr>
          <a:xfrm>
            <a:off x="45974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EFCBBA2-7517-1AF0-7663-6941CB30006D}"/>
              </a:ext>
            </a:extLst>
          </p:cNvPr>
          <p:cNvCxnSpPr/>
          <p:nvPr/>
        </p:nvCxnSpPr>
        <p:spPr>
          <a:xfrm>
            <a:off x="68199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C6B4CE2-29FF-B24B-5171-680E01F0898A}"/>
              </a:ext>
            </a:extLst>
          </p:cNvPr>
          <p:cNvCxnSpPr/>
          <p:nvPr/>
        </p:nvCxnSpPr>
        <p:spPr>
          <a:xfrm>
            <a:off x="9042400" y="2921000"/>
            <a:ext cx="6477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AC5CEDED-DA95-59C1-7ABD-486ECBEF1956}"/>
              </a:ext>
            </a:extLst>
          </p:cNvPr>
          <p:cNvSpPr/>
          <p:nvPr/>
        </p:nvSpPr>
        <p:spPr>
          <a:xfrm>
            <a:off x="800100" y="2336800"/>
            <a:ext cx="15748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65ED5C-11C6-A334-526D-D7B4D417519B}"/>
              </a:ext>
            </a:extLst>
          </p:cNvPr>
          <p:cNvSpPr txBox="1"/>
          <p:nvPr/>
        </p:nvSpPr>
        <p:spPr>
          <a:xfrm>
            <a:off x="8890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Seeded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scenarios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70E7D94-36EE-0E9E-116F-4FD1CD022333}"/>
              </a:ext>
            </a:extLst>
          </p:cNvPr>
          <p:cNvSpPr/>
          <p:nvPr/>
        </p:nvSpPr>
        <p:spPr>
          <a:xfrm>
            <a:off x="3022600" y="2336800"/>
            <a:ext cx="15748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2B0B24-13A4-5AFE-95EA-4685A8EE083F}"/>
              </a:ext>
            </a:extLst>
          </p:cNvPr>
          <p:cNvSpPr txBox="1"/>
          <p:nvPr/>
        </p:nvSpPr>
        <p:spPr>
          <a:xfrm>
            <a:off x="31115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Shared CUDA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tensors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5CADE38-36B5-8683-1A28-0B4CE63BBFDF}"/>
              </a:ext>
            </a:extLst>
          </p:cNvPr>
          <p:cNvSpPr/>
          <p:nvPr/>
        </p:nvSpPr>
        <p:spPr>
          <a:xfrm>
            <a:off x="5245100" y="2336800"/>
            <a:ext cx="1574800" cy="1168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26D17F-4053-9552-2728-BE626CD95E9B}"/>
              </a:ext>
            </a:extLst>
          </p:cNvPr>
          <p:cNvSpPr txBox="1"/>
          <p:nvPr/>
        </p:nvSpPr>
        <p:spPr>
          <a:xfrm>
            <a:off x="53340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PPO and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103170F-7471-3F32-4E53-31DE40DBCF34}"/>
              </a:ext>
            </a:extLst>
          </p:cNvPr>
          <p:cNvSpPr/>
          <p:nvPr/>
        </p:nvSpPr>
        <p:spPr>
          <a:xfrm>
            <a:off x="7467600" y="2336800"/>
            <a:ext cx="1574800" cy="11684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B904DE-BCCE-B60C-C02D-3F31C41EBA97}"/>
              </a:ext>
            </a:extLst>
          </p:cNvPr>
          <p:cNvSpPr txBox="1"/>
          <p:nvPr/>
        </p:nvSpPr>
        <p:spPr>
          <a:xfrm>
            <a:off x="75565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Paired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evidence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4403B61-0FE6-083B-387D-6883E58E7767}"/>
              </a:ext>
            </a:extLst>
          </p:cNvPr>
          <p:cNvSpPr/>
          <p:nvPr/>
        </p:nvSpPr>
        <p:spPr>
          <a:xfrm>
            <a:off x="9690100" y="2336800"/>
            <a:ext cx="1574800" cy="1168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5F4A99-2552-C82B-5C42-F1C8A495EBB5}"/>
              </a:ext>
            </a:extLst>
          </p:cNvPr>
          <p:cNvSpPr txBox="1"/>
          <p:nvPr/>
        </p:nvSpPr>
        <p:spPr>
          <a:xfrm>
            <a:off x="9779000" y="2578099"/>
            <a:ext cx="1397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Desktop</a:t>
            </a:r>
          </a:p>
          <a:p>
            <a:pPr algn="ctr"/>
            <a:r>
              <a:rPr lang="en-US" sz="1700" b="1">
                <a:solidFill>
                  <a:srgbClr val="F3F0E8"/>
                </a:solidFill>
                <a:latin typeface="Aptos" panose="020B0004020202020204" pitchFamily="34" charset="0"/>
              </a:rPr>
              <a:t>replay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F5E9FE7-F5AC-E9D6-8079-A0C895A6A9F3}"/>
              </a:ext>
            </a:extLst>
          </p:cNvPr>
          <p:cNvSpPr txBox="1"/>
          <p:nvPr/>
        </p:nvSpPr>
        <p:spPr>
          <a:xfrm>
            <a:off x="736600" y="4063999"/>
            <a:ext cx="292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13232E"/>
                </a:solidFill>
                <a:latin typeface="Aptos" panose="020B0004020202020204" pitchFamily="34" charset="0"/>
              </a:rPr>
              <a:t>Controller evidence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1831B05F-EBF6-7862-0F0F-ADB955985385}"/>
              </a:ext>
            </a:extLst>
          </p:cNvPr>
          <p:cNvCxnSpPr/>
          <p:nvPr/>
        </p:nvCxnSpPr>
        <p:spPr>
          <a:xfrm>
            <a:off x="736600" y="4508500"/>
            <a:ext cx="106934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D8CE97A7-88C4-E8BD-37FE-39146C346687}"/>
              </a:ext>
            </a:extLst>
          </p:cNvPr>
          <p:cNvSpPr txBox="1"/>
          <p:nvPr/>
        </p:nvSpPr>
        <p:spPr>
          <a:xfrm>
            <a:off x="736600" y="4825999"/>
            <a:ext cx="2413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Demand projection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DDF58C2-BB79-55A9-A3A4-FA6CD210E0B3}"/>
              </a:ext>
            </a:extLst>
          </p:cNvPr>
          <p:cNvSpPr txBox="1"/>
          <p:nvPr/>
        </p:nvSpPr>
        <p:spPr>
          <a:xfrm>
            <a:off x="3175000" y="4825999"/>
            <a:ext cx="8382000" cy="635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60727D"/>
                </a:solidFill>
                <a:latin typeface="Aptos" panose="020B0004020202020204" pitchFamily="34" charset="0"/>
              </a:rPr>
              <a:t>Display only - never enters PPO, dispatch, training objective, or benchmark evidence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5ED4BC8-1E9A-F29E-6C9E-1C594820DDDB}"/>
              </a:ext>
            </a:extLst>
          </p:cNvPr>
          <p:cNvSpPr txBox="1"/>
          <p:nvPr/>
        </p:nvSpPr>
        <p:spPr>
          <a:xfrm>
            <a:off x="736600" y="5689599"/>
            <a:ext cx="1041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Offline after installation  |  hash-bound artifacts  |  fail-closed startup</a:t>
            </a:r>
          </a:p>
        </p:txBody>
      </p:sp>
    </p:spTree>
    <p:extLst>
      <p:ext uri="{BB962C8B-B14F-4D97-AF65-F5344CB8AC3E}">
        <p14:creationId xmlns:p14="http://schemas.microsoft.com/office/powerpoint/2010/main" val="14989527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B46F43-024F-0AAC-1212-659E9E688B5C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F9DB25B-1BAA-E530-80C7-486B12F5F1AE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8634E80-4301-B8B6-5595-515A115D8296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048670-D933-3228-AD8B-AA0B869CAEAF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4AABC3-22F6-DA33-C5BF-DC450ED35967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PPO and Fixed Rotation receive the same scenario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F92BC8-A575-A4EB-ACC4-EC739053A59E}"/>
              </a:ext>
            </a:extLst>
          </p:cNvPr>
          <p:cNvSpPr/>
          <p:nvPr/>
        </p:nvSpPr>
        <p:spPr>
          <a:xfrm>
            <a:off x="787400" y="1981200"/>
            <a:ext cx="2997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84E885-5280-10CC-3F04-2B131EF9F65A}"/>
              </a:ext>
            </a:extLst>
          </p:cNvPr>
          <p:cNvSpPr txBox="1"/>
          <p:nvPr/>
        </p:nvSpPr>
        <p:spPr>
          <a:xfrm>
            <a:off x="965200" y="2133599"/>
            <a:ext cx="2641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320 independent base draws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551DAA-BC69-5CE3-EC2C-CD6F22F6F6B0}"/>
              </a:ext>
            </a:extLst>
          </p:cNvPr>
          <p:cNvSpPr txBox="1"/>
          <p:nvPr/>
        </p:nvSpPr>
        <p:spPr>
          <a:xfrm>
            <a:off x="965200" y="2946399"/>
            <a:ext cx="2641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10 seeds x 32 episodes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82F420-4081-AFDA-B26B-F4030F6DD755}"/>
              </a:ext>
            </a:extLst>
          </p:cNvPr>
          <p:cNvSpPr txBox="1"/>
          <p:nvPr/>
        </p:nvSpPr>
        <p:spPr>
          <a:xfrm>
            <a:off x="787400" y="3632199"/>
            <a:ext cx="106172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Documented-seed-disjoint holdout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1BBCE7-78E5-1D68-4C8C-A86B484F4612}"/>
              </a:ext>
            </a:extLst>
          </p:cNvPr>
          <p:cNvSpPr txBox="1"/>
          <p:nvPr/>
        </p:nvSpPr>
        <p:spPr>
          <a:xfrm>
            <a:off x="3937000" y="2438399"/>
            <a:ext cx="1016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000" b="1">
                <a:solidFill>
                  <a:srgbClr val="E0B957"/>
                </a:solidFill>
                <a:latin typeface="Aptos" panose="020B0004020202020204" pitchFamily="34" charset="0"/>
              </a:rPr>
              <a:t>x 3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9445A692-B7AB-6753-78BE-E189D887280C}"/>
              </a:ext>
            </a:extLst>
          </p:cNvPr>
          <p:cNvSpPr/>
          <p:nvPr/>
        </p:nvSpPr>
        <p:spPr>
          <a:xfrm>
            <a:off x="5080000" y="1981200"/>
            <a:ext cx="2768600" cy="16002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083DF2-30AB-82B9-58E0-11FF0D22F557}"/>
              </a:ext>
            </a:extLst>
          </p:cNvPr>
          <p:cNvSpPr txBox="1"/>
          <p:nvPr/>
        </p:nvSpPr>
        <p:spPr>
          <a:xfrm>
            <a:off x="5257800" y="2133599"/>
            <a:ext cx="2413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071923"/>
                </a:solidFill>
                <a:latin typeface="Aptos" panose="020B0004020202020204" pitchFamily="34" charset="0"/>
              </a:rPr>
              <a:t>960 matched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979D04-7705-9893-3ABA-88DB8896300C}"/>
              </a:ext>
            </a:extLst>
          </p:cNvPr>
          <p:cNvSpPr txBox="1"/>
          <p:nvPr/>
        </p:nvSpPr>
        <p:spPr>
          <a:xfrm>
            <a:off x="5257800" y="2946399"/>
            <a:ext cx="2413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Mild, Moderate, Severe shortage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C6D29F-8E55-19C6-04D0-7935FB2BB2CD}"/>
              </a:ext>
            </a:extLst>
          </p:cNvPr>
          <p:cNvSpPr txBox="1"/>
          <p:nvPr/>
        </p:nvSpPr>
        <p:spPr>
          <a:xfrm>
            <a:off x="8001000" y="2438399"/>
            <a:ext cx="1016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000" b="1">
                <a:solidFill>
                  <a:srgbClr val="E0B957"/>
                </a:solidFill>
                <a:latin typeface="Aptos" panose="020B0004020202020204" pitchFamily="34" charset="0"/>
              </a:rPr>
              <a:t>x 2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A739083-38E1-F2A7-A248-CC72AF8A91B0}"/>
              </a:ext>
            </a:extLst>
          </p:cNvPr>
          <p:cNvSpPr/>
          <p:nvPr/>
        </p:nvSpPr>
        <p:spPr>
          <a:xfrm>
            <a:off x="9144000" y="1981200"/>
            <a:ext cx="22606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2495D8-D513-E9D7-D372-DE87CB0354ED}"/>
              </a:ext>
            </a:extLst>
          </p:cNvPr>
          <p:cNvSpPr txBox="1"/>
          <p:nvPr/>
        </p:nvSpPr>
        <p:spPr>
          <a:xfrm>
            <a:off x="9321800" y="2133599"/>
            <a:ext cx="1905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1920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360196-DC01-8BBD-6EF4-E5C21F61CFFF}"/>
              </a:ext>
            </a:extLst>
          </p:cNvPr>
          <p:cNvSpPr txBox="1"/>
          <p:nvPr/>
        </p:nvSpPr>
        <p:spPr>
          <a:xfrm>
            <a:off x="9321800" y="2946399"/>
            <a:ext cx="1905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controller-scenario evaluations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0621D2B-7989-DBA2-EA93-7E8AEF2A0B6C}"/>
              </a:ext>
            </a:extLst>
          </p:cNvPr>
          <p:cNvCxnSpPr/>
          <p:nvPr/>
        </p:nvCxnSpPr>
        <p:spPr>
          <a:xfrm>
            <a:off x="787400" y="4038600"/>
            <a:ext cx="106172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277A425-C4D3-68F6-A703-AB80FE3850F2}"/>
              </a:ext>
            </a:extLst>
          </p:cNvPr>
          <p:cNvSpPr txBox="1"/>
          <p:nvPr/>
        </p:nvSpPr>
        <p:spPr>
          <a:xfrm>
            <a:off x="889000" y="4444999"/>
            <a:ext cx="22225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3FC6AC"/>
                </a:solidFill>
                <a:latin typeface="Aptos" panose="020B0004020202020204" pitchFamily="34" charset="0"/>
              </a:rPr>
              <a:t>PPO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044164-8CFB-CD0C-0505-D0FEF4B08D98}"/>
              </a:ext>
            </a:extLst>
          </p:cNvPr>
          <p:cNvSpPr txBox="1"/>
          <p:nvPr/>
        </p:nvSpPr>
        <p:spPr>
          <a:xfrm>
            <a:off x="889000" y="4902199"/>
            <a:ext cx="3683000" cy="685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32-value observation</a:t>
            </a:r>
          </a:p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7-locality joint action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9D95C2-C796-EB87-FA53-399ED8C4DBF9}"/>
              </a:ext>
            </a:extLst>
          </p:cNvPr>
          <p:cNvSpPr txBox="1"/>
          <p:nvPr/>
        </p:nvSpPr>
        <p:spPr>
          <a:xfrm>
            <a:off x="6540500" y="4444999"/>
            <a:ext cx="2921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 b="1">
                <a:solidFill>
                  <a:srgbClr val="E0B957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F771E7-C4A0-D4F5-820D-D3400182C4B4}"/>
              </a:ext>
            </a:extLst>
          </p:cNvPr>
          <p:cNvSpPr txBox="1"/>
          <p:nvPr/>
        </p:nvSpPr>
        <p:spPr>
          <a:xfrm>
            <a:off x="6540500" y="4902199"/>
            <a:ext cx="4191000" cy="685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Three-hour schedule blocks</a:t>
            </a:r>
          </a:p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No demand or fairness observation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0C84807-1A6F-48AB-C0B2-16D832D12422}"/>
              </a:ext>
            </a:extLst>
          </p:cNvPr>
          <p:cNvSpPr txBox="1"/>
          <p:nvPr/>
        </p:nvSpPr>
        <p:spPr>
          <a:xfrm>
            <a:off x="3175000" y="5816599"/>
            <a:ext cx="5842000" cy="330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Every stored delta is PPO - Fixed Rotation</a:t>
            </a:r>
          </a:p>
        </p:txBody>
      </p:sp>
    </p:spTree>
    <p:extLst>
      <p:ext uri="{BB962C8B-B14F-4D97-AF65-F5344CB8AC3E}">
        <p14:creationId xmlns:p14="http://schemas.microsoft.com/office/powerpoint/2010/main" val="19670723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7904472-C98E-B7E6-369F-A12CE83ECDA0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6B919D22-DF8A-9EDF-40E7-26C5A3657CAE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78A8F97F-AB0C-5AAA-D347-45185B86A164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438FA7-4ECD-F3AF-F771-358698AF86D1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9204E0-56AA-08AB-20D3-CB6C583ABACA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PPO checkpoint has a historical training record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3A15460-2D17-E4A9-E712-827511363C3D}"/>
              </a:ext>
            </a:extLst>
          </p:cNvPr>
          <p:cNvSpPr/>
          <p:nvPr/>
        </p:nvSpPr>
        <p:spPr>
          <a:xfrm>
            <a:off x="736600" y="1879600"/>
            <a:ext cx="10718800" cy="990600"/>
          </a:xfrm>
          <a:prstGeom prst="roundRect">
            <a:avLst/>
          </a:prstGeom>
          <a:solidFill>
            <a:srgbClr val="E4F4F0"/>
          </a:solidFill>
          <a:ln w="15240">
            <a:solidFill>
              <a:srgbClr val="3FC6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562184-C492-233A-80B9-5344C8FC0DFE}"/>
              </a:ext>
            </a:extLst>
          </p:cNvPr>
          <p:cNvSpPr txBox="1"/>
          <p:nvPr/>
        </p:nvSpPr>
        <p:spPr>
          <a:xfrm>
            <a:off x="965200" y="2070099"/>
            <a:ext cx="1397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Network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D61DE2-74F0-3AFD-635C-E0C15E5872D6}"/>
              </a:ext>
            </a:extLst>
          </p:cNvPr>
          <p:cNvSpPr txBox="1"/>
          <p:nvPr/>
        </p:nvSpPr>
        <p:spPr>
          <a:xfrm>
            <a:off x="965200" y="2387599"/>
            <a:ext cx="3175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 b="1">
                <a:solidFill>
                  <a:srgbClr val="13232E"/>
                </a:solidFill>
                <a:latin typeface="Aptos" panose="020B0004020202020204" pitchFamily="34" charset="0"/>
              </a:rPr>
              <a:t>32 -&gt; 512 -&gt; 512 -&gt; 2187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4F1728-2DBD-5F68-8F2A-46E442461092}"/>
              </a:ext>
            </a:extLst>
          </p:cNvPr>
          <p:cNvSpPr txBox="1"/>
          <p:nvPr/>
        </p:nvSpPr>
        <p:spPr>
          <a:xfrm>
            <a:off x="4495800" y="2070099"/>
            <a:ext cx="2413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Selected checkpoint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9D84F5-18CE-6E66-3A53-8218017AD262}"/>
              </a:ext>
            </a:extLst>
          </p:cNvPr>
          <p:cNvSpPr txBox="1"/>
          <p:nvPr/>
        </p:nvSpPr>
        <p:spPr>
          <a:xfrm>
            <a:off x="4495800" y="2387599"/>
            <a:ext cx="3302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 b="1">
                <a:solidFill>
                  <a:srgbClr val="13232E"/>
                </a:solidFill>
                <a:latin typeface="Aptos" panose="020B0004020202020204" pitchFamily="34" charset="0"/>
              </a:rPr>
              <a:t>iteration 510  |  seed 43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A26BE46-6495-4615-A80B-10ADFE2E69EC}"/>
              </a:ext>
            </a:extLst>
          </p:cNvPr>
          <p:cNvSpPr txBox="1"/>
          <p:nvPr/>
        </p:nvSpPr>
        <p:spPr>
          <a:xfrm>
            <a:off x="8356600" y="2070099"/>
            <a:ext cx="1905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Validation seeds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AF1F138-CD3B-E001-7FF5-F462112665E7}"/>
              </a:ext>
            </a:extLst>
          </p:cNvPr>
          <p:cNvSpPr txBox="1"/>
          <p:nvPr/>
        </p:nvSpPr>
        <p:spPr>
          <a:xfrm>
            <a:off x="8356600" y="23875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13232E"/>
                </a:solidFill>
                <a:latin typeface="Aptos" panose="020B0004020202020204" pitchFamily="34" charset="0"/>
              </a:rPr>
              <a:t>70000, 70001, 70002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3B1AB7-E85F-049E-D327-FBDB267C6907}"/>
              </a:ext>
            </a:extLst>
          </p:cNvPr>
          <p:cNvSpPr txBox="1"/>
          <p:nvPr/>
        </p:nvSpPr>
        <p:spPr>
          <a:xfrm>
            <a:off x="812800" y="3276599"/>
            <a:ext cx="3810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100" b="1">
                <a:solidFill>
                  <a:srgbClr val="3FC6AC"/>
                </a:solidFill>
                <a:latin typeface="Aptos" panose="020B0004020202020204" pitchFamily="34" charset="0"/>
              </a:rPr>
              <a:t>Historical initialization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D87BEE6-F523-6021-ADD7-80F667DFBF75}"/>
              </a:ext>
            </a:extLst>
          </p:cNvPr>
          <p:cNvCxnSpPr/>
          <p:nvPr/>
        </p:nvCxnSpPr>
        <p:spPr>
          <a:xfrm>
            <a:off x="812800" y="39370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EEFFC9A3-43B0-78C5-E863-772221D2E7E8}"/>
              </a:ext>
            </a:extLst>
          </p:cNvPr>
          <p:cNvSpPr txBox="1"/>
          <p:nvPr/>
        </p:nvSpPr>
        <p:spPr>
          <a:xfrm>
            <a:off x="1168400" y="37845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100 epochs  |  32768 teacher samples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96BDB0F9-D74C-FFAD-ED08-7CFC7BD08878}"/>
              </a:ext>
            </a:extLst>
          </p:cNvPr>
          <p:cNvCxnSpPr/>
          <p:nvPr/>
        </p:nvCxnSpPr>
        <p:spPr>
          <a:xfrm>
            <a:off x="812800" y="4368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E6F68BE-5C98-9C24-11F6-9515DEED7281}"/>
              </a:ext>
            </a:extLst>
          </p:cNvPr>
          <p:cNvSpPr txBox="1"/>
          <p:nvPr/>
        </p:nvSpPr>
        <p:spPr>
          <a:xfrm>
            <a:off x="1168400" y="42163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1600 initialization optimizer updates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5080366-CA6E-7553-1C3C-9B45B922697F}"/>
              </a:ext>
            </a:extLst>
          </p:cNvPr>
          <p:cNvCxnSpPr/>
          <p:nvPr/>
        </p:nvCxnSpPr>
        <p:spPr>
          <a:xfrm>
            <a:off x="812800" y="48006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7FEAF728-C7E3-5989-4C5F-FFD430486FE8}"/>
              </a:ext>
            </a:extLst>
          </p:cNvPr>
          <p:cNvSpPr txBox="1"/>
          <p:nvPr/>
        </p:nvSpPr>
        <p:spPr>
          <a:xfrm>
            <a:off x="1168400" y="46481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Selected seed 43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2CD9C4C2-B0EB-9184-712E-2CDC3E94E248}"/>
              </a:ext>
            </a:extLst>
          </p:cNvPr>
          <p:cNvCxnSpPr/>
          <p:nvPr/>
        </p:nvCxnSpPr>
        <p:spPr>
          <a:xfrm>
            <a:off x="812800" y="52324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F107D80-23B7-714B-2F7B-69E20885F279}"/>
              </a:ext>
            </a:extLst>
          </p:cNvPr>
          <p:cNvSpPr txBox="1"/>
          <p:nvPr/>
        </p:nvSpPr>
        <p:spPr>
          <a:xfrm>
            <a:off x="1168400" y="50799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600 PPO iterations  |  153,600 episodes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B0F30B2-FAEF-B81F-4F52-55C5B4F8CF58}"/>
              </a:ext>
            </a:extLst>
          </p:cNvPr>
          <p:cNvCxnSpPr/>
          <p:nvPr/>
        </p:nvCxnSpPr>
        <p:spPr>
          <a:xfrm>
            <a:off x="812800" y="56642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F59631F6-6158-0FF4-1C71-FC699FA56D89}"/>
              </a:ext>
            </a:extLst>
          </p:cNvPr>
          <p:cNvSpPr txBox="1"/>
          <p:nvPr/>
        </p:nvSpPr>
        <p:spPr>
          <a:xfrm>
            <a:off x="1168400" y="5511799"/>
            <a:ext cx="4978400" cy="3937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3,686,400 transitions  |  learning rate 0.0001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F42986-EEE7-5FFE-F91C-E5F3C2345D65}"/>
              </a:ext>
            </a:extLst>
          </p:cNvPr>
          <p:cNvSpPr txBox="1"/>
          <p:nvPr/>
        </p:nvSpPr>
        <p:spPr>
          <a:xfrm>
            <a:off x="6807200" y="3276599"/>
            <a:ext cx="4445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000" b="1">
                <a:solidFill>
                  <a:srgbClr val="E0B957"/>
                </a:solidFill>
                <a:latin typeface="Aptos" panose="020B0004020202020204" pitchFamily="34" charset="0"/>
              </a:rPr>
              <a:t>Training-objective score (diagnostic)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A0CF4A5-2C57-487C-D4CE-CC77ACF137F0}"/>
              </a:ext>
            </a:extLst>
          </p:cNvPr>
          <p:cNvSpPr txBox="1"/>
          <p:nvPr/>
        </p:nvSpPr>
        <p:spPr>
          <a:xfrm>
            <a:off x="6807200" y="3835399"/>
            <a:ext cx="2159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800" b="1">
                <a:solidFill>
                  <a:srgbClr val="3FC6AC"/>
                </a:solidFill>
                <a:latin typeface="Aptos" panose="020B0004020202020204" pitchFamily="34" charset="0"/>
              </a:rPr>
              <a:t>23.51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EC55D0-884B-5A25-12EC-D2A0F583DC71}"/>
              </a:ext>
            </a:extLst>
          </p:cNvPr>
          <p:cNvSpPr txBox="1"/>
          <p:nvPr/>
        </p:nvSpPr>
        <p:spPr>
          <a:xfrm>
            <a:off x="6807200" y="4546599"/>
            <a:ext cx="2667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selected iteration 510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9EB0A6-A7DF-A40F-8290-2A0DAFF7A684}"/>
              </a:ext>
            </a:extLst>
          </p:cNvPr>
          <p:cNvSpPr txBox="1"/>
          <p:nvPr/>
        </p:nvSpPr>
        <p:spPr>
          <a:xfrm>
            <a:off x="9499600" y="3835399"/>
            <a:ext cx="17780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800" b="1">
                <a:solidFill>
                  <a:srgbClr val="60727D"/>
                </a:solidFill>
                <a:latin typeface="Aptos" panose="020B0004020202020204" pitchFamily="34" charset="0"/>
              </a:rPr>
              <a:t>15.07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912F28-D80F-13C3-DA6F-A16396AA6B2B}"/>
              </a:ext>
            </a:extLst>
          </p:cNvPr>
          <p:cNvSpPr txBox="1"/>
          <p:nvPr/>
        </p:nvSpPr>
        <p:spPr>
          <a:xfrm>
            <a:off x="9499600" y="4546599"/>
            <a:ext cx="177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untrained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7A648DC-8459-2DC2-B5A9-BD45F84F064E}"/>
              </a:ext>
            </a:extLst>
          </p:cNvPr>
          <p:cNvSpPr txBox="1"/>
          <p:nvPr/>
        </p:nvSpPr>
        <p:spPr>
          <a:xfrm>
            <a:off x="6807200" y="5016499"/>
            <a:ext cx="4445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E0B957"/>
                </a:solidFill>
                <a:latin typeface="Aptos" panose="020B0004020202020204" pitchFamily="34" charset="0"/>
              </a:rPr>
              <a:t>Three-seed candidate experiment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60E426E-2055-6986-B297-EAD87224B20C}"/>
              </a:ext>
            </a:extLst>
          </p:cNvPr>
          <p:cNvSpPr txBox="1"/>
          <p:nvPr/>
        </p:nvSpPr>
        <p:spPr>
          <a:xfrm>
            <a:off x="6807200" y="5372099"/>
            <a:ext cx="4445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1,800 iterations  |  460,800 episodes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A0F063-C533-72FC-5094-2A15C9598F80}"/>
              </a:ext>
            </a:extLst>
          </p:cNvPr>
          <p:cNvSpPr txBox="1"/>
          <p:nvPr/>
        </p:nvSpPr>
        <p:spPr>
          <a:xfrm>
            <a:off x="6807200" y="5702299"/>
            <a:ext cx="4445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11,059,200 transitions total</a:t>
            </a:r>
          </a:p>
        </p:txBody>
      </p:sp>
    </p:spTree>
    <p:extLst>
      <p:ext uri="{BB962C8B-B14F-4D97-AF65-F5344CB8AC3E}">
        <p14:creationId xmlns:p14="http://schemas.microsoft.com/office/powerpoint/2010/main" val="597389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FBBE9B4-2465-E1C8-0728-92685A457B00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D7C9CA5-EE5E-6B77-5CA7-5CC6BA11B26F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D95D222-838C-91E1-7E41-3F98C2A69106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164E32C-7E14-0D4A-D19A-FF8FE0E2C3E6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5BBF17-3268-9E06-6010-FC4238DB80F1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GPU-first simulation, PPO inference, and paired bootstrap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C09F615-3B44-646C-E766-A58D5758D17F}"/>
              </a:ext>
            </a:extLst>
          </p:cNvPr>
          <p:cNvCxnSpPr/>
          <p:nvPr/>
        </p:nvCxnSpPr>
        <p:spPr>
          <a:xfrm>
            <a:off x="2540000" y="3009900"/>
            <a:ext cx="20955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98F579F-3396-30DA-1F7D-BB78F97B29C6}"/>
              </a:ext>
            </a:extLst>
          </p:cNvPr>
          <p:cNvCxnSpPr/>
          <p:nvPr/>
        </p:nvCxnSpPr>
        <p:spPr>
          <a:xfrm>
            <a:off x="6794500" y="3009900"/>
            <a:ext cx="2095500" cy="0"/>
          </a:xfrm>
          <a:prstGeom prst="line">
            <a:avLst/>
          </a:prstGeom>
          <a:ln w="31750">
            <a:solidFill>
              <a:srgbClr val="E0B957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3AC890C-E878-1B42-64C3-EE8478B549A3}"/>
              </a:ext>
            </a:extLst>
          </p:cNvPr>
          <p:cNvSpPr/>
          <p:nvPr/>
        </p:nvSpPr>
        <p:spPr>
          <a:xfrm>
            <a:off x="889000" y="2184400"/>
            <a:ext cx="2413000" cy="16256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0FD82E-E4C4-160B-DFFC-450D9D5B517A}"/>
              </a:ext>
            </a:extLst>
          </p:cNvPr>
          <p:cNvSpPr txBox="1"/>
          <p:nvPr/>
        </p:nvSpPr>
        <p:spPr>
          <a:xfrm>
            <a:off x="1079500" y="2451099"/>
            <a:ext cx="20320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500" b="1">
                <a:solidFill>
                  <a:srgbClr val="F3F0E8"/>
                </a:solidFill>
                <a:latin typeface="Aptos" panose="020B0004020202020204" pitchFamily="34" charset="0"/>
              </a:rPr>
              <a:t>PyTorch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522E61-EACC-067E-5F56-D94FAE7BA4D7}"/>
              </a:ext>
            </a:extLst>
          </p:cNvPr>
          <p:cNvSpPr txBox="1"/>
          <p:nvPr/>
        </p:nvSpPr>
        <p:spPr>
          <a:xfrm>
            <a:off x="1079500" y="2933699"/>
            <a:ext cx="20320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it-IT" sz="1600">
                <a:solidFill>
                  <a:srgbClr val="83939D"/>
                </a:solidFill>
                <a:latin typeface="Aptos" panose="020B0004020202020204" pitchFamily="34" charset="0"/>
              </a:rPr>
              <a:t>scenario tensors</a:t>
            </a:r>
          </a:p>
          <a:p>
            <a:pPr algn="ctr"/>
            <a:r>
              <a:rPr lang="it-IT" sz="1600">
                <a:solidFill>
                  <a:srgbClr val="83939D"/>
                </a:solidFill>
                <a:latin typeface="Aptos" panose="020B0004020202020204" pitchFamily="34" charset="0"/>
              </a:rPr>
              <a:t>simulation</a:t>
            </a:r>
          </a:p>
          <a:p>
            <a:pPr algn="ctr"/>
            <a:r>
              <a:rPr lang="it-IT" sz="1600">
                <a:solidFill>
                  <a:srgbClr val="83939D"/>
                </a:solidFill>
                <a:latin typeface="Aptos" panose="020B0004020202020204" pitchFamily="34" charset="0"/>
              </a:rPr>
              <a:t>PPO inference</a:t>
            </a:r>
            <a:endParaRPr lang="en-US" sz="1600">
              <a:solidFill>
                <a:srgbClr val="83939D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8CA157-0493-D6A3-3614-456FC1D06039}"/>
              </a:ext>
            </a:extLst>
          </p:cNvPr>
          <p:cNvSpPr/>
          <p:nvPr/>
        </p:nvSpPr>
        <p:spPr>
          <a:xfrm>
            <a:off x="4889500" y="1968500"/>
            <a:ext cx="2108200" cy="20828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68CDF42-A356-3C3C-2828-73FD5D6AF142}"/>
              </a:ext>
            </a:extLst>
          </p:cNvPr>
          <p:cNvSpPr txBox="1"/>
          <p:nvPr/>
        </p:nvSpPr>
        <p:spPr>
          <a:xfrm>
            <a:off x="5105400" y="2514599"/>
            <a:ext cx="1676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3100" b="1">
                <a:solidFill>
                  <a:srgbClr val="071923"/>
                </a:solidFill>
                <a:latin typeface="Aptos" panose="020B0004020202020204" pitchFamily="34" charset="0"/>
              </a:rPr>
              <a:t>cuda:0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E02975-78B5-40C1-425A-FD828C893F8A}"/>
              </a:ext>
            </a:extLst>
          </p:cNvPr>
          <p:cNvSpPr txBox="1"/>
          <p:nvPr/>
        </p:nvSpPr>
        <p:spPr>
          <a:xfrm>
            <a:off x="5092700" y="3187699"/>
            <a:ext cx="1701800" cy="609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071923"/>
                </a:solidFill>
                <a:latin typeface="Aptos" panose="020B0004020202020204" pitchFamily="34" charset="0"/>
              </a:rPr>
              <a:t>validated</a:t>
            </a:r>
          </a:p>
          <a:p>
            <a:pPr algn="ctr"/>
            <a:r>
              <a:rPr lang="en-US" sz="1600" b="1">
                <a:solidFill>
                  <a:srgbClr val="071923"/>
                </a:solidFill>
                <a:latin typeface="Aptos" panose="020B0004020202020204" pitchFamily="34" charset="0"/>
              </a:rPr>
              <a:t>NVIDIA GPU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C9FED9B-F937-D7DF-8C54-D3288D3713AA}"/>
              </a:ext>
            </a:extLst>
          </p:cNvPr>
          <p:cNvSpPr/>
          <p:nvPr/>
        </p:nvSpPr>
        <p:spPr>
          <a:xfrm>
            <a:off x="8763000" y="2184400"/>
            <a:ext cx="2540000" cy="16256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926FD-4CEC-E286-A166-79C1662B5D51}"/>
              </a:ext>
            </a:extLst>
          </p:cNvPr>
          <p:cNvSpPr txBox="1"/>
          <p:nvPr/>
        </p:nvSpPr>
        <p:spPr>
          <a:xfrm>
            <a:off x="8991600" y="2451099"/>
            <a:ext cx="2082800" cy="406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500" b="1">
                <a:solidFill>
                  <a:srgbClr val="F3F0E8"/>
                </a:solidFill>
                <a:latin typeface="Aptos" panose="020B0004020202020204" pitchFamily="34" charset="0"/>
              </a:rPr>
              <a:t>CuPy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18C291-CE54-FBDA-4497-E2A03B22D555}"/>
              </a:ext>
            </a:extLst>
          </p:cNvPr>
          <p:cNvSpPr txBox="1"/>
          <p:nvPr/>
        </p:nvSpPr>
        <p:spPr>
          <a:xfrm>
            <a:off x="8991600" y="2933699"/>
            <a:ext cx="2082800" cy="812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cluster bootstrap</a:t>
            </a:r>
          </a:p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CUDA sort</a:t>
            </a:r>
          </a:p>
          <a:p>
            <a:pPr algn="ct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linear percentiles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79BBF49-62C9-DA9F-FFEF-D6CDA8044020}"/>
              </a:ext>
            </a:extLst>
          </p:cNvPr>
          <p:cNvCxnSpPr/>
          <p:nvPr/>
        </p:nvCxnSpPr>
        <p:spPr>
          <a:xfrm>
            <a:off x="889000" y="47879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540E6FA-7BB8-13A7-2761-F99DC6E8B0E3}"/>
              </a:ext>
            </a:extLst>
          </p:cNvPr>
          <p:cNvSpPr txBox="1"/>
          <p:nvPr/>
        </p:nvSpPr>
        <p:spPr>
          <a:xfrm>
            <a:off x="1244600" y="4635499"/>
            <a:ext cx="10058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PyTorch 2.8 + CUDA 12.8  |  DLPack sharing with CuPy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426FCB84-9B8D-57CF-3A5D-079F75E25E11}"/>
              </a:ext>
            </a:extLst>
          </p:cNvPr>
          <p:cNvCxnSpPr/>
          <p:nvPr/>
        </p:nvCxnSpPr>
        <p:spPr>
          <a:xfrm>
            <a:off x="889000" y="5257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FE3EDFC-F7DF-A602-1EFA-F43BA459F326}"/>
              </a:ext>
            </a:extLst>
          </p:cNvPr>
          <p:cNvSpPr txBox="1"/>
          <p:nvPr/>
        </p:nvSpPr>
        <p:spPr>
          <a:xfrm>
            <a:off x="1244600" y="5105399"/>
            <a:ext cx="10058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10,000 deterministic seed-stratified bootstrap replicates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28FEE2AB-46FD-6FA5-8D67-B64FC395C2F3}"/>
              </a:ext>
            </a:extLst>
          </p:cNvPr>
          <p:cNvCxnSpPr/>
          <p:nvPr/>
        </p:nvCxnSpPr>
        <p:spPr>
          <a:xfrm>
            <a:off x="889000" y="57277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CF841D7-926E-2330-7B9D-2988A0B05A2E}"/>
              </a:ext>
            </a:extLst>
          </p:cNvPr>
          <p:cNvSpPr txBox="1"/>
          <p:nvPr/>
        </p:nvSpPr>
        <p:spPr>
          <a:xfrm>
            <a:off x="1244600" y="5575299"/>
            <a:ext cx="100584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Scalar validity flags may synchronize; one final bulk transfer assembles evidence</a:t>
            </a:r>
          </a:p>
        </p:txBody>
      </p:sp>
    </p:spTree>
    <p:extLst>
      <p:ext uri="{BB962C8B-B14F-4D97-AF65-F5344CB8AC3E}">
        <p14:creationId xmlns:p14="http://schemas.microsoft.com/office/powerpoint/2010/main" val="2508960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A57882-1F64-84F3-D1BD-933D2CDDF307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08468497-218F-2D9E-D1BC-8EB1D8C5F885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6E798957-2059-7167-591E-90D0AC0CD5A8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8FD7C3-A528-8FF8-A5BC-7A6003414A9F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F55D902-B2A5-5B1B-0F8B-39CB6B60B88F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desktop replays one audited GPU scenario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067AE82-E506-1C68-89FF-F3AACD195B02}"/>
              </a:ext>
            </a:extLst>
          </p:cNvPr>
          <p:cNvSpPr/>
          <p:nvPr/>
        </p:nvSpPr>
        <p:spPr>
          <a:xfrm>
            <a:off x="787400" y="1600200"/>
            <a:ext cx="10617200" cy="4470400"/>
          </a:xfrm>
          <a:prstGeom prst="roundRect">
            <a:avLst/>
          </a:prstGeom>
          <a:solidFill>
            <a:srgbClr val="D7E0E4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 descr="Live Scenario page showing one shared GPU scenario and locality detail">
            <a:extLst>
              <a:ext uri="{FF2B5EF4-FFF2-40B4-BE49-F238E27FC236}">
                <a16:creationId xmlns:a16="http://schemas.microsoft.com/office/drawing/2014/main" id="{E246104B-1B66-9963-CBAF-8C529708748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6300" y="1689100"/>
            <a:ext cx="10439400" cy="42926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79B204A-ED20-F96A-EE2D-B38DB3BE8D5F}"/>
              </a:ext>
            </a:extLst>
          </p:cNvPr>
          <p:cNvSpPr txBox="1"/>
          <p:nvPr/>
        </p:nvSpPr>
        <p:spPr>
          <a:xfrm>
            <a:off x="952500" y="6070599"/>
            <a:ext cx="10287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Frozen evidence stays separate from Live Scenario replay  |  forecast is DISPLAY ONLY</a:t>
            </a:r>
          </a:p>
        </p:txBody>
      </p:sp>
    </p:spTree>
    <p:extLst>
      <p:ext uri="{BB962C8B-B14F-4D97-AF65-F5344CB8AC3E}">
        <p14:creationId xmlns:p14="http://schemas.microsoft.com/office/powerpoint/2010/main" val="3267870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C2B901D-D014-90E6-5F99-CBA06C5CBA20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10E60F0-F8B8-299E-161F-D09A38ECDA34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DDA1F04-DC62-DDD5-0CB7-DCC62FD3075E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21CA99-9758-6399-68A5-D98E492125FD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11394-1780-00E5-6D17-77CBD1CD21D9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Documented-seed-disjoint holdout reports three primary outcomes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EA7674-6404-9989-6460-4C01809FBF8A}"/>
              </a:ext>
            </a:extLst>
          </p:cNvPr>
          <p:cNvSpPr txBox="1"/>
          <p:nvPr/>
        </p:nvSpPr>
        <p:spPr>
          <a:xfrm>
            <a:off x="812800" y="1841499"/>
            <a:ext cx="28702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Outcome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B15D5-AECC-8A93-9AB4-632318C925B6}"/>
              </a:ext>
            </a:extLst>
          </p:cNvPr>
          <p:cNvSpPr txBox="1"/>
          <p:nvPr/>
        </p:nvSpPr>
        <p:spPr>
          <a:xfrm>
            <a:off x="3810000" y="1841499"/>
            <a:ext cx="16002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Fixed Rotation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175782-D733-8394-4D84-0934D98FEDE0}"/>
              </a:ext>
            </a:extLst>
          </p:cNvPr>
          <p:cNvSpPr txBox="1"/>
          <p:nvPr/>
        </p:nvSpPr>
        <p:spPr>
          <a:xfrm>
            <a:off x="5511800" y="1841499"/>
            <a:ext cx="16002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PPO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9E06D8-CE24-E349-7083-61CAC4B6B850}"/>
              </a:ext>
            </a:extLst>
          </p:cNvPr>
          <p:cNvSpPr txBox="1"/>
          <p:nvPr/>
        </p:nvSpPr>
        <p:spPr>
          <a:xfrm>
            <a:off x="7213600" y="1841499"/>
            <a:ext cx="14224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Delta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8DABAD-03ED-C9D4-DC84-1B4AEC3ABB30}"/>
              </a:ext>
            </a:extLst>
          </p:cNvPr>
          <p:cNvSpPr txBox="1"/>
          <p:nvPr/>
        </p:nvSpPr>
        <p:spPr>
          <a:xfrm>
            <a:off x="8737600" y="1841499"/>
            <a:ext cx="25908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Paired 95% interval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2E955F8-9185-DE7A-2DF5-F60BF0AFC59A}"/>
              </a:ext>
            </a:extLst>
          </p:cNvPr>
          <p:cNvSpPr/>
          <p:nvPr/>
        </p:nvSpPr>
        <p:spPr>
          <a:xfrm>
            <a:off x="685800" y="2235200"/>
            <a:ext cx="10820400" cy="6477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FB7C730-B296-905A-892D-E65CB8CCD311}"/>
              </a:ext>
            </a:extLst>
          </p:cNvPr>
          <p:cNvSpPr txBox="1"/>
          <p:nvPr/>
        </p:nvSpPr>
        <p:spPr>
          <a:xfrm>
            <a:off x="812800" y="2324099"/>
            <a:ext cx="287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Critical-outage locality-hours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E12983C-89A0-DDDF-654F-026479DE8F6F}"/>
              </a:ext>
            </a:extLst>
          </p:cNvPr>
          <p:cNvSpPr txBox="1"/>
          <p:nvPr/>
        </p:nvSpPr>
        <p:spPr>
          <a:xfrm>
            <a:off x="3810000" y="23240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60727D"/>
                </a:solidFill>
                <a:latin typeface="Aptos" panose="020B0004020202020204" pitchFamily="34" charset="0"/>
              </a:rPr>
              <a:t>102.1 locality-hours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80828F-644C-77E5-5FA0-8F2E24293348}"/>
              </a:ext>
            </a:extLst>
          </p:cNvPr>
          <p:cNvSpPr txBox="1"/>
          <p:nvPr/>
        </p:nvSpPr>
        <p:spPr>
          <a:xfrm>
            <a:off x="5511800" y="23240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20.2 locality-hours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A5D6A8-7E5B-BC0D-E56A-7296DA94DCE0}"/>
              </a:ext>
            </a:extLst>
          </p:cNvPr>
          <p:cNvSpPr txBox="1"/>
          <p:nvPr/>
        </p:nvSpPr>
        <p:spPr>
          <a:xfrm>
            <a:off x="7213600" y="2324099"/>
            <a:ext cx="1422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-81.9 locality-hours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BBF2DAB-B220-05E7-F4AA-25D9A61F3CFA}"/>
              </a:ext>
            </a:extLst>
          </p:cNvPr>
          <p:cNvSpPr txBox="1"/>
          <p:nvPr/>
        </p:nvSpPr>
        <p:spPr>
          <a:xfrm>
            <a:off x="8737600" y="2324099"/>
            <a:ext cx="2590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[-82.5, -81.2] locality-hours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B9F094-DBCA-382C-DEFB-3F6FC72A391A}"/>
              </a:ext>
            </a:extLst>
          </p:cNvPr>
          <p:cNvSpPr txBox="1"/>
          <p:nvPr/>
        </p:nvSpPr>
        <p:spPr>
          <a:xfrm>
            <a:off x="812800" y="3124199"/>
            <a:ext cx="287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Jain fairness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4960C2-BE1B-FC9E-D27B-125195DED1A6}"/>
              </a:ext>
            </a:extLst>
          </p:cNvPr>
          <p:cNvSpPr txBox="1"/>
          <p:nvPr/>
        </p:nvSpPr>
        <p:spPr>
          <a:xfrm>
            <a:off x="3810000" y="31241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60727D"/>
                </a:solidFill>
                <a:latin typeface="Aptos" panose="020B0004020202020204" pitchFamily="34" charset="0"/>
              </a:rPr>
              <a:t>87.76%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A9201A-0436-9EEE-CF25-17D9D0DFC091}"/>
              </a:ext>
            </a:extLst>
          </p:cNvPr>
          <p:cNvSpPr txBox="1"/>
          <p:nvPr/>
        </p:nvSpPr>
        <p:spPr>
          <a:xfrm>
            <a:off x="5511800" y="31241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96.91%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BC53BD7-D813-8D9F-768F-3A2E79A7342E}"/>
              </a:ext>
            </a:extLst>
          </p:cNvPr>
          <p:cNvSpPr txBox="1"/>
          <p:nvPr/>
        </p:nvSpPr>
        <p:spPr>
          <a:xfrm>
            <a:off x="7213600" y="3124199"/>
            <a:ext cx="1422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+9.15 pp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7D6CAF-FBCE-F461-FF61-D4CD29ACA386}"/>
              </a:ext>
            </a:extLst>
          </p:cNvPr>
          <p:cNvSpPr txBox="1"/>
          <p:nvPr/>
        </p:nvSpPr>
        <p:spPr>
          <a:xfrm>
            <a:off x="8737600" y="3124199"/>
            <a:ext cx="2590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[9.11, 9.19] pp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76BBA8E-7222-3121-FAF5-CC8D5EB8E5BA}"/>
              </a:ext>
            </a:extLst>
          </p:cNvPr>
          <p:cNvSpPr/>
          <p:nvPr/>
        </p:nvSpPr>
        <p:spPr>
          <a:xfrm>
            <a:off x="685800" y="3835400"/>
            <a:ext cx="10820400" cy="6477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5A5CF1-4E9D-D616-1A2A-ED0D1FD7AF3E}"/>
              </a:ext>
            </a:extLst>
          </p:cNvPr>
          <p:cNvSpPr txBox="1"/>
          <p:nvPr/>
        </p:nvSpPr>
        <p:spPr>
          <a:xfrm>
            <a:off x="812800" y="3924299"/>
            <a:ext cx="287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Utilization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1BE9CA-15E9-E0AE-EE23-4A3555945B51}"/>
              </a:ext>
            </a:extLst>
          </p:cNvPr>
          <p:cNvSpPr txBox="1"/>
          <p:nvPr/>
        </p:nvSpPr>
        <p:spPr>
          <a:xfrm>
            <a:off x="3810000" y="39242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60727D"/>
                </a:solidFill>
                <a:latin typeface="Aptos" panose="020B0004020202020204" pitchFamily="34" charset="0"/>
              </a:rPr>
              <a:t>71.21%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60F7C23-F21D-F3DE-5B51-C1D865EF5B4C}"/>
              </a:ext>
            </a:extLst>
          </p:cNvPr>
          <p:cNvSpPr txBox="1"/>
          <p:nvPr/>
        </p:nvSpPr>
        <p:spPr>
          <a:xfrm>
            <a:off x="5511800" y="3924299"/>
            <a:ext cx="16002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97.61%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0173D8D-885D-2BEE-934F-DE736242DE46}"/>
              </a:ext>
            </a:extLst>
          </p:cNvPr>
          <p:cNvSpPr txBox="1"/>
          <p:nvPr/>
        </p:nvSpPr>
        <p:spPr>
          <a:xfrm>
            <a:off x="7213600" y="3924299"/>
            <a:ext cx="1422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+26.39 pp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10588AC-16A2-23DF-4EBE-9BA4BDEB9EA8}"/>
              </a:ext>
            </a:extLst>
          </p:cNvPr>
          <p:cNvSpPr txBox="1"/>
          <p:nvPr/>
        </p:nvSpPr>
        <p:spPr>
          <a:xfrm>
            <a:off x="8737600" y="3924299"/>
            <a:ext cx="25908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13232E"/>
                </a:solidFill>
                <a:latin typeface="Aptos" panose="020B0004020202020204" pitchFamily="34" charset="0"/>
              </a:rPr>
              <a:t>[26.34, 26.45] pp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E1FE1FF-8CB5-482E-5718-6A5E5A053F64}"/>
              </a:ext>
            </a:extLst>
          </p:cNvPr>
          <p:cNvCxnSpPr/>
          <p:nvPr/>
        </p:nvCxnSpPr>
        <p:spPr>
          <a:xfrm>
            <a:off x="787400" y="4787900"/>
            <a:ext cx="10617200" cy="0"/>
          </a:xfrm>
          <a:prstGeom prst="line">
            <a:avLst/>
          </a:prstGeom>
          <a:ln w="1270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8371D86-73EF-121B-833B-1D7A0056F841}"/>
              </a:ext>
            </a:extLst>
          </p:cNvPr>
          <p:cNvSpPr txBox="1"/>
          <p:nvPr/>
        </p:nvSpPr>
        <p:spPr>
          <a:xfrm>
            <a:off x="812800" y="5041899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Safety check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5E423F0-C5AF-8298-00C1-E62DE42E8383}"/>
              </a:ext>
            </a:extLst>
          </p:cNvPr>
          <p:cNvSpPr txBox="1"/>
          <p:nvPr/>
        </p:nvSpPr>
        <p:spPr>
          <a:xfrm>
            <a:off x="2794000" y="5041899"/>
            <a:ext cx="685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3FC6AC"/>
                </a:solidFill>
                <a:latin typeface="Aptos" panose="020B0004020202020204" pitchFamily="34" charset="0"/>
              </a:rPr>
              <a:t>0.00% power-balance violation rate in both controllers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6A46B9BD-2E7D-0EE6-70FF-C6F7EDE9C0DB}"/>
              </a:ext>
            </a:extLst>
          </p:cNvPr>
          <p:cNvSpPr/>
          <p:nvPr/>
        </p:nvSpPr>
        <p:spPr>
          <a:xfrm>
            <a:off x="812800" y="5359400"/>
            <a:ext cx="10515600" cy="927100"/>
          </a:xfrm>
          <a:prstGeom prst="roundRect">
            <a:avLst/>
          </a:prstGeom>
          <a:solidFill>
            <a:srgbClr val="F6E8E3"/>
          </a:solidFill>
          <a:ln w="15240">
            <a:solidFill>
              <a:srgbClr val="A15E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E79F71F-856C-F161-0032-F2997EC3FAB6}"/>
              </a:ext>
            </a:extLst>
          </p:cNvPr>
          <p:cNvSpPr txBox="1"/>
          <p:nvPr/>
        </p:nvSpPr>
        <p:spPr>
          <a:xfrm>
            <a:off x="1016000" y="5460999"/>
            <a:ext cx="101092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13232E"/>
                </a:solidFill>
                <a:latin typeface="Aptos" panose="020B0004020202020204" pitchFamily="34" charset="0"/>
              </a:rPr>
              <a:t>Not preregistered or independently custodied  |  no direction gate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63EFF90-5745-4D7C-3E3F-CCEDD305F0C9}"/>
              </a:ext>
            </a:extLst>
          </p:cNvPr>
          <p:cNvSpPr txBox="1"/>
          <p:nvPr/>
        </p:nvSpPr>
        <p:spPr>
          <a:xfrm>
            <a:off x="1016000" y="5740399"/>
            <a:ext cx="101092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No behavior-cloning-only ablation was run, so this comparison cannot isolate the incremental effect of PPO fine-tuning.</a:t>
            </a:r>
          </a:p>
        </p:txBody>
      </p:sp>
    </p:spTree>
    <p:extLst>
      <p:ext uri="{BB962C8B-B14F-4D97-AF65-F5344CB8AC3E}">
        <p14:creationId xmlns:p14="http://schemas.microsoft.com/office/powerpoint/2010/main" val="22342812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718CCA1-5CC0-CD7E-3497-4909716F16BF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589DDC79-208E-AD30-6884-512FA5F148DE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4171CC76-4859-0B71-DFBB-579037EF4946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33E6B4B-8E15-4B20-2400-4A2239BFFB5F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C7351C-5D01-FA83-D47A-BD0130672C7C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24 demand-allocation variants test local sensitivity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603354-F17A-E0BA-4960-61E8E1DE5514}"/>
              </a:ext>
            </a:extLst>
          </p:cNvPr>
          <p:cNvSpPr txBox="1"/>
          <p:nvPr/>
        </p:nvSpPr>
        <p:spPr>
          <a:xfrm>
            <a:off x="812800" y="1841499"/>
            <a:ext cx="41910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900" b="1">
                <a:solidFill>
                  <a:srgbClr val="E0B957"/>
                </a:solidFill>
                <a:latin typeface="Aptos" panose="020B0004020202020204" pitchFamily="34" charset="0"/>
              </a:rPr>
              <a:t>25 parameterizations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31CB8F-EAF8-4C7B-4365-D9972DECF345}"/>
              </a:ext>
            </a:extLst>
          </p:cNvPr>
          <p:cNvSpPr txBox="1"/>
          <p:nvPr/>
        </p:nvSpPr>
        <p:spPr>
          <a:xfrm>
            <a:off x="812800" y="2412999"/>
            <a:ext cx="4953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1 locked base + 24 one-at-a-time variants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7D31CEB-1735-DC23-CA81-009E60BC8498}"/>
              </a:ext>
            </a:extLst>
          </p:cNvPr>
          <p:cNvSpPr/>
          <p:nvPr/>
        </p:nvSpPr>
        <p:spPr>
          <a:xfrm>
            <a:off x="812800" y="3124200"/>
            <a:ext cx="3124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28D6425-C25F-7765-F265-666902D9A034}"/>
              </a:ext>
            </a:extLst>
          </p:cNvPr>
          <p:cNvSpPr txBox="1"/>
          <p:nvPr/>
        </p:nvSpPr>
        <p:spPr>
          <a:xfrm>
            <a:off x="990600" y="3276599"/>
            <a:ext cx="2768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24/24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6282FD-2962-711E-E332-37567BBFFADC}"/>
              </a:ext>
            </a:extLst>
          </p:cNvPr>
          <p:cNvSpPr txBox="1"/>
          <p:nvPr/>
        </p:nvSpPr>
        <p:spPr>
          <a:xfrm>
            <a:off x="990600" y="4089399"/>
            <a:ext cx="2768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critical-outage locality-hours favorable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1A20804-042D-9879-535E-B5A4171AC618}"/>
              </a:ext>
            </a:extLst>
          </p:cNvPr>
          <p:cNvSpPr/>
          <p:nvPr/>
        </p:nvSpPr>
        <p:spPr>
          <a:xfrm>
            <a:off x="4533900" y="3124200"/>
            <a:ext cx="3124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94BA6E-2CCD-8C3C-3E3C-81D4CE377872}"/>
              </a:ext>
            </a:extLst>
          </p:cNvPr>
          <p:cNvSpPr txBox="1"/>
          <p:nvPr/>
        </p:nvSpPr>
        <p:spPr>
          <a:xfrm>
            <a:off x="4711700" y="3276599"/>
            <a:ext cx="2768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24/24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C3B30D4-BFF7-E926-AFD3-86FCC6C01603}"/>
              </a:ext>
            </a:extLst>
          </p:cNvPr>
          <p:cNvSpPr txBox="1"/>
          <p:nvPr/>
        </p:nvSpPr>
        <p:spPr>
          <a:xfrm>
            <a:off x="4711700" y="4089399"/>
            <a:ext cx="2768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Jain fairness favorable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4D98366-6722-93D4-751C-15513C82BD1B}"/>
              </a:ext>
            </a:extLst>
          </p:cNvPr>
          <p:cNvSpPr/>
          <p:nvPr/>
        </p:nvSpPr>
        <p:spPr>
          <a:xfrm>
            <a:off x="8255000" y="3124200"/>
            <a:ext cx="3124200" cy="1600200"/>
          </a:xfrm>
          <a:prstGeom prst="roundRect">
            <a:avLst/>
          </a:prstGeom>
          <a:solidFill>
            <a:srgbClr val="102A3B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ACFB60F-1F04-1BC6-57CC-F583B8F20C1D}"/>
              </a:ext>
            </a:extLst>
          </p:cNvPr>
          <p:cNvSpPr txBox="1"/>
          <p:nvPr/>
        </p:nvSpPr>
        <p:spPr>
          <a:xfrm>
            <a:off x="8432800" y="3276599"/>
            <a:ext cx="2768600" cy="736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2300" b="1">
                <a:solidFill>
                  <a:srgbClr val="F3F0E8"/>
                </a:solidFill>
                <a:latin typeface="Aptos" panose="020B0004020202020204" pitchFamily="34" charset="0"/>
              </a:rPr>
              <a:t>24/24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9E81A9-6FD3-05A3-91CB-E7532E4474CB}"/>
              </a:ext>
            </a:extLst>
          </p:cNvPr>
          <p:cNvSpPr txBox="1"/>
          <p:nvPr/>
        </p:nvSpPr>
        <p:spPr>
          <a:xfrm>
            <a:off x="8432800" y="4089399"/>
            <a:ext cx="2768600" cy="533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F3F0E8"/>
                </a:solidFill>
                <a:latin typeface="Aptos" panose="020B0004020202020204" pitchFamily="34" charset="0"/>
              </a:rPr>
              <a:t>utilization favorable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786E3B4-92DB-8B98-3C4C-7E769A760F93}"/>
              </a:ext>
            </a:extLst>
          </p:cNvPr>
          <p:cNvSpPr txBox="1"/>
          <p:nvPr/>
        </p:nvSpPr>
        <p:spPr>
          <a:xfrm>
            <a:off x="812800" y="5079999"/>
            <a:ext cx="3302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 b="1">
                <a:solidFill>
                  <a:srgbClr val="3FC6AC"/>
                </a:solidFill>
                <a:latin typeface="Aptos" panose="020B0004020202020204" pitchFamily="34" charset="0"/>
              </a:rPr>
              <a:t>Effect-size shift versus base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5F2FAEC-984D-A05F-2CD6-3AE1E7BD1228}"/>
              </a:ext>
            </a:extLst>
          </p:cNvPr>
          <p:cNvSpPr txBox="1"/>
          <p:nvPr/>
        </p:nvSpPr>
        <p:spPr>
          <a:xfrm>
            <a:off x="4191000" y="5079999"/>
            <a:ext cx="7112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fr-FR" sz="1700" b="1">
                <a:solidFill>
                  <a:srgbClr val="F3F0E8"/>
                </a:solidFill>
                <a:latin typeface="Aptos" panose="020B0004020202020204" pitchFamily="34" charset="0"/>
              </a:rPr>
              <a:t>Outage: 19 adverse  |  4 favorable  |  1 ambiguous</a:t>
            </a:r>
            <a:endParaRPr lang="en-US" sz="1700" b="1">
              <a:solidFill>
                <a:srgbClr val="F3F0E8"/>
              </a:solidFill>
              <a:latin typeface="Aptos" panose="020B00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71B4A7-F834-9030-5DCA-BCDC8573279C}"/>
              </a:ext>
            </a:extLst>
          </p:cNvPr>
          <p:cNvSpPr txBox="1"/>
          <p:nvPr/>
        </p:nvSpPr>
        <p:spPr>
          <a:xfrm>
            <a:off x="812800" y="5664199"/>
            <a:ext cx="104902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83939D"/>
                </a:solidFill>
                <a:latin typeface="Aptos" panose="020B0004020202020204" pitchFamily="34" charset="0"/>
              </a:rPr>
              <a:t>Descriptive pointwise 95% intervals; unadjusted for multiple comparisons; no family-wide claim.</a:t>
            </a:r>
          </a:p>
        </p:txBody>
      </p:sp>
    </p:spTree>
    <p:extLst>
      <p:ext uri="{BB962C8B-B14F-4D97-AF65-F5344CB8AC3E}">
        <p14:creationId xmlns:p14="http://schemas.microsoft.com/office/powerpoint/2010/main" val="29071946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5E3B50-CA5F-4242-040D-64325ABFB687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04C12A8-416A-F2EC-EC45-0019F55012E5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0379B67-6E5B-4EEB-FC2A-5351A8845E23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61A9B5-33F9-B246-1BB1-1C5C13AC10CF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6A23E6-2024-E8E7-22E1-15CF99BD2FD0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One-hour persistence outperformed the three-hour trailing mean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ACD480-6980-9AF9-F9E5-53B3A2F5BC82}"/>
              </a:ext>
            </a:extLst>
          </p:cNvPr>
          <p:cNvSpPr txBox="1"/>
          <p:nvPr/>
        </p:nvSpPr>
        <p:spPr>
          <a:xfrm>
            <a:off x="812800" y="1828799"/>
            <a:ext cx="3619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Pooled error metric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E13EE3-D3D8-940B-5EA1-13D00089BE91}"/>
              </a:ext>
            </a:extLst>
          </p:cNvPr>
          <p:cNvSpPr txBox="1"/>
          <p:nvPr/>
        </p:nvSpPr>
        <p:spPr>
          <a:xfrm>
            <a:off x="5003800" y="1828799"/>
            <a:ext cx="2794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One-hour persistence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437D3B4-3E10-415F-776B-D010EBC54AF8}"/>
              </a:ext>
            </a:extLst>
          </p:cNvPr>
          <p:cNvSpPr txBox="1"/>
          <p:nvPr/>
        </p:nvSpPr>
        <p:spPr>
          <a:xfrm>
            <a:off x="8318500" y="1828799"/>
            <a:ext cx="2984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Three-hour trailing mean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74B0EA-EC4A-CEC6-1514-D38005E1646A}"/>
              </a:ext>
            </a:extLst>
          </p:cNvPr>
          <p:cNvSpPr/>
          <p:nvPr/>
        </p:nvSpPr>
        <p:spPr>
          <a:xfrm>
            <a:off x="685800" y="2247900"/>
            <a:ext cx="10820400" cy="5588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ED19679-836E-FF3C-508E-CC51D3AF59FB}"/>
              </a:ext>
            </a:extLst>
          </p:cNvPr>
          <p:cNvSpPr txBox="1"/>
          <p:nvPr/>
        </p:nvSpPr>
        <p:spPr>
          <a:xfrm>
            <a:off x="812800" y="23367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Locality-sector MAE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64A780-AC0A-367C-5151-66C491706ECB}"/>
              </a:ext>
            </a:extLst>
          </p:cNvPr>
          <p:cNvSpPr txBox="1"/>
          <p:nvPr/>
        </p:nvSpPr>
        <p:spPr>
          <a:xfrm>
            <a:off x="5003800" y="23367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1.35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69307D-0AB3-89E6-DA76-F755CD9FE31B}"/>
              </a:ext>
            </a:extLst>
          </p:cNvPr>
          <p:cNvSpPr txBox="1"/>
          <p:nvPr/>
        </p:nvSpPr>
        <p:spPr>
          <a:xfrm>
            <a:off x="8318500" y="23367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2.34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06A9D7-897B-1859-D346-899ABBFE177E}"/>
              </a:ext>
            </a:extLst>
          </p:cNvPr>
          <p:cNvSpPr txBox="1"/>
          <p:nvPr/>
        </p:nvSpPr>
        <p:spPr>
          <a:xfrm>
            <a:off x="812800" y="30225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Locality-sector RMSE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C389FE-4BAD-1DB0-0443-6EFCA2AD5091}"/>
              </a:ext>
            </a:extLst>
          </p:cNvPr>
          <p:cNvSpPr txBox="1"/>
          <p:nvPr/>
        </p:nvSpPr>
        <p:spPr>
          <a:xfrm>
            <a:off x="5003800" y="30225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2.18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5965479-EB31-05C9-B2DD-28B68C4D93F6}"/>
              </a:ext>
            </a:extLst>
          </p:cNvPr>
          <p:cNvSpPr txBox="1"/>
          <p:nvPr/>
        </p:nvSpPr>
        <p:spPr>
          <a:xfrm>
            <a:off x="8318500" y="30225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3.74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80B6776-683C-EC99-D152-8AD92F774468}"/>
              </a:ext>
            </a:extLst>
          </p:cNvPr>
          <p:cNvSpPr/>
          <p:nvPr/>
        </p:nvSpPr>
        <p:spPr>
          <a:xfrm>
            <a:off x="685800" y="3619500"/>
            <a:ext cx="10820400" cy="558800"/>
          </a:xfrm>
          <a:prstGeom prst="rect">
            <a:avLst/>
          </a:prstGeom>
          <a:solidFill>
            <a:srgbClr val="E7EC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B5655C-438D-03DA-9BFD-7A5128797758}"/>
              </a:ext>
            </a:extLst>
          </p:cNvPr>
          <p:cNvSpPr txBox="1"/>
          <p:nvPr/>
        </p:nvSpPr>
        <p:spPr>
          <a:xfrm>
            <a:off x="812800" y="37083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System-total MAE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22B067-C20E-14BD-FCC0-50F83419C83F}"/>
              </a:ext>
            </a:extLst>
          </p:cNvPr>
          <p:cNvSpPr txBox="1"/>
          <p:nvPr/>
        </p:nvSpPr>
        <p:spPr>
          <a:xfrm>
            <a:off x="5003800" y="37083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24.38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4D1051-8EEC-DA5D-0DDD-E8699D3DFD24}"/>
              </a:ext>
            </a:extLst>
          </p:cNvPr>
          <p:cNvSpPr txBox="1"/>
          <p:nvPr/>
        </p:nvSpPr>
        <p:spPr>
          <a:xfrm>
            <a:off x="8318500" y="37083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42.72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818ABE-CB16-9609-D128-1A52C593856B}"/>
              </a:ext>
            </a:extLst>
          </p:cNvPr>
          <p:cNvSpPr txBox="1"/>
          <p:nvPr/>
        </p:nvSpPr>
        <p:spPr>
          <a:xfrm>
            <a:off x="812800" y="4394199"/>
            <a:ext cx="36195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b="1">
                <a:solidFill>
                  <a:srgbClr val="13232E"/>
                </a:solidFill>
                <a:latin typeface="Aptos" panose="020B0004020202020204" pitchFamily="34" charset="0"/>
              </a:rPr>
              <a:t>System-total RMSE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254107-8537-9631-E641-4FB062B0A99A}"/>
              </a:ext>
            </a:extLst>
          </p:cNvPr>
          <p:cNvSpPr txBox="1"/>
          <p:nvPr/>
        </p:nvSpPr>
        <p:spPr>
          <a:xfrm>
            <a:off x="5003800" y="43941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3FC6AC"/>
                </a:solidFill>
                <a:latin typeface="Aptos" panose="020B0004020202020204" pitchFamily="34" charset="0"/>
              </a:rPr>
              <a:t>28.58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5026E0-E3DE-E8FF-9A11-927C9C2B0F39}"/>
              </a:ext>
            </a:extLst>
          </p:cNvPr>
          <p:cNvSpPr txBox="1"/>
          <p:nvPr/>
        </p:nvSpPr>
        <p:spPr>
          <a:xfrm>
            <a:off x="8318500" y="4394199"/>
            <a:ext cx="2794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60727D"/>
                </a:solidFill>
                <a:latin typeface="Aptos" panose="020B0004020202020204" pitchFamily="34" charset="0"/>
              </a:rPr>
              <a:t>49.97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49236400-1D78-0503-387B-75668A497918}"/>
              </a:ext>
            </a:extLst>
          </p:cNvPr>
          <p:cNvSpPr/>
          <p:nvPr/>
        </p:nvSpPr>
        <p:spPr>
          <a:xfrm>
            <a:off x="812800" y="5308600"/>
            <a:ext cx="10515600" cy="787400"/>
          </a:xfrm>
          <a:prstGeom prst="roundRect">
            <a:avLst/>
          </a:prstGeom>
          <a:solidFill>
            <a:srgbClr val="E4F4F0"/>
          </a:solidFill>
          <a:ln w="15240">
            <a:solidFill>
              <a:srgbClr val="3FC6A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2E61CDD-3987-C382-33F4-36C49B7424A8}"/>
              </a:ext>
            </a:extLst>
          </p:cNvPr>
          <p:cNvSpPr txBox="1"/>
          <p:nvPr/>
        </p:nvSpPr>
        <p:spPr>
          <a:xfrm>
            <a:off x="1041400" y="5473700"/>
            <a:ext cx="1005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320 traces  |  21 target hours  |  235200 locality-sector predictions  |  6720 system totals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862E84A-E80D-79A5-4DA1-4B6EBECB239F}"/>
              </a:ext>
            </a:extLst>
          </p:cNvPr>
          <p:cNvSpPr txBox="1"/>
          <p:nvPr/>
        </p:nvSpPr>
        <p:spPr>
          <a:xfrm>
            <a:off x="1041400" y="5778500"/>
            <a:ext cx="10058400" cy="254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Synthetic display-only comparison; no operational calibration claim</a:t>
            </a:r>
          </a:p>
        </p:txBody>
      </p:sp>
    </p:spTree>
    <p:extLst>
      <p:ext uri="{BB962C8B-B14F-4D97-AF65-F5344CB8AC3E}">
        <p14:creationId xmlns:p14="http://schemas.microsoft.com/office/powerpoint/2010/main" val="1946492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6C1CB9-A9E9-5F33-DAE4-A89EB7CDCEDA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ACF27E4-82A8-130F-1D99-BDEB3F13F107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09BC5DE-E82C-8B4B-C611-9A88C9047691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BA7D9DA-8541-8993-7890-B15AC97C0452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4FCE880-5759-9A47-E3EE-DDCED6F8E72F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F3F0E8"/>
                </a:solidFill>
                <a:latin typeface="Aptos" panose="020B0004020202020204" pitchFamily="34" charset="0"/>
              </a:rPr>
              <a:t>The accepted reproduction preserves history, not independence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824F69-16CE-3048-74A0-3645F90C9E7D}"/>
              </a:ext>
            </a:extLst>
          </p:cNvPr>
          <p:cNvSpPr txBox="1"/>
          <p:nvPr/>
        </p:nvSpPr>
        <p:spPr>
          <a:xfrm>
            <a:off x="812800" y="1841499"/>
            <a:ext cx="457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3FC6AC"/>
                </a:solidFill>
                <a:latin typeface="Aptos" panose="020B0004020202020204" pitchFamily="34" charset="0"/>
              </a:rPr>
              <a:t>Accepted reproduction context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84C35914-CD40-68E0-5739-B41CFE0947FE}"/>
              </a:ext>
            </a:extLst>
          </p:cNvPr>
          <p:cNvCxnSpPr/>
          <p:nvPr/>
        </p:nvCxnSpPr>
        <p:spPr>
          <a:xfrm>
            <a:off x="812800" y="25654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1D7ACA7B-3B37-7ACF-5C5B-CB1DD534B5F0}"/>
              </a:ext>
            </a:extLst>
          </p:cNvPr>
          <p:cNvSpPr txBox="1"/>
          <p:nvPr/>
        </p:nvSpPr>
        <p:spPr>
          <a:xfrm>
            <a:off x="1168400" y="24129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Seeds 50001-50003  |  96 base draws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05DA21C-F35B-A9D3-59A4-9F3419F33B1C}"/>
              </a:ext>
            </a:extLst>
          </p:cNvPr>
          <p:cNvCxnSpPr/>
          <p:nvPr/>
        </p:nvCxnSpPr>
        <p:spPr>
          <a:xfrm>
            <a:off x="812800" y="31623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3CDF3E4-E78A-3526-9B47-AA5ECE896934}"/>
              </a:ext>
            </a:extLst>
          </p:cNvPr>
          <p:cNvSpPr txBox="1"/>
          <p:nvPr/>
        </p:nvSpPr>
        <p:spPr>
          <a:xfrm>
            <a:off x="1168400" y="30098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288 matched conditions  |  576 evaluations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8118873-EA80-2FCF-713D-FAD60983FACC}"/>
              </a:ext>
            </a:extLst>
          </p:cNvPr>
          <p:cNvCxnSpPr/>
          <p:nvPr/>
        </p:nvCxnSpPr>
        <p:spPr>
          <a:xfrm>
            <a:off x="812800" y="37592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7E3E1529-8C28-967A-A63C-59BAB718AE40}"/>
              </a:ext>
            </a:extLst>
          </p:cNvPr>
          <p:cNvSpPr txBox="1"/>
          <p:nvPr/>
        </p:nvSpPr>
        <p:spPr>
          <a:xfrm>
            <a:off x="1168400" y="36067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Reproduced from the frozen PPO checkpoint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C42B642-5D5A-7498-E614-876BFFDA22A9}"/>
              </a:ext>
            </a:extLst>
          </p:cNvPr>
          <p:cNvCxnSpPr/>
          <p:nvPr/>
        </p:nvCxnSpPr>
        <p:spPr>
          <a:xfrm>
            <a:off x="812800" y="43561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78F4E538-F990-2C88-B185-6B770162DB3D}"/>
              </a:ext>
            </a:extLst>
          </p:cNvPr>
          <p:cNvSpPr txBox="1"/>
          <p:nvPr/>
        </p:nvSpPr>
        <p:spPr>
          <a:xfrm>
            <a:off x="1168400" y="4203699"/>
            <a:ext cx="4851400" cy="558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F3F0E8"/>
                </a:solidFill>
                <a:latin typeface="Aptos" panose="020B0004020202020204" pitchFamily="34" charset="0"/>
              </a:rPr>
              <a:t>Promotion and acceptance used this layer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33FB5465-F52A-25E8-0FB6-BE9798E8ED64}"/>
              </a:ext>
            </a:extLst>
          </p:cNvPr>
          <p:cNvCxnSpPr/>
          <p:nvPr/>
        </p:nvCxnSpPr>
        <p:spPr>
          <a:xfrm>
            <a:off x="6350000" y="1803400"/>
            <a:ext cx="0" cy="400050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8FAF87D-496D-AC0C-5A3A-95523C1A5F50}"/>
              </a:ext>
            </a:extLst>
          </p:cNvPr>
          <p:cNvSpPr txBox="1"/>
          <p:nvPr/>
        </p:nvSpPr>
        <p:spPr>
          <a:xfrm>
            <a:off x="6832600" y="1841499"/>
            <a:ext cx="43815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200" b="1">
                <a:solidFill>
                  <a:srgbClr val="E0B957"/>
                </a:solidFill>
                <a:latin typeface="Aptos" panose="020B0004020202020204" pitchFamily="34" charset="0"/>
              </a:rPr>
              <a:t>Accepted three-primary context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2A7AE0-9AC0-DD04-8C9F-1BBC4FFE4698}"/>
              </a:ext>
            </a:extLst>
          </p:cNvPr>
          <p:cNvSpPr txBox="1"/>
          <p:nvPr/>
        </p:nvSpPr>
        <p:spPr>
          <a:xfrm>
            <a:off x="6832600" y="25272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Critical outage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C05CD52-7EAC-04C4-7686-EA3B351DF16C}"/>
              </a:ext>
            </a:extLst>
          </p:cNvPr>
          <p:cNvSpPr txBox="1"/>
          <p:nvPr/>
        </p:nvSpPr>
        <p:spPr>
          <a:xfrm>
            <a:off x="6832600" y="28574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F3F0E8"/>
                </a:solidFill>
                <a:latin typeface="Aptos" panose="020B0004020202020204" pitchFamily="34" charset="0"/>
              </a:rPr>
              <a:t>102.1 -&gt; 18.7 locality-hours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C6E351-3C65-D2C4-5BCC-84E8630D9D20}"/>
              </a:ext>
            </a:extLst>
          </p:cNvPr>
          <p:cNvSpPr txBox="1"/>
          <p:nvPr/>
        </p:nvSpPr>
        <p:spPr>
          <a:xfrm>
            <a:off x="6832600" y="34670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Jain fairness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0DA06C1-D3CD-3147-B8B6-CF6730072F59}"/>
              </a:ext>
            </a:extLst>
          </p:cNvPr>
          <p:cNvSpPr txBox="1"/>
          <p:nvPr/>
        </p:nvSpPr>
        <p:spPr>
          <a:xfrm>
            <a:off x="6832600" y="37972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F3F0E8"/>
                </a:solidFill>
                <a:latin typeface="Aptos" panose="020B0004020202020204" pitchFamily="34" charset="0"/>
              </a:rPr>
              <a:t>87.76% -&gt; 96.92%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1DD129-E3F4-70F3-BE72-30F34D183F95}"/>
              </a:ext>
            </a:extLst>
          </p:cNvPr>
          <p:cNvSpPr txBox="1"/>
          <p:nvPr/>
        </p:nvSpPr>
        <p:spPr>
          <a:xfrm>
            <a:off x="6832600" y="4406899"/>
            <a:ext cx="22225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Utilization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6C4B9F0-0975-F921-197B-3B63AE5F7CFF}"/>
              </a:ext>
            </a:extLst>
          </p:cNvPr>
          <p:cNvSpPr txBox="1"/>
          <p:nvPr/>
        </p:nvSpPr>
        <p:spPr>
          <a:xfrm>
            <a:off x="6832600" y="4737099"/>
            <a:ext cx="4191000" cy="355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900" b="1">
                <a:solidFill>
                  <a:srgbClr val="F3F0E8"/>
                </a:solidFill>
                <a:latin typeface="Aptos" panose="020B0004020202020204" pitchFamily="34" charset="0"/>
              </a:rPr>
              <a:t>71.22% -&gt; 97.65%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334B283-39B8-A86A-935A-BE24E48BB99C}"/>
              </a:ext>
            </a:extLst>
          </p:cNvPr>
          <p:cNvSpPr/>
          <p:nvPr/>
        </p:nvSpPr>
        <p:spPr>
          <a:xfrm>
            <a:off x="6832600" y="5308600"/>
            <a:ext cx="4191000" cy="698500"/>
          </a:xfrm>
          <a:prstGeom prst="roundRect">
            <a:avLst/>
          </a:prstGeom>
          <a:solidFill>
            <a:srgbClr val="1A394A"/>
          </a:solidFill>
          <a:ln w="15240">
            <a:solidFill>
              <a:srgbClr val="36556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CFBCCC-006B-C329-58A3-AC591C67DFAC}"/>
              </a:ext>
            </a:extLst>
          </p:cNvPr>
          <p:cNvSpPr txBox="1"/>
          <p:nvPr/>
        </p:nvSpPr>
        <p:spPr>
          <a:xfrm>
            <a:off x="7010400" y="5346699"/>
            <a:ext cx="3835400" cy="6223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Documented-seed-disjoint holdout</a:t>
            </a:r>
          </a:p>
          <a:p>
            <a:pPr algn="ctr"/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81001-81010 remains separate</a:t>
            </a:r>
          </a:p>
        </p:txBody>
      </p:sp>
    </p:spTree>
    <p:extLst>
      <p:ext uri="{BB962C8B-B14F-4D97-AF65-F5344CB8AC3E}">
        <p14:creationId xmlns:p14="http://schemas.microsoft.com/office/powerpoint/2010/main" val="2389296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3F0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2C3A73-15B5-397C-E904-9AF211DCF53F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60727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2DA63CE-D5F1-4DD1-B836-6F55980C1DE3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CFD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1F04156C-F5E3-5C8A-651A-B011F1FA48FB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744680-5ECB-B5DE-397D-4148250917AD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60727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8CFBDE2-FADA-38AA-67F8-9FB527C1A1F8}"/>
              </a:ext>
            </a:extLst>
          </p:cNvPr>
          <p:cNvSpPr txBox="1"/>
          <p:nvPr/>
        </p:nvSpPr>
        <p:spPr>
          <a:xfrm>
            <a:off x="609600" y="736599"/>
            <a:ext cx="10972800" cy="11176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3500" b="1">
                <a:solidFill>
                  <a:srgbClr val="13232E"/>
                </a:solidFill>
                <a:latin typeface="Aptos" panose="020B0004020202020204" pitchFamily="34" charset="0"/>
              </a:rPr>
              <a:t>The evidence remains bounded by a shortage-only synthetic model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348B76B-70B8-F3F6-76D0-07244A466CDE}"/>
              </a:ext>
            </a:extLst>
          </p:cNvPr>
          <p:cNvSpPr txBox="1"/>
          <p:nvPr/>
        </p:nvSpPr>
        <p:spPr>
          <a:xfrm>
            <a:off x="812800" y="1841499"/>
            <a:ext cx="4572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3FC6AC"/>
                </a:solidFill>
                <a:latin typeface="Aptos" panose="020B0004020202020204" pitchFamily="34" charset="0"/>
              </a:rPr>
              <a:t>What the evidence supports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9C46A39-2580-6F13-AF38-6FA1FAB78B6F}"/>
              </a:ext>
            </a:extLst>
          </p:cNvPr>
          <p:cNvCxnSpPr/>
          <p:nvPr/>
        </p:nvCxnSpPr>
        <p:spPr>
          <a:xfrm>
            <a:off x="812800" y="2590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4924322-EAB0-03A2-A2C4-72B416E23C57}"/>
              </a:ext>
            </a:extLst>
          </p:cNvPr>
          <p:cNvSpPr txBox="1"/>
          <p:nvPr/>
        </p:nvSpPr>
        <p:spPr>
          <a:xfrm>
            <a:off x="1168400" y="2438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PPO versus Fixed Rotation in the locked simulator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5CE9F5A-C542-8C89-6855-D48A803D2D5F}"/>
              </a:ext>
            </a:extLst>
          </p:cNvPr>
          <p:cNvCxnSpPr/>
          <p:nvPr/>
        </p:nvCxnSpPr>
        <p:spPr>
          <a:xfrm>
            <a:off x="812800" y="3225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E9A8755-19DD-F67D-26DF-65483907A161}"/>
              </a:ext>
            </a:extLst>
          </p:cNvPr>
          <p:cNvSpPr txBox="1"/>
          <p:nvPr/>
        </p:nvSpPr>
        <p:spPr>
          <a:xfrm>
            <a:off x="1168400" y="3073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Matched shortage scenarios across seven localities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FBF8FD0-74D9-52EB-C545-68F8C65BBFDB}"/>
              </a:ext>
            </a:extLst>
          </p:cNvPr>
          <p:cNvCxnSpPr/>
          <p:nvPr/>
        </p:nvCxnSpPr>
        <p:spPr>
          <a:xfrm>
            <a:off x="812800" y="3860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96FB6C-FECA-1D7F-8486-D0C438FB87B5}"/>
              </a:ext>
            </a:extLst>
          </p:cNvPr>
          <p:cNvSpPr txBox="1"/>
          <p:nvPr/>
        </p:nvSpPr>
        <p:spPr>
          <a:xfrm>
            <a:off x="1168400" y="3708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Reproducible artifacts with explicit seed roles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6FA800BE-32A3-D9E5-08A1-5858E51AE0DA}"/>
              </a:ext>
            </a:extLst>
          </p:cNvPr>
          <p:cNvCxnSpPr/>
          <p:nvPr/>
        </p:nvCxnSpPr>
        <p:spPr>
          <a:xfrm>
            <a:off x="812800" y="4495800"/>
            <a:ext cx="203200" cy="0"/>
          </a:xfrm>
          <a:prstGeom prst="line">
            <a:avLst/>
          </a:prstGeom>
          <a:ln w="38100">
            <a:solidFill>
              <a:srgbClr val="3FC6A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192DBA83-FEF9-166C-2467-32BDA9C18128}"/>
              </a:ext>
            </a:extLst>
          </p:cNvPr>
          <p:cNvSpPr txBox="1"/>
          <p:nvPr/>
        </p:nvSpPr>
        <p:spPr>
          <a:xfrm>
            <a:off x="1168400" y="4343399"/>
            <a:ext cx="4851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Offline decision-support demonstration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817537-DCD7-EE28-8A49-9C1CD62F8775}"/>
              </a:ext>
            </a:extLst>
          </p:cNvPr>
          <p:cNvSpPr txBox="1"/>
          <p:nvPr/>
        </p:nvSpPr>
        <p:spPr>
          <a:xfrm>
            <a:off x="6629400" y="1841499"/>
            <a:ext cx="4699000" cy="381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300" b="1">
                <a:solidFill>
                  <a:srgbClr val="A15E40"/>
                </a:solidFill>
                <a:latin typeface="Aptos" panose="020B0004020202020204" pitchFamily="34" charset="0"/>
              </a:rPr>
              <a:t>What it does not support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578D69C-640F-7D4F-33C1-C01C12736051}"/>
              </a:ext>
            </a:extLst>
          </p:cNvPr>
          <p:cNvCxnSpPr/>
          <p:nvPr/>
        </p:nvCxnSpPr>
        <p:spPr>
          <a:xfrm>
            <a:off x="6629400" y="2590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C531FF7-8BD3-7629-E394-E72C0BB42D33}"/>
              </a:ext>
            </a:extLst>
          </p:cNvPr>
          <p:cNvSpPr txBox="1"/>
          <p:nvPr/>
        </p:nvSpPr>
        <p:spPr>
          <a:xfrm>
            <a:off x="6985000" y="2438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Field performance on Sudan's electrical grid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6BD1FDA4-8FB8-BBFD-C8E2-B022C5B861E1}"/>
              </a:ext>
            </a:extLst>
          </p:cNvPr>
          <p:cNvCxnSpPr/>
          <p:nvPr/>
        </p:nvCxnSpPr>
        <p:spPr>
          <a:xfrm>
            <a:off x="6629400" y="3225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4B0E372-914F-9EFC-8E9C-AEA263E8216C}"/>
              </a:ext>
            </a:extLst>
          </p:cNvPr>
          <p:cNvSpPr txBox="1"/>
          <p:nvPr/>
        </p:nvSpPr>
        <p:spPr>
          <a:xfrm>
            <a:off x="6985000" y="3073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Electrical-network or forecast validation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9A3598D-70C2-A1AC-98E1-28496B40CCF2}"/>
              </a:ext>
            </a:extLst>
          </p:cNvPr>
          <p:cNvCxnSpPr/>
          <p:nvPr/>
        </p:nvCxnSpPr>
        <p:spPr>
          <a:xfrm>
            <a:off x="6629400" y="3860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FCC1CE9C-C665-AFF5-EF0A-E0617C8C1441}"/>
              </a:ext>
            </a:extLst>
          </p:cNvPr>
          <p:cNvSpPr txBox="1"/>
          <p:nvPr/>
        </p:nvSpPr>
        <p:spPr>
          <a:xfrm>
            <a:off x="6985000" y="3708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Incremental PPO effect beyond initialization</a:t>
            </a: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98A8A804-6BAD-FFA8-40F9-AE1C2EADB2A0}"/>
              </a:ext>
            </a:extLst>
          </p:cNvPr>
          <p:cNvCxnSpPr/>
          <p:nvPr/>
        </p:nvCxnSpPr>
        <p:spPr>
          <a:xfrm>
            <a:off x="6629400" y="4495800"/>
            <a:ext cx="203200" cy="0"/>
          </a:xfrm>
          <a:prstGeom prst="line">
            <a:avLst/>
          </a:prstGeom>
          <a:ln w="38100">
            <a:solidFill>
              <a:srgbClr val="A15E4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9538775-1318-811A-F5B0-533C2DD67BE9}"/>
              </a:ext>
            </a:extLst>
          </p:cNvPr>
          <p:cNvSpPr txBox="1"/>
          <p:nvPr/>
        </p:nvSpPr>
        <p:spPr>
          <a:xfrm>
            <a:off x="6985000" y="4343399"/>
            <a:ext cx="4597400" cy="5969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700">
                <a:solidFill>
                  <a:srgbClr val="13232E"/>
                </a:solidFill>
                <a:latin typeface="Aptos" panose="020B0004020202020204" pitchFamily="34" charset="0"/>
              </a:rPr>
              <a:t>General superiority over stronger baselines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82D240C-9B01-D8FD-4AA6-52FDF2F12038}"/>
              </a:ext>
            </a:extLst>
          </p:cNvPr>
          <p:cNvSpPr/>
          <p:nvPr/>
        </p:nvSpPr>
        <p:spPr>
          <a:xfrm>
            <a:off x="812800" y="5384800"/>
            <a:ext cx="10515600" cy="660400"/>
          </a:xfrm>
          <a:prstGeom prst="roundRect">
            <a:avLst/>
          </a:prstGeom>
          <a:solidFill>
            <a:srgbClr val="F6E8E3"/>
          </a:solidFill>
          <a:ln w="15240">
            <a:solidFill>
              <a:srgbClr val="A15E4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3C50601-D945-8A5A-633F-6C8DD025D692}"/>
              </a:ext>
            </a:extLst>
          </p:cNvPr>
          <p:cNvSpPr txBox="1"/>
          <p:nvPr/>
        </p:nvSpPr>
        <p:spPr>
          <a:xfrm>
            <a:off x="1041400" y="5473699"/>
            <a:ext cx="10033000" cy="508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600" b="1">
                <a:solidFill>
                  <a:srgbClr val="13232E"/>
                </a:solidFill>
                <a:latin typeface="Aptos" panose="020B0004020202020204" pitchFamily="34" charset="0"/>
              </a:rPr>
              <a:t>Fixed Rotation is supply-blind: limited to Off and Full Service; it cannot select Critical Only. Synthetic evidence only.</a:t>
            </a:r>
          </a:p>
        </p:txBody>
      </p:sp>
    </p:spTree>
    <p:extLst>
      <p:ext uri="{BB962C8B-B14F-4D97-AF65-F5344CB8AC3E}">
        <p14:creationId xmlns:p14="http://schemas.microsoft.com/office/powerpoint/2010/main" val="29630143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9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33CE7DC-0D3B-E8F5-D1FA-BC956E2B37A2}"/>
              </a:ext>
            </a:extLst>
          </p:cNvPr>
          <p:cNvSpPr txBox="1"/>
          <p:nvPr/>
        </p:nvSpPr>
        <p:spPr>
          <a:xfrm>
            <a:off x="609600" y="228599"/>
            <a:ext cx="3810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83939D"/>
                </a:solidFill>
                <a:latin typeface="Aptos" panose="020B0004020202020204" pitchFamily="34" charset="0"/>
              </a:rPr>
              <a:t>GRIDGUARD KHARTOUM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3D6C21E-A7F3-BA23-9C3C-06A406DBC670}"/>
              </a:ext>
            </a:extLst>
          </p:cNvPr>
          <p:cNvCxnSpPr/>
          <p:nvPr/>
        </p:nvCxnSpPr>
        <p:spPr>
          <a:xfrm>
            <a:off x="609600" y="533400"/>
            <a:ext cx="10972800" cy="0"/>
          </a:xfrm>
          <a:prstGeom prst="line">
            <a:avLst/>
          </a:prstGeom>
          <a:ln w="1016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42B902C-5DCF-6D8E-C14A-3C82E1AA15CC}"/>
              </a:ext>
            </a:extLst>
          </p:cNvPr>
          <p:cNvSpPr txBox="1"/>
          <p:nvPr/>
        </p:nvSpPr>
        <p:spPr>
          <a:xfrm>
            <a:off x="11150600" y="6388099"/>
            <a:ext cx="431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A48713-592A-1122-D23B-FBAAAF052FC8}"/>
              </a:ext>
            </a:extLst>
          </p:cNvPr>
          <p:cNvSpPr txBox="1"/>
          <p:nvPr/>
        </p:nvSpPr>
        <p:spPr>
          <a:xfrm>
            <a:off x="609600" y="6388099"/>
            <a:ext cx="40640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>
                <a:solidFill>
                  <a:srgbClr val="83939D"/>
                </a:solidFill>
                <a:latin typeface="Aptos" panose="020B0004020202020204" pitchFamily="34" charset="0"/>
              </a:rPr>
              <a:t>OFFLINE GPU RESEARCH SIMULATION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94539B-883B-0645-37C8-87087D586C96}"/>
              </a:ext>
            </a:extLst>
          </p:cNvPr>
          <p:cNvSpPr txBox="1"/>
          <p:nvPr/>
        </p:nvSpPr>
        <p:spPr>
          <a:xfrm>
            <a:off x="762000" y="914399"/>
            <a:ext cx="3048000" cy="304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00" b="1">
                <a:solidFill>
                  <a:srgbClr val="3FC6AC"/>
                </a:solidFill>
                <a:latin typeface="Aptos" panose="020B0004020202020204" pitchFamily="34" charset="0"/>
              </a:rPr>
              <a:t>THE ANSWER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F70209-BED1-F62D-22ED-618654419536}"/>
              </a:ext>
            </a:extLst>
          </p:cNvPr>
          <p:cNvSpPr txBox="1"/>
          <p:nvPr/>
        </p:nvSpPr>
        <p:spPr>
          <a:xfrm>
            <a:off x="762000" y="1625599"/>
            <a:ext cx="10414000" cy="8890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4600" b="1">
                <a:solidFill>
                  <a:srgbClr val="F3F0E8"/>
                </a:solidFill>
                <a:latin typeface="Aptos" panose="020B0004020202020204" pitchFamily="34" charset="0"/>
              </a:rPr>
              <a:t>PPO outperformed Fixed Rotation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187A2-E435-26D5-BDBF-C985C0D8342D}"/>
              </a:ext>
            </a:extLst>
          </p:cNvPr>
          <p:cNvSpPr txBox="1"/>
          <p:nvPr/>
        </p:nvSpPr>
        <p:spPr>
          <a:xfrm>
            <a:off x="787400" y="26034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00">
                <a:solidFill>
                  <a:srgbClr val="E0B957"/>
                </a:solidFill>
                <a:latin typeface="Aptos" panose="020B0004020202020204" pitchFamily="34" charset="0"/>
              </a:rPr>
              <a:t>under the locked synthetic evaluation protocol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BD2ED7E-12E5-8A01-AE0E-F8C857663054}"/>
              </a:ext>
            </a:extLst>
          </p:cNvPr>
          <p:cNvCxnSpPr/>
          <p:nvPr/>
        </p:nvCxnSpPr>
        <p:spPr>
          <a:xfrm>
            <a:off x="787400" y="3441700"/>
            <a:ext cx="10617200" cy="0"/>
          </a:xfrm>
          <a:prstGeom prst="line">
            <a:avLst/>
          </a:prstGeom>
          <a:ln w="12700">
            <a:solidFill>
              <a:srgbClr val="36556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BBF8E1E-8A22-BCEC-86FE-D5B2594E055B}"/>
              </a:ext>
            </a:extLst>
          </p:cNvPr>
          <p:cNvCxnSpPr/>
          <p:nvPr/>
        </p:nvCxnSpPr>
        <p:spPr>
          <a:xfrm>
            <a:off x="787400" y="40386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AC2B059D-D36E-89B3-7A7F-4918BA53F35D}"/>
              </a:ext>
            </a:extLst>
          </p:cNvPr>
          <p:cNvSpPr txBox="1"/>
          <p:nvPr/>
        </p:nvSpPr>
        <p:spPr>
          <a:xfrm>
            <a:off x="1143000" y="3886199"/>
            <a:ext cx="100584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Three documented-seed-disjoint outcomes - no favorable-result gate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B72EDB58-CB38-8489-3128-679AE731B549}"/>
              </a:ext>
            </a:extLst>
          </p:cNvPr>
          <p:cNvCxnSpPr/>
          <p:nvPr/>
        </p:nvCxnSpPr>
        <p:spPr>
          <a:xfrm>
            <a:off x="787400" y="46609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6CD85E3-02F8-0934-B7D8-A022ACDCD6A7}"/>
              </a:ext>
            </a:extLst>
          </p:cNvPr>
          <p:cNvSpPr txBox="1"/>
          <p:nvPr/>
        </p:nvSpPr>
        <p:spPr>
          <a:xfrm>
            <a:off x="1143000" y="4508499"/>
            <a:ext cx="100584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Against supply-blind Fixed Rotation limited to Off and Full Service; no Critical Only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8630A174-EFBA-B329-20C7-0FF54B32C407}"/>
              </a:ext>
            </a:extLst>
          </p:cNvPr>
          <p:cNvCxnSpPr/>
          <p:nvPr/>
        </p:nvCxnSpPr>
        <p:spPr>
          <a:xfrm>
            <a:off x="787400" y="5283200"/>
            <a:ext cx="203200" cy="0"/>
          </a:xfrm>
          <a:prstGeom prst="line">
            <a:avLst/>
          </a:prstGeom>
          <a:ln w="38100">
            <a:solidFill>
              <a:srgbClr val="E0B9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EB48DAAC-35B4-4841-CAA5-06F39CE730A9}"/>
              </a:ext>
            </a:extLst>
          </p:cNvPr>
          <p:cNvSpPr txBox="1"/>
          <p:nvPr/>
        </p:nvSpPr>
        <p:spPr>
          <a:xfrm>
            <a:off x="1143000" y="5130799"/>
            <a:ext cx="10058400" cy="5842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>
                <a:solidFill>
                  <a:srgbClr val="F3F0E8"/>
                </a:solidFill>
                <a:latin typeface="Aptos" panose="020B0004020202020204" pitchFamily="34" charset="0"/>
              </a:rPr>
              <a:t>GPU-first offline desktop with Frozen and Live views kept separate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FC64ECA-9BE9-3B2A-7CEB-729FE939AC2A}"/>
              </a:ext>
            </a:extLst>
          </p:cNvPr>
          <p:cNvSpPr/>
          <p:nvPr/>
        </p:nvSpPr>
        <p:spPr>
          <a:xfrm>
            <a:off x="787400" y="5740400"/>
            <a:ext cx="10617200" cy="533400"/>
          </a:xfrm>
          <a:prstGeom prst="roundRect">
            <a:avLst/>
          </a:prstGeom>
          <a:solidFill>
            <a:srgbClr val="3FC6AC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25FA5A0-1533-B16B-FF74-6E75060DC184}"/>
              </a:ext>
            </a:extLst>
          </p:cNvPr>
          <p:cNvSpPr txBox="1"/>
          <p:nvPr/>
        </p:nvSpPr>
        <p:spPr>
          <a:xfrm>
            <a:off x="990600" y="5880099"/>
            <a:ext cx="10210800" cy="279400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700" b="1">
                <a:solidFill>
                  <a:srgbClr val="071923"/>
                </a:solidFill>
                <a:latin typeface="Aptos" panose="020B0004020202020204" pitchFamily="34" charset="0"/>
              </a:rPr>
              <a:t>Next: representative operational data and electrical-network constraints</a:t>
            </a:r>
          </a:p>
        </p:txBody>
      </p:sp>
    </p:spTree>
    <p:extLst>
      <p:ext uri="{BB962C8B-B14F-4D97-AF65-F5344CB8AC3E}">
        <p14:creationId xmlns:p14="http://schemas.microsoft.com/office/powerpoint/2010/main" val="27611542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1578</Words>
  <Application>Microsoft Office PowerPoint</Application>
  <PresentationFormat>Custom</PresentationFormat>
  <Paragraphs>298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Suliman Babiker</dc:creator>
  <cp:lastModifiedBy>Suliman Babiker</cp:lastModifiedBy>
  <cp:revision>1</cp:revision>
  <dcterms:created xsi:type="dcterms:W3CDTF">2026-08-27T10:12:48Z</dcterms:created>
  <dcterms:modified xsi:type="dcterms:W3CDTF">2026-08-27T10:12:49Z</dcterms:modified>
</cp:coreProperties>
</file>