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14CE1A-D214-4129-8C51-7727893BB65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75B6EB-33BA-4191-9F69-5A340388D2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185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Can PPO allocate limited modeled supply more effectively than Fixed Rotation?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docs/source/graduation-project-proposal.pdf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997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Administrative locality boundaries provide presentation context and are not electrical-network topology.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docs/assets/screenshots/overview.png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6277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controller path and display-only forecast remain separate so presentation context cannot silently change the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300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960 conditions are severity variants of 320 independent base draws. Both controllers receive the same guarded scenario; detected demand/supply mutation fails closed.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data/evidence/robustness-supplement.json, SHA-256 6b56d149331ee191302cd9e6f22365988db0ae301f9441190b61214acf832e48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787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displayed runtime, convergence, and checkpoint facts describe selected seed 43; the candidate experiment comprised 3 runs totaling 1,800 iterations, 460,800 episodes, and 11,059,200 transitions. Historical reward gates document model selection and are not independent current headline evidence. The teacher-guided initialization precedes PPO training; the deployed controller remains PPO.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data/model/training-provenance.yaml, SHA-256 d2568bce26e9221afa8c266113a704f6fbf2370d3bc949f5aa6c72a7411ba1a8</a:t>
            </a:r>
          </a:p>
          <a:p>
            <a:r>
              <a:rPr lang="en-US"/>
              <a:t>- data/model/manifest.json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188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Simulation, PPO inference, metrics, and bootstrap stay GPU-first. Scalar invariant flags may synchronize; one final full-array host transfer supports portable artifact assembly.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2379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 once, then change controller and hour without changing the scenario. Live values never replace frozen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docs/assets/screenshots/live.png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0839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the only three headline outcomes. The seeds are disjoint only from documented activity: the holdout was not preregistered or independently custodied and cannot rule out undocumented activity. Results were reported as observed; direction was not a release condition.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SHA-256 6b56d149331ee191302cd9e6f22365988db0ae301f9441190b61214acf832e48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270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cards report observed direction counts, not a gate. Sensitivity intervals are descriptive, pointwise 95%, and unadjusted for multiple comparisons; they do not support family-wide significance claims. Difference-in-differences reports effect-size shifts versus base.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sensitivity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9746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Lower error for one-hour persistence is a bounded synthetic display comparison, not operational calibration.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forecast_evaluation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872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accepted artifact preserves provenance, but acceptance used its seeds. Reviewer-facing comparisons use the separate documented-seed-disjoint holdout, subject to its stated custody limitation.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data/evidence/paired-benchmark.json, SHA-256 7f2009c4f7efbbedf098069ced9218addec51d55a18b969e6c54433027020af5</a:t>
            </a:r>
          </a:p>
          <a:p>
            <a:r>
              <a:rPr lang="en-US"/>
              <a:t>- data/evidence/robustness-supplement.json, seed_separation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2606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experiment models shortage allocation, not a power-flow network, and the data are synthetic. Fixed Rotation is supply-blind, limited to Off and Full Service, and cannot select Critical Only.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156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PPO outperformed Fixed Rotation under this locked synthetic protocol. Fixed Rotation is supply-blind, limited to Off and Full Service, and cannot select Critical Only; this is not evidence of general controller superiority. No behavior-cloning-only ablation was run, so the comparison cannot isolate the incremental effect of PPO fine-tuning. Operational-data and network validation must precede field use.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75B6EB-33BA-4191-9F69-5A340388D2E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902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9A763-3042-A951-388D-B807D4942D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FABA7F-5CB8-6E4D-BEF5-4D13B39799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2FB2C-1076-AAA5-C48E-51D504F60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71DFE-5C4F-B2FA-63D3-2D111C3E7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F0C50A-1076-1E37-9FFC-480A7BD81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891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FAEBD-E8EA-0E2D-009A-660CD3743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3432C-C853-5E0F-D335-EFBCE863E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F11F5-9EEC-65E1-CBFA-B5F5A40EB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BF052-70B1-BE35-B670-2C2E2E305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510A3C-3433-C498-D1B4-070B16FC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809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985E4-AA59-43B7-D9A0-A2ECD57FC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3EB92-0E60-8C7F-C792-AB5C22FC1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EEEE6-E692-2406-B78D-DFFA0C713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7C272-F8A5-EF3A-0AB0-127A83BB6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FDE94-CB3C-D68B-C0D2-DF5F7806A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3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E84BA-F4AC-618B-DF33-17A6DD88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4D06D-9DB7-4587-E42D-4B515479C4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60613-1B31-9D0F-5CED-51355D8A9E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E54E72-9510-22D0-C86C-9E3A39D18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397F0-62C7-E00A-6F78-A2B4A1D32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57BE4-3771-F311-ABBC-9F33C7082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6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742C9-7AB7-9A7A-FEDA-6AA43BFF3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F569F-7513-D02B-8CFA-8BFF72221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65843-8FF5-82C3-C910-FE79FDC6D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0261C5-3A92-3A28-EF94-88CCE0613E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2CE19B-65AD-90F2-A46F-E51B6B4452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B984C1-1DEF-0D9F-6354-F8C19038D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7C5C8D-9059-7BCF-D0E2-F7DA3E7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EF063-2BD5-5E56-CEA1-0696081C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2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3F7B6-94E0-7C0A-859E-29537FA60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4B82B5-5CA4-65A7-988E-09E30484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C2CBDD-C789-5B92-AB92-9A533003E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52714F-D0C1-0275-205E-7D3684A6D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289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65936E-2B84-01A0-789B-E4AA4047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29DFDB-412C-5941-E3B0-B3C0FA84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15D5F-217D-9C1C-ACF3-444B48929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160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829B8-6255-85CA-D0ED-ADCC7B939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8FC83-17D9-F3D6-D612-FF593F9BB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97A97-AD42-8014-E088-037237ABB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7E6889-3140-5D73-D00D-79431ADA0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DCF569-C44B-395E-DD2D-0AC250D91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C1C6F-3AD3-AD3E-6A81-C7FC13627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744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BC696-D801-93B4-112D-95A912100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9C5909-E180-A08B-9C8D-61E7B19BA08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FA0476-C7A5-CF14-E90D-5E09A4AFCA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6EC43E-4478-D1FA-C7B4-F3B58C3BA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636A9F-0BED-20C7-1F39-0199E7C70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2F99B-4213-8B53-627A-6B1A51674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518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E9F20-52C6-DAC2-8142-42BB1AD98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4DA634-F7A0-B30F-6B35-827A2A8A80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60D67-6857-AADD-ED02-24CC29F3C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FDEA9F-B9CE-EC1D-8F4F-33AB8325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8BE93-5C1B-7C2F-0BBC-2924675CE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759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C758AA-EC80-B5AA-ECF0-6D7433FBC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ED573D-DB3F-EA26-331F-46FC4313C7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E2DA7-E46E-958D-2EF0-34382B0F6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12DD27-BB6C-7A4B-E02B-ABE461F90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9F7735-A2A9-B14D-2823-74CA645C9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345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A2B1EB-BE66-634B-F76C-3974D3068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1ED3B4-D7FE-44F2-9ACC-CC5428426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B370F-BD47-0C09-064F-16B689E65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98ED36-E35D-43DE-B7CA-31505E9177C9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31257-FC26-C95F-47C7-C9201B357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F6FF8D-814E-F070-59A8-C26D03F4C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B24B89-0397-48D1-9609-4F53AB945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14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4EDB0F-405E-68AB-8464-A3123C1A8DD9}"/>
              </a:ext>
            </a:extLst>
          </p:cNvPr>
          <p:cNvSpPr txBox="1"/>
          <p:nvPr/>
        </p:nvSpPr>
        <p:spPr>
          <a:xfrm>
            <a:off x="762000" y="7365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GRADUATION PROJECT 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B829D3-D016-3B3F-E6C1-5FB508093D82}"/>
              </a:ext>
            </a:extLst>
          </p:cNvPr>
          <p:cNvSpPr txBox="1"/>
          <p:nvPr/>
        </p:nvSpPr>
        <p:spPr>
          <a:xfrm>
            <a:off x="762000" y="1625599"/>
            <a:ext cx="9906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F3F0E8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41F446-F2F4-7617-5A71-891B46D1F001}"/>
              </a:ext>
            </a:extLst>
          </p:cNvPr>
          <p:cNvSpPr txBox="1"/>
          <p:nvPr/>
        </p:nvSpPr>
        <p:spPr>
          <a:xfrm>
            <a:off x="762000" y="2692399"/>
            <a:ext cx="9652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>
                <a:solidFill>
                  <a:srgbClr val="E0B957"/>
                </a:solidFill>
                <a:latin typeface="Aptos" panose="020B0004020202020204" pitchFamily="34" charset="0"/>
              </a:rPr>
              <a:t>PPO-assisted load shedding and energy management for developing countries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755243-E5F3-37F0-EE26-47E6615EEBB7}"/>
              </a:ext>
            </a:extLst>
          </p:cNvPr>
          <p:cNvCxnSpPr/>
          <p:nvPr/>
        </p:nvCxnSpPr>
        <p:spPr>
          <a:xfrm>
            <a:off x="762000" y="3835400"/>
            <a:ext cx="2870200" cy="0"/>
          </a:xfrm>
          <a:prstGeom prst="line">
            <a:avLst/>
          </a:prstGeom>
          <a:ln w="635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BE4E4F7-79D1-773A-EB1C-1F506DEE5FE6}"/>
              </a:ext>
            </a:extLst>
          </p:cNvPr>
          <p:cNvSpPr txBox="1"/>
          <p:nvPr/>
        </p:nvSpPr>
        <p:spPr>
          <a:xfrm>
            <a:off x="762000" y="43814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sz="1700">
                <a:solidFill>
                  <a:srgbClr val="F3F0E8"/>
                </a:solidFill>
                <a:latin typeface="Aptos" panose="020B0004020202020204" pitchFamily="34" charset="0"/>
              </a:rPr>
              <a:t>Murtada Asim Ibrahim Bakhit (18-317)</a:t>
            </a:r>
            <a:endParaRPr lang="en-US" sz="1700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02AE2-2387-C9CF-0EBD-A17017C0E29D}"/>
              </a:ext>
            </a:extLst>
          </p:cNvPr>
          <p:cNvSpPr txBox="1"/>
          <p:nvPr/>
        </p:nvSpPr>
        <p:spPr>
          <a:xfrm>
            <a:off x="762000" y="47497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Suliman Elawad Suliman Babiker (18-310)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ACDCCB-8573-50BD-0DD1-1330D8167ED4}"/>
              </a:ext>
            </a:extLst>
          </p:cNvPr>
          <p:cNvSpPr txBox="1"/>
          <p:nvPr/>
        </p:nvSpPr>
        <p:spPr>
          <a:xfrm>
            <a:off x="762000" y="51180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Abdalhay Abass Mobarak Abass (15-306)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832CA1-2D27-2CC6-47BB-C059271281F1}"/>
              </a:ext>
            </a:extLst>
          </p:cNvPr>
          <p:cNvSpPr txBox="1"/>
          <p:nvPr/>
        </p:nvSpPr>
        <p:spPr>
          <a:xfrm>
            <a:off x="762000" y="5968999"/>
            <a:ext cx="609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research simulation  |  August 2026</a:t>
            </a:r>
          </a:p>
        </p:txBody>
      </p:sp>
    </p:spTree>
    <p:extLst>
      <p:ext uri="{BB962C8B-B14F-4D97-AF65-F5344CB8AC3E}">
        <p14:creationId xmlns:p14="http://schemas.microsoft.com/office/powerpoint/2010/main" val="2592318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CB768C-2A88-80E9-3CB1-DAC95137F8D3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E85D96-EFBE-C3F9-C1D7-7317FD31AD0C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039761-8BF0-25FC-D43D-2DE5FE50EC1B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C191ED-EB9D-46A1-FBE1-8A81D409E5E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10C6B-814A-84DA-6F12-EE884334E829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Seven simultaneous allocation choices under shortage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F6402D-5569-755E-BF2C-9E625BDCA0B0}"/>
              </a:ext>
            </a:extLst>
          </p:cNvPr>
          <p:cNvCxnSpPr/>
          <p:nvPr/>
        </p:nvCxnSpPr>
        <p:spPr>
          <a:xfrm>
            <a:off x="736600" y="21844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CE503E7-E895-AE65-C92C-1CD5589FEB47}"/>
              </a:ext>
            </a:extLst>
          </p:cNvPr>
          <p:cNvSpPr txBox="1"/>
          <p:nvPr/>
        </p:nvSpPr>
        <p:spPr>
          <a:xfrm>
            <a:off x="1092200" y="20319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Protect Hospital, Water, and Bakery demand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C9DBB4-E832-A209-E462-B4B2DFEAB9B4}"/>
              </a:ext>
            </a:extLst>
          </p:cNvPr>
          <p:cNvCxnSpPr/>
          <p:nvPr/>
        </p:nvCxnSpPr>
        <p:spPr>
          <a:xfrm>
            <a:off x="736600" y="3022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499206B-5FA0-FFD3-0CBF-A7CC205D670F}"/>
              </a:ext>
            </a:extLst>
          </p:cNvPr>
          <p:cNvSpPr txBox="1"/>
          <p:nvPr/>
        </p:nvSpPr>
        <p:spPr>
          <a:xfrm>
            <a:off x="1092200" y="28701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Use available supply without exceeding 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5351E81-BB1B-FFA2-3F27-3AEA00A9C41C}"/>
              </a:ext>
            </a:extLst>
          </p:cNvPr>
          <p:cNvCxnSpPr/>
          <p:nvPr/>
        </p:nvCxnSpPr>
        <p:spPr>
          <a:xfrm>
            <a:off x="736600" y="38608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6FA1644-F4B1-B859-B9B4-575A7593F674}"/>
              </a:ext>
            </a:extLst>
          </p:cNvPr>
          <p:cNvSpPr txBox="1"/>
          <p:nvPr/>
        </p:nvSpPr>
        <p:spPr>
          <a:xfrm>
            <a:off x="1092200" y="37083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Share service across seven modeled localities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F3CEEB2-9E19-5852-09A5-72F85E6DAF7B}"/>
              </a:ext>
            </a:extLst>
          </p:cNvPr>
          <p:cNvSpPr/>
          <p:nvPr/>
        </p:nvSpPr>
        <p:spPr>
          <a:xfrm>
            <a:off x="5397500" y="1778000"/>
            <a:ext cx="6159500" cy="34671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Overview showing seven administrative locality boundaries and access to live scenarios and results">
            <a:extLst>
              <a:ext uri="{FF2B5EF4-FFF2-40B4-BE49-F238E27FC236}">
                <a16:creationId xmlns:a16="http://schemas.microsoft.com/office/drawing/2014/main" id="{4241AD8C-6F2C-5414-72EC-03944A264A2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1866900"/>
            <a:ext cx="5981700" cy="3365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3E98F3-C856-A1F9-0638-27AD5480306C}"/>
              </a:ext>
            </a:extLst>
          </p:cNvPr>
          <p:cNvSpPr txBox="1"/>
          <p:nvPr/>
        </p:nvSpPr>
        <p:spPr>
          <a:xfrm>
            <a:off x="736600" y="5562599"/>
            <a:ext cx="10033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Synthetic decision support - not a live grid controller</a:t>
            </a:r>
          </a:p>
        </p:txBody>
      </p:sp>
    </p:spTree>
    <p:extLst>
      <p:ext uri="{BB962C8B-B14F-4D97-AF65-F5344CB8AC3E}">
        <p14:creationId xmlns:p14="http://schemas.microsoft.com/office/powerpoint/2010/main" val="1224907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7AE73F-25A2-4421-6DAE-4E037209621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1EF6D61-8EE2-E45C-F1B6-0D0B27DD4D18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76A1153-1CFA-AA63-3286-01CC0585F57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C62509-650E-085A-F8B1-CF5A7B621398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8F5A19-34D5-E4A2-12B7-C54D2C89A082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controller evidence path is isolated from presentation context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D628A75-F958-A987-DDB9-0C2DCD979DDB}"/>
              </a:ext>
            </a:extLst>
          </p:cNvPr>
          <p:cNvCxnSpPr/>
          <p:nvPr/>
        </p:nvCxnSpPr>
        <p:spPr>
          <a:xfrm>
            <a:off x="2374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00C004-2E4F-7173-A78E-A97271A03208}"/>
              </a:ext>
            </a:extLst>
          </p:cNvPr>
          <p:cNvCxnSpPr/>
          <p:nvPr/>
        </p:nvCxnSpPr>
        <p:spPr>
          <a:xfrm>
            <a:off x="4597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09BA80-DDAA-F7C4-C3DF-4E7D3FEC2886}"/>
              </a:ext>
            </a:extLst>
          </p:cNvPr>
          <p:cNvCxnSpPr/>
          <p:nvPr/>
        </p:nvCxnSpPr>
        <p:spPr>
          <a:xfrm>
            <a:off x="6819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770EFC-9645-6E30-311C-D228669E0356}"/>
              </a:ext>
            </a:extLst>
          </p:cNvPr>
          <p:cNvCxnSpPr/>
          <p:nvPr/>
        </p:nvCxnSpPr>
        <p:spPr>
          <a:xfrm>
            <a:off x="9042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C225DD-38B3-A6C0-69C4-800BBE4CF537}"/>
              </a:ext>
            </a:extLst>
          </p:cNvPr>
          <p:cNvSpPr/>
          <p:nvPr/>
        </p:nvSpPr>
        <p:spPr>
          <a:xfrm>
            <a:off x="8001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8DD350-C909-39B3-65B9-614C956B8B46}"/>
              </a:ext>
            </a:extLst>
          </p:cNvPr>
          <p:cNvSpPr txBox="1"/>
          <p:nvPr/>
        </p:nvSpPr>
        <p:spPr>
          <a:xfrm>
            <a:off x="88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Seeded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scenarios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5E72986-AA59-6AE3-CA83-7D9AA8B38005}"/>
              </a:ext>
            </a:extLst>
          </p:cNvPr>
          <p:cNvSpPr/>
          <p:nvPr/>
        </p:nvSpPr>
        <p:spPr>
          <a:xfrm>
            <a:off x="3022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FEFECA-A04F-A6A3-D51B-45A640B98D22}"/>
              </a:ext>
            </a:extLst>
          </p:cNvPr>
          <p:cNvSpPr txBox="1"/>
          <p:nvPr/>
        </p:nvSpPr>
        <p:spPr>
          <a:xfrm>
            <a:off x="3111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Shared CUDA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tensors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0C9A8EF-D620-94FE-609C-D9C05FD9BA75}"/>
              </a:ext>
            </a:extLst>
          </p:cNvPr>
          <p:cNvSpPr/>
          <p:nvPr/>
        </p:nvSpPr>
        <p:spPr>
          <a:xfrm>
            <a:off x="5245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8B57E2-A06A-AE23-D975-6A7E25A305D8}"/>
              </a:ext>
            </a:extLst>
          </p:cNvPr>
          <p:cNvSpPr txBox="1"/>
          <p:nvPr/>
        </p:nvSpPr>
        <p:spPr>
          <a:xfrm>
            <a:off x="5334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PPO and</a:t>
            </a:r>
          </a:p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F5ABEDA-386D-2A21-919E-EB811C1CA467}"/>
              </a:ext>
            </a:extLst>
          </p:cNvPr>
          <p:cNvSpPr/>
          <p:nvPr/>
        </p:nvSpPr>
        <p:spPr>
          <a:xfrm>
            <a:off x="7467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0316C4-22D1-C655-E6A9-C27BBDEDAD44}"/>
              </a:ext>
            </a:extLst>
          </p:cNvPr>
          <p:cNvSpPr txBox="1"/>
          <p:nvPr/>
        </p:nvSpPr>
        <p:spPr>
          <a:xfrm>
            <a:off x="7556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Paired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242715-6C0C-686D-AB76-15953AC4323B}"/>
              </a:ext>
            </a:extLst>
          </p:cNvPr>
          <p:cNvSpPr/>
          <p:nvPr/>
        </p:nvSpPr>
        <p:spPr>
          <a:xfrm>
            <a:off x="9690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20D4B5-E3DB-4E28-0DBA-8DCAC0C4641D}"/>
              </a:ext>
            </a:extLst>
          </p:cNvPr>
          <p:cNvSpPr txBox="1"/>
          <p:nvPr/>
        </p:nvSpPr>
        <p:spPr>
          <a:xfrm>
            <a:off x="977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Desktop</a:t>
            </a:r>
          </a:p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replay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EE918D-9BCA-9D73-7BBD-C27CF9ED21B7}"/>
              </a:ext>
            </a:extLst>
          </p:cNvPr>
          <p:cNvSpPr txBox="1"/>
          <p:nvPr/>
        </p:nvSpPr>
        <p:spPr>
          <a:xfrm>
            <a:off x="736600" y="4063999"/>
            <a:ext cx="292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Controller evidence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0A7635-8A76-CA8B-FE24-3AEE60B90775}"/>
              </a:ext>
            </a:extLst>
          </p:cNvPr>
          <p:cNvCxnSpPr/>
          <p:nvPr/>
        </p:nvCxnSpPr>
        <p:spPr>
          <a:xfrm>
            <a:off x="736600" y="4508500"/>
            <a:ext cx="106934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662F121-755E-EB94-1477-8348051E3ACC}"/>
              </a:ext>
            </a:extLst>
          </p:cNvPr>
          <p:cNvSpPr txBox="1"/>
          <p:nvPr/>
        </p:nvSpPr>
        <p:spPr>
          <a:xfrm>
            <a:off x="736600" y="4825999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Demand projection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7B63B3-93F8-7B86-81D3-4E04E0CD4AA8}"/>
              </a:ext>
            </a:extLst>
          </p:cNvPr>
          <p:cNvSpPr txBox="1"/>
          <p:nvPr/>
        </p:nvSpPr>
        <p:spPr>
          <a:xfrm>
            <a:off x="3175000" y="4825999"/>
            <a:ext cx="83820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60727D"/>
                </a:solidFill>
                <a:latin typeface="Aptos" panose="020B0004020202020204" pitchFamily="34" charset="0"/>
              </a:rPr>
              <a:t>Display only - never enters PPO, dispatch, training objective, or benchmark evidence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B51F91-0832-1990-F11A-3EF95A602F37}"/>
              </a:ext>
            </a:extLst>
          </p:cNvPr>
          <p:cNvSpPr txBox="1"/>
          <p:nvPr/>
        </p:nvSpPr>
        <p:spPr>
          <a:xfrm>
            <a:off x="736600" y="56895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Offline after installation  |  hash-bound artifacts  |  fail-closed startup</a:t>
            </a:r>
          </a:p>
        </p:txBody>
      </p:sp>
    </p:spTree>
    <p:extLst>
      <p:ext uri="{BB962C8B-B14F-4D97-AF65-F5344CB8AC3E}">
        <p14:creationId xmlns:p14="http://schemas.microsoft.com/office/powerpoint/2010/main" val="2084298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F94D88-438A-9742-B56B-32D83C31F7E1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EDF6609-A75E-7FC3-3934-13E08AD96E8B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F68AB14-5865-190E-EBFE-909113D26DE5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98F40-66DD-3E75-2E03-D53057E66DB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473DA5-8D7E-DF28-BFD5-58E490344B1E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and Fixed Rotation receive the same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9220A30-C505-D41A-340C-19E1D4479AC8}"/>
              </a:ext>
            </a:extLst>
          </p:cNvPr>
          <p:cNvSpPr/>
          <p:nvPr/>
        </p:nvSpPr>
        <p:spPr>
          <a:xfrm>
            <a:off x="787400" y="1981200"/>
            <a:ext cx="2997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9328A1-11B3-9C52-ED80-89FD6B9A1AB3}"/>
              </a:ext>
            </a:extLst>
          </p:cNvPr>
          <p:cNvSpPr txBox="1"/>
          <p:nvPr/>
        </p:nvSpPr>
        <p:spPr>
          <a:xfrm>
            <a:off x="965200" y="2133599"/>
            <a:ext cx="2641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320 independent base draws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E4E693-A130-EE94-AE3E-A011A37A1B09}"/>
              </a:ext>
            </a:extLst>
          </p:cNvPr>
          <p:cNvSpPr txBox="1"/>
          <p:nvPr/>
        </p:nvSpPr>
        <p:spPr>
          <a:xfrm>
            <a:off x="965200" y="2946399"/>
            <a:ext cx="2641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10 seeds x 32 episodes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C64A3-2DAB-7B62-AF1A-A3B90821D451}"/>
              </a:ext>
            </a:extLst>
          </p:cNvPr>
          <p:cNvSpPr txBox="1"/>
          <p:nvPr/>
        </p:nvSpPr>
        <p:spPr>
          <a:xfrm>
            <a:off x="787400" y="3632199"/>
            <a:ext cx="10617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Documented-seed-disjoint holdout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4C2233-4BE2-1BF2-00E4-EA5AC696678C}"/>
              </a:ext>
            </a:extLst>
          </p:cNvPr>
          <p:cNvSpPr txBox="1"/>
          <p:nvPr/>
        </p:nvSpPr>
        <p:spPr>
          <a:xfrm>
            <a:off x="3937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F09CCED-935B-29C0-60AA-B0FD6C76514E}"/>
              </a:ext>
            </a:extLst>
          </p:cNvPr>
          <p:cNvSpPr/>
          <p:nvPr/>
        </p:nvSpPr>
        <p:spPr>
          <a:xfrm>
            <a:off x="5080000" y="1981200"/>
            <a:ext cx="2768600" cy="16002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8326EB-08AB-B238-AF7B-B709D2D60092}"/>
              </a:ext>
            </a:extLst>
          </p:cNvPr>
          <p:cNvSpPr txBox="1"/>
          <p:nvPr/>
        </p:nvSpPr>
        <p:spPr>
          <a:xfrm>
            <a:off x="5257800" y="2133599"/>
            <a:ext cx="2413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071923"/>
                </a:solidFill>
                <a:latin typeface="Aptos" panose="020B0004020202020204" pitchFamily="34" charset="0"/>
              </a:rPr>
              <a:t>960 matched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B8288D-0311-3C29-F072-EAC0ABD85C90}"/>
              </a:ext>
            </a:extLst>
          </p:cNvPr>
          <p:cNvSpPr txBox="1"/>
          <p:nvPr/>
        </p:nvSpPr>
        <p:spPr>
          <a:xfrm>
            <a:off x="5257800" y="2946399"/>
            <a:ext cx="2413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Mild, Moderate, Severe shortage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80C3F8-BC92-5E00-CCE3-ABF449C1334F}"/>
              </a:ext>
            </a:extLst>
          </p:cNvPr>
          <p:cNvSpPr txBox="1"/>
          <p:nvPr/>
        </p:nvSpPr>
        <p:spPr>
          <a:xfrm>
            <a:off x="8001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B084BE6-0784-CC88-FBB3-2C907BE11744}"/>
              </a:ext>
            </a:extLst>
          </p:cNvPr>
          <p:cNvSpPr/>
          <p:nvPr/>
        </p:nvSpPr>
        <p:spPr>
          <a:xfrm>
            <a:off x="9144000" y="1981200"/>
            <a:ext cx="22606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227A1D-25C9-C771-CCD0-298C290AB82C}"/>
              </a:ext>
            </a:extLst>
          </p:cNvPr>
          <p:cNvSpPr txBox="1"/>
          <p:nvPr/>
        </p:nvSpPr>
        <p:spPr>
          <a:xfrm>
            <a:off x="9321800" y="2133599"/>
            <a:ext cx="1905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1920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F9C250-5103-6814-8E08-8E847B13A8FB}"/>
              </a:ext>
            </a:extLst>
          </p:cNvPr>
          <p:cNvSpPr txBox="1"/>
          <p:nvPr/>
        </p:nvSpPr>
        <p:spPr>
          <a:xfrm>
            <a:off x="9321800" y="2946399"/>
            <a:ext cx="1905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controller-scenario evaluations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B940974-70C3-AD53-633C-D19922F8625C}"/>
              </a:ext>
            </a:extLst>
          </p:cNvPr>
          <p:cNvCxnSpPr/>
          <p:nvPr/>
        </p:nvCxnSpPr>
        <p:spPr>
          <a:xfrm>
            <a:off x="787400" y="40386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4185ADF-5D45-7727-BE0E-6D796A586636}"/>
              </a:ext>
            </a:extLst>
          </p:cNvPr>
          <p:cNvSpPr txBox="1"/>
          <p:nvPr/>
        </p:nvSpPr>
        <p:spPr>
          <a:xfrm>
            <a:off x="889000" y="4444999"/>
            <a:ext cx="2222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191403-0302-B78A-ADA7-56CC5AB56DD2}"/>
              </a:ext>
            </a:extLst>
          </p:cNvPr>
          <p:cNvSpPr txBox="1"/>
          <p:nvPr/>
        </p:nvSpPr>
        <p:spPr>
          <a:xfrm>
            <a:off x="889000" y="4902199"/>
            <a:ext cx="3683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32-value observation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7-locality joint action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3818F1-2B26-E8A2-0F0E-75AA50137EFB}"/>
              </a:ext>
            </a:extLst>
          </p:cNvPr>
          <p:cNvSpPr txBox="1"/>
          <p:nvPr/>
        </p:nvSpPr>
        <p:spPr>
          <a:xfrm>
            <a:off x="6540500" y="4444999"/>
            <a:ext cx="2921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C02643-74E8-13EB-9DA5-45714AB53BFE}"/>
              </a:ext>
            </a:extLst>
          </p:cNvPr>
          <p:cNvSpPr txBox="1"/>
          <p:nvPr/>
        </p:nvSpPr>
        <p:spPr>
          <a:xfrm>
            <a:off x="6540500" y="4902199"/>
            <a:ext cx="4191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Three-hour schedule blocks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No demand or fairness observation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32EF02D-D184-3512-12B2-934FA02C853F}"/>
              </a:ext>
            </a:extLst>
          </p:cNvPr>
          <p:cNvSpPr txBox="1"/>
          <p:nvPr/>
        </p:nvSpPr>
        <p:spPr>
          <a:xfrm>
            <a:off x="3175000" y="5816599"/>
            <a:ext cx="5842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Every stored delta is PPO - Fixed Rotation</a:t>
            </a:r>
          </a:p>
        </p:txBody>
      </p:sp>
    </p:spTree>
    <p:extLst>
      <p:ext uri="{BB962C8B-B14F-4D97-AF65-F5344CB8AC3E}">
        <p14:creationId xmlns:p14="http://schemas.microsoft.com/office/powerpoint/2010/main" val="20966615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65ECD-1772-FE7A-4813-AFD206E1A77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6F1BDDC-83A6-DA3C-EB8C-31F2C69A762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D22A131-F9CF-C4BC-C2C0-0A280A359663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25830A-5DD9-D416-D6C9-59563A4291CB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A7C5C-7682-CDC2-A3EE-731F9A065BD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PPO checkpoint has a historical training record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93E26A2-9C3A-28D1-E76B-D6634382C1AC}"/>
              </a:ext>
            </a:extLst>
          </p:cNvPr>
          <p:cNvSpPr/>
          <p:nvPr/>
        </p:nvSpPr>
        <p:spPr>
          <a:xfrm>
            <a:off x="736600" y="1879600"/>
            <a:ext cx="10718800" cy="9906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5D930-FA7B-BFBF-2F3C-033BBBD2EE0F}"/>
              </a:ext>
            </a:extLst>
          </p:cNvPr>
          <p:cNvSpPr txBox="1"/>
          <p:nvPr/>
        </p:nvSpPr>
        <p:spPr>
          <a:xfrm>
            <a:off x="965200" y="2070099"/>
            <a:ext cx="139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Network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5B8C1C-B379-5F51-1786-02F5A6871A5F}"/>
              </a:ext>
            </a:extLst>
          </p:cNvPr>
          <p:cNvSpPr txBox="1"/>
          <p:nvPr/>
        </p:nvSpPr>
        <p:spPr>
          <a:xfrm>
            <a:off x="965200" y="2387599"/>
            <a:ext cx="317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32 -&gt; 512 -&gt; 512 -&gt; 2187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51F665-61CA-FE76-236A-4919DFE7D9DF}"/>
              </a:ext>
            </a:extLst>
          </p:cNvPr>
          <p:cNvSpPr txBox="1"/>
          <p:nvPr/>
        </p:nvSpPr>
        <p:spPr>
          <a:xfrm>
            <a:off x="4495800" y="20700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Selected checkpoint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6E8FC7-9BC5-B124-A16D-B13AF544D4B3}"/>
              </a:ext>
            </a:extLst>
          </p:cNvPr>
          <p:cNvSpPr txBox="1"/>
          <p:nvPr/>
        </p:nvSpPr>
        <p:spPr>
          <a:xfrm>
            <a:off x="4495800" y="2387599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iteration 510  |  seed 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79913-F6E5-2789-8FF6-9BBF557E1B62}"/>
              </a:ext>
            </a:extLst>
          </p:cNvPr>
          <p:cNvSpPr txBox="1"/>
          <p:nvPr/>
        </p:nvSpPr>
        <p:spPr>
          <a:xfrm>
            <a:off x="8356600" y="2070099"/>
            <a:ext cx="190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Validation seeds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98858-C209-5741-4C95-4C1979A54206}"/>
              </a:ext>
            </a:extLst>
          </p:cNvPr>
          <p:cNvSpPr txBox="1"/>
          <p:nvPr/>
        </p:nvSpPr>
        <p:spPr>
          <a:xfrm>
            <a:off x="8356600" y="2387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70000, 70001, 70002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311A14-EACA-A32A-91F7-77C5505305C6}"/>
              </a:ext>
            </a:extLst>
          </p:cNvPr>
          <p:cNvSpPr txBox="1"/>
          <p:nvPr/>
        </p:nvSpPr>
        <p:spPr>
          <a:xfrm>
            <a:off x="812800" y="3276599"/>
            <a:ext cx="3810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007565"/>
                </a:solidFill>
                <a:latin typeface="Aptos" panose="020B0004020202020204" pitchFamily="34" charset="0"/>
              </a:rPr>
              <a:t>Historical initialization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032F7C-7E13-EE19-28EC-53A26303B735}"/>
              </a:ext>
            </a:extLst>
          </p:cNvPr>
          <p:cNvCxnSpPr/>
          <p:nvPr/>
        </p:nvCxnSpPr>
        <p:spPr>
          <a:xfrm>
            <a:off x="812800" y="3937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742FCAE-2D8C-C2E7-E659-267D6DFB13B5}"/>
              </a:ext>
            </a:extLst>
          </p:cNvPr>
          <p:cNvSpPr txBox="1"/>
          <p:nvPr/>
        </p:nvSpPr>
        <p:spPr>
          <a:xfrm>
            <a:off x="1168400" y="37845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100 epochs  |  32768 teacher samples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16C8A8-8DE7-673A-807C-DA6C74911E8F}"/>
              </a:ext>
            </a:extLst>
          </p:cNvPr>
          <p:cNvCxnSpPr/>
          <p:nvPr/>
        </p:nvCxnSpPr>
        <p:spPr>
          <a:xfrm>
            <a:off x="812800" y="4368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EC3D7E4-9C37-6054-ACC0-22363B58C421}"/>
              </a:ext>
            </a:extLst>
          </p:cNvPr>
          <p:cNvSpPr txBox="1"/>
          <p:nvPr/>
        </p:nvSpPr>
        <p:spPr>
          <a:xfrm>
            <a:off x="1168400" y="42163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1600 initialization optimizer updates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2EE6A77-BE5D-9C45-1F9F-405B518047A3}"/>
              </a:ext>
            </a:extLst>
          </p:cNvPr>
          <p:cNvCxnSpPr/>
          <p:nvPr/>
        </p:nvCxnSpPr>
        <p:spPr>
          <a:xfrm>
            <a:off x="812800" y="48006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A262BC-1779-CAC3-8C1C-984B17FA401E}"/>
              </a:ext>
            </a:extLst>
          </p:cNvPr>
          <p:cNvSpPr txBox="1"/>
          <p:nvPr/>
        </p:nvSpPr>
        <p:spPr>
          <a:xfrm>
            <a:off x="1168400" y="46481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Selected seed 43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71E58B0-8F25-957F-0AAC-7D48E000BC35}"/>
              </a:ext>
            </a:extLst>
          </p:cNvPr>
          <p:cNvCxnSpPr/>
          <p:nvPr/>
        </p:nvCxnSpPr>
        <p:spPr>
          <a:xfrm>
            <a:off x="812800" y="5232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E0F500A-2D5C-104A-25EC-7E709272D224}"/>
              </a:ext>
            </a:extLst>
          </p:cNvPr>
          <p:cNvSpPr txBox="1"/>
          <p:nvPr/>
        </p:nvSpPr>
        <p:spPr>
          <a:xfrm>
            <a:off x="1168400" y="50799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600 PPO iterations  |  153,600 episodes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BE7BEF0-4D4F-53DE-A1D0-ABA47E03ACEA}"/>
              </a:ext>
            </a:extLst>
          </p:cNvPr>
          <p:cNvCxnSpPr/>
          <p:nvPr/>
        </p:nvCxnSpPr>
        <p:spPr>
          <a:xfrm>
            <a:off x="812800" y="5664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A2BF1CD-6559-5C4F-4B26-222ACE12FE06}"/>
              </a:ext>
            </a:extLst>
          </p:cNvPr>
          <p:cNvSpPr txBox="1"/>
          <p:nvPr/>
        </p:nvSpPr>
        <p:spPr>
          <a:xfrm>
            <a:off x="1168400" y="55117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3,686,400 transitions  |  learning rate 0.0001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1C6371-F240-7A8B-4484-9A00623027D3}"/>
              </a:ext>
            </a:extLst>
          </p:cNvPr>
          <p:cNvSpPr txBox="1"/>
          <p:nvPr/>
        </p:nvSpPr>
        <p:spPr>
          <a:xfrm>
            <a:off x="6807200" y="3276599"/>
            <a:ext cx="444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835D0A"/>
                </a:solidFill>
                <a:latin typeface="Aptos" panose="020B0004020202020204" pitchFamily="34" charset="0"/>
              </a:rPr>
              <a:t>Training-objective score (diagnostic)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2B998A-4A7C-C453-3E13-3CCBFC40139A}"/>
              </a:ext>
            </a:extLst>
          </p:cNvPr>
          <p:cNvSpPr txBox="1"/>
          <p:nvPr/>
        </p:nvSpPr>
        <p:spPr>
          <a:xfrm>
            <a:off x="6807200" y="3835399"/>
            <a:ext cx="2159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007565"/>
                </a:solidFill>
                <a:latin typeface="Aptos" panose="020B0004020202020204" pitchFamily="34" charset="0"/>
              </a:rPr>
              <a:t>23.510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EF6DDAC-8DC9-F100-F910-FB963D61FE11}"/>
              </a:ext>
            </a:extLst>
          </p:cNvPr>
          <p:cNvSpPr txBox="1"/>
          <p:nvPr/>
        </p:nvSpPr>
        <p:spPr>
          <a:xfrm>
            <a:off x="6807200" y="4546599"/>
            <a:ext cx="266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selected iteration 510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B029B2-0BC9-AEC5-302B-349B687F5962}"/>
              </a:ext>
            </a:extLst>
          </p:cNvPr>
          <p:cNvSpPr txBox="1"/>
          <p:nvPr/>
        </p:nvSpPr>
        <p:spPr>
          <a:xfrm>
            <a:off x="9499600" y="3835399"/>
            <a:ext cx="1778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60727D"/>
                </a:solidFill>
                <a:latin typeface="Aptos" panose="020B0004020202020204" pitchFamily="34" charset="0"/>
              </a:rPr>
              <a:t>15.072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C4EB42-BBE7-C293-4442-D8C0410F4606}"/>
              </a:ext>
            </a:extLst>
          </p:cNvPr>
          <p:cNvSpPr txBox="1"/>
          <p:nvPr/>
        </p:nvSpPr>
        <p:spPr>
          <a:xfrm>
            <a:off x="9499600" y="4546599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untrained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035ACB-6392-31E4-6DFA-CD2A6B7F5C83}"/>
              </a:ext>
            </a:extLst>
          </p:cNvPr>
          <p:cNvSpPr txBox="1"/>
          <p:nvPr/>
        </p:nvSpPr>
        <p:spPr>
          <a:xfrm>
            <a:off x="6807200" y="5016499"/>
            <a:ext cx="444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835D0A"/>
                </a:solidFill>
                <a:latin typeface="Aptos" panose="020B0004020202020204" pitchFamily="34" charset="0"/>
              </a:rPr>
              <a:t>Three-seed candidate experiment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0F3999-1ACF-1159-6DB9-065FA6B1CE70}"/>
              </a:ext>
            </a:extLst>
          </p:cNvPr>
          <p:cNvSpPr txBox="1"/>
          <p:nvPr/>
        </p:nvSpPr>
        <p:spPr>
          <a:xfrm>
            <a:off x="6807200" y="53720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1,800 iterations  |  460,800 episodes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6E0396-C785-6ECC-3F75-BA6C63F6222F}"/>
              </a:ext>
            </a:extLst>
          </p:cNvPr>
          <p:cNvSpPr txBox="1"/>
          <p:nvPr/>
        </p:nvSpPr>
        <p:spPr>
          <a:xfrm>
            <a:off x="6807200" y="57022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11,059,200 transitions total</a:t>
            </a:r>
          </a:p>
        </p:txBody>
      </p:sp>
    </p:spTree>
    <p:extLst>
      <p:ext uri="{BB962C8B-B14F-4D97-AF65-F5344CB8AC3E}">
        <p14:creationId xmlns:p14="http://schemas.microsoft.com/office/powerpoint/2010/main" val="1430138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CC6DD0-0E6B-32FE-C3C2-CF37AEA1E144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3F94349-8C63-D745-3334-D0D1E3514E8A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73F71-37FD-6757-8570-41FF1E4D492C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CF71D-F506-F820-73F3-9B20610588D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D7A8F6-99B2-7CBA-8432-BC37D7E2C091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GPU-first simulation, PPO inference, and paired bootstrap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2F729E-A9E2-B269-25EF-718F75486624}"/>
              </a:ext>
            </a:extLst>
          </p:cNvPr>
          <p:cNvCxnSpPr/>
          <p:nvPr/>
        </p:nvCxnSpPr>
        <p:spPr>
          <a:xfrm>
            <a:off x="25400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404AEF4-2E46-1C03-AD8F-A74D16918414}"/>
              </a:ext>
            </a:extLst>
          </p:cNvPr>
          <p:cNvCxnSpPr/>
          <p:nvPr/>
        </p:nvCxnSpPr>
        <p:spPr>
          <a:xfrm>
            <a:off x="67945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4C7F08E-DEC4-AD1F-717B-54F90564FB10}"/>
              </a:ext>
            </a:extLst>
          </p:cNvPr>
          <p:cNvSpPr/>
          <p:nvPr/>
        </p:nvSpPr>
        <p:spPr>
          <a:xfrm>
            <a:off x="889000" y="2184400"/>
            <a:ext cx="2413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6E7D5-5B90-EC86-F82A-84CF6B043146}"/>
              </a:ext>
            </a:extLst>
          </p:cNvPr>
          <p:cNvSpPr txBox="1"/>
          <p:nvPr/>
        </p:nvSpPr>
        <p:spPr>
          <a:xfrm>
            <a:off x="1079500" y="2451099"/>
            <a:ext cx="2032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PyTorch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763192-B1AD-A5C4-DC63-215A51AA3D72}"/>
              </a:ext>
            </a:extLst>
          </p:cNvPr>
          <p:cNvSpPr txBox="1"/>
          <p:nvPr/>
        </p:nvSpPr>
        <p:spPr>
          <a:xfrm>
            <a:off x="1079500" y="2933699"/>
            <a:ext cx="2032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scenario tensors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simulation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PPO inference</a:t>
            </a:r>
            <a:endParaRPr lang="en-US" sz="1600">
              <a:solidFill>
                <a:srgbClr val="83939D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8187B-967E-62BD-8733-BB4A23AA4734}"/>
              </a:ext>
            </a:extLst>
          </p:cNvPr>
          <p:cNvSpPr/>
          <p:nvPr/>
        </p:nvSpPr>
        <p:spPr>
          <a:xfrm>
            <a:off x="4889500" y="1968500"/>
            <a:ext cx="2108200" cy="20828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14630A-60FA-0277-4C57-50892B57458A}"/>
              </a:ext>
            </a:extLst>
          </p:cNvPr>
          <p:cNvSpPr txBox="1"/>
          <p:nvPr/>
        </p:nvSpPr>
        <p:spPr>
          <a:xfrm>
            <a:off x="5105400" y="2514599"/>
            <a:ext cx="1676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071923"/>
                </a:solidFill>
                <a:latin typeface="Aptos" panose="020B0004020202020204" pitchFamily="34" charset="0"/>
              </a:rPr>
              <a:t>cuda:0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FD45E2-55CC-7CA8-7C36-AE0568855AC4}"/>
              </a:ext>
            </a:extLst>
          </p:cNvPr>
          <p:cNvSpPr txBox="1"/>
          <p:nvPr/>
        </p:nvSpPr>
        <p:spPr>
          <a:xfrm>
            <a:off x="5092700" y="3187699"/>
            <a:ext cx="1701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validated</a:t>
            </a:r>
          </a:p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NVIDIA GPU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495B8D0-28DE-BAA3-DE50-F25E454A62EB}"/>
              </a:ext>
            </a:extLst>
          </p:cNvPr>
          <p:cNvSpPr/>
          <p:nvPr/>
        </p:nvSpPr>
        <p:spPr>
          <a:xfrm>
            <a:off x="8763000" y="2184400"/>
            <a:ext cx="2540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D17F47-2850-37D4-6249-1F952B7BC9AE}"/>
              </a:ext>
            </a:extLst>
          </p:cNvPr>
          <p:cNvSpPr txBox="1"/>
          <p:nvPr/>
        </p:nvSpPr>
        <p:spPr>
          <a:xfrm>
            <a:off x="8991600" y="2451099"/>
            <a:ext cx="20828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CuPy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3A0FE3-83FA-1C41-F4EA-C756BAC72DBD}"/>
              </a:ext>
            </a:extLst>
          </p:cNvPr>
          <p:cNvSpPr txBox="1"/>
          <p:nvPr/>
        </p:nvSpPr>
        <p:spPr>
          <a:xfrm>
            <a:off x="8991600" y="2933699"/>
            <a:ext cx="20828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cluster bootstrap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CUDA sort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linear percentiles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DAB59E0-AB34-4677-B055-4911AEDD89BE}"/>
              </a:ext>
            </a:extLst>
          </p:cNvPr>
          <p:cNvCxnSpPr/>
          <p:nvPr/>
        </p:nvCxnSpPr>
        <p:spPr>
          <a:xfrm>
            <a:off x="889000" y="47879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12F6352-674B-2BC0-B115-B2CA6B3953E1}"/>
              </a:ext>
            </a:extLst>
          </p:cNvPr>
          <p:cNvSpPr txBox="1"/>
          <p:nvPr/>
        </p:nvSpPr>
        <p:spPr>
          <a:xfrm>
            <a:off x="1244600" y="46354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PyTorch 2.8 + CUDA 12.8  |  DLPack sharing with CuPy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AD0DC0F-C47B-C5EE-B51C-C57BF99259F6}"/>
              </a:ext>
            </a:extLst>
          </p:cNvPr>
          <p:cNvCxnSpPr/>
          <p:nvPr/>
        </p:nvCxnSpPr>
        <p:spPr>
          <a:xfrm>
            <a:off x="889000" y="5257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4760541-A7BC-9DAC-2A6F-680864DB729F}"/>
              </a:ext>
            </a:extLst>
          </p:cNvPr>
          <p:cNvSpPr txBox="1"/>
          <p:nvPr/>
        </p:nvSpPr>
        <p:spPr>
          <a:xfrm>
            <a:off x="1244600" y="51053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10,000 deterministic seed-stratified bootstrap replicates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D5BE281-E955-F207-D192-A63C1DF5D563}"/>
              </a:ext>
            </a:extLst>
          </p:cNvPr>
          <p:cNvCxnSpPr/>
          <p:nvPr/>
        </p:nvCxnSpPr>
        <p:spPr>
          <a:xfrm>
            <a:off x="889000" y="57277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EDB6267-B57A-5A45-7A73-94E25A044B7C}"/>
              </a:ext>
            </a:extLst>
          </p:cNvPr>
          <p:cNvSpPr txBox="1"/>
          <p:nvPr/>
        </p:nvSpPr>
        <p:spPr>
          <a:xfrm>
            <a:off x="1244600" y="55752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Scalar validity flags may synchronize; one final bulk transfer assembles evidence</a:t>
            </a:r>
          </a:p>
        </p:txBody>
      </p:sp>
    </p:spTree>
    <p:extLst>
      <p:ext uri="{BB962C8B-B14F-4D97-AF65-F5344CB8AC3E}">
        <p14:creationId xmlns:p14="http://schemas.microsoft.com/office/powerpoint/2010/main" val="1006325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B5210-F5DA-4FEB-C12B-D6B1A48BCBD7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3F8EC02-4EA3-5B4B-303E-B51A0DD23E5C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9921F12-1135-88AE-5F1B-6A21B4B027C4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F7428-A92D-7A93-8F41-E669F44335FE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9483EA-FE6C-9CA9-5455-46960E79ED4E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desktop replays one audited GPU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226421-E6E3-FF82-9EF4-8502D4120EAC}"/>
              </a:ext>
            </a:extLst>
          </p:cNvPr>
          <p:cNvSpPr/>
          <p:nvPr/>
        </p:nvSpPr>
        <p:spPr>
          <a:xfrm>
            <a:off x="787400" y="1600200"/>
            <a:ext cx="10617200" cy="4470400"/>
          </a:xfrm>
          <a:prstGeom prst="roundRect">
            <a:avLst/>
          </a:prstGeom>
          <a:solidFill>
            <a:srgbClr val="D7E0E4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ive Scenario page showing one shared GPU scenario and locality detail">
            <a:extLst>
              <a:ext uri="{FF2B5EF4-FFF2-40B4-BE49-F238E27FC236}">
                <a16:creationId xmlns:a16="http://schemas.microsoft.com/office/drawing/2014/main" id="{73D578CE-31D4-6034-FC68-C38129BB197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8494" y="1689100"/>
            <a:ext cx="7635011" cy="4292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B71EA4-8E14-11DF-4AFF-7FAD4D2C5F78}"/>
              </a:ext>
            </a:extLst>
          </p:cNvPr>
          <p:cNvSpPr txBox="1"/>
          <p:nvPr/>
        </p:nvSpPr>
        <p:spPr>
          <a:xfrm>
            <a:off x="952500" y="6070599"/>
            <a:ext cx="1028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07565"/>
                </a:solidFill>
                <a:latin typeface="Aptos" panose="020B0004020202020204" pitchFamily="34" charset="0"/>
              </a:rPr>
              <a:t>Frozen evidence stays separate from Live Scenario replay  |  forecast is DISPLAY ONLY</a:t>
            </a:r>
          </a:p>
        </p:txBody>
      </p:sp>
    </p:spTree>
    <p:extLst>
      <p:ext uri="{BB962C8B-B14F-4D97-AF65-F5344CB8AC3E}">
        <p14:creationId xmlns:p14="http://schemas.microsoft.com/office/powerpoint/2010/main" val="153257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2C33A-70D9-3BC6-1941-E107BE275108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1EE7F0D-3589-ACBA-890D-391F446A10B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21CB3F-5C73-6D17-5E48-A76F1F95A360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26B6A-7BD6-4202-9CA0-FB72006D18B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F73C56-2FA9-B34F-AA7C-BA67BA4D0144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Documented-seed-disjoint holdout reports three primary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67F00A-00BB-F905-49CD-6AFF16373EFB}"/>
              </a:ext>
            </a:extLst>
          </p:cNvPr>
          <p:cNvSpPr txBox="1"/>
          <p:nvPr/>
        </p:nvSpPr>
        <p:spPr>
          <a:xfrm>
            <a:off x="812800" y="1841499"/>
            <a:ext cx="287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A3-E6A3-F608-28CA-01DC8E8D968F}"/>
              </a:ext>
            </a:extLst>
          </p:cNvPr>
          <p:cNvSpPr txBox="1"/>
          <p:nvPr/>
        </p:nvSpPr>
        <p:spPr>
          <a:xfrm>
            <a:off x="38100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91BBB-8B97-FB2A-FA15-4F4E7E5EEA37}"/>
              </a:ext>
            </a:extLst>
          </p:cNvPr>
          <p:cNvSpPr txBox="1"/>
          <p:nvPr/>
        </p:nvSpPr>
        <p:spPr>
          <a:xfrm>
            <a:off x="55118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85EF75-E685-E0E9-539B-65F89ACBB89D}"/>
              </a:ext>
            </a:extLst>
          </p:cNvPr>
          <p:cNvSpPr txBox="1"/>
          <p:nvPr/>
        </p:nvSpPr>
        <p:spPr>
          <a:xfrm>
            <a:off x="7213600" y="1841499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Delta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87E6A-1F6C-FF25-4EB8-4FFA2414E654}"/>
              </a:ext>
            </a:extLst>
          </p:cNvPr>
          <p:cNvSpPr txBox="1"/>
          <p:nvPr/>
        </p:nvSpPr>
        <p:spPr>
          <a:xfrm>
            <a:off x="8737600" y="1841499"/>
            <a:ext cx="2590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Paired 95% interval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6CD65-A2B3-C8BA-FC99-850DA3913627}"/>
              </a:ext>
            </a:extLst>
          </p:cNvPr>
          <p:cNvSpPr/>
          <p:nvPr/>
        </p:nvSpPr>
        <p:spPr>
          <a:xfrm>
            <a:off x="685800" y="22352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E8A810-D2EE-590F-AEBD-11E77B8271D5}"/>
              </a:ext>
            </a:extLst>
          </p:cNvPr>
          <p:cNvSpPr txBox="1"/>
          <p:nvPr/>
        </p:nvSpPr>
        <p:spPr>
          <a:xfrm>
            <a:off x="812800" y="23240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Critical-outage locality-hours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F5624C-44AA-604C-47E4-2C84C64E923E}"/>
              </a:ext>
            </a:extLst>
          </p:cNvPr>
          <p:cNvSpPr txBox="1"/>
          <p:nvPr/>
        </p:nvSpPr>
        <p:spPr>
          <a:xfrm>
            <a:off x="38100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102.1 locality-hours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056956-85C3-F45B-1190-F53947FE3A1D}"/>
              </a:ext>
            </a:extLst>
          </p:cNvPr>
          <p:cNvSpPr txBox="1"/>
          <p:nvPr/>
        </p:nvSpPr>
        <p:spPr>
          <a:xfrm>
            <a:off x="55118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20.2 locality-hours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6D1452B-2BBE-F467-8474-1DC7E2373E26}"/>
              </a:ext>
            </a:extLst>
          </p:cNvPr>
          <p:cNvSpPr txBox="1"/>
          <p:nvPr/>
        </p:nvSpPr>
        <p:spPr>
          <a:xfrm>
            <a:off x="7213600" y="23240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-81.9 locality-hours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F67939-BA87-D5B7-8D11-C9397E711729}"/>
              </a:ext>
            </a:extLst>
          </p:cNvPr>
          <p:cNvSpPr txBox="1"/>
          <p:nvPr/>
        </p:nvSpPr>
        <p:spPr>
          <a:xfrm>
            <a:off x="8737600" y="23240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[-82.5, -81.2] locality-hours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E94EA0-9FC4-206C-1D89-00C6CFC0A1FE}"/>
              </a:ext>
            </a:extLst>
          </p:cNvPr>
          <p:cNvSpPr txBox="1"/>
          <p:nvPr/>
        </p:nvSpPr>
        <p:spPr>
          <a:xfrm>
            <a:off x="812800" y="31241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183F10-2830-3C94-8A73-C6EABC44E31E}"/>
              </a:ext>
            </a:extLst>
          </p:cNvPr>
          <p:cNvSpPr txBox="1"/>
          <p:nvPr/>
        </p:nvSpPr>
        <p:spPr>
          <a:xfrm>
            <a:off x="38100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87.76%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4D921F-24D1-659D-B164-8DFBC9786079}"/>
              </a:ext>
            </a:extLst>
          </p:cNvPr>
          <p:cNvSpPr txBox="1"/>
          <p:nvPr/>
        </p:nvSpPr>
        <p:spPr>
          <a:xfrm>
            <a:off x="55118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96.91%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672F92-45F1-1A25-33FB-722777835CE1}"/>
              </a:ext>
            </a:extLst>
          </p:cNvPr>
          <p:cNvSpPr txBox="1"/>
          <p:nvPr/>
        </p:nvSpPr>
        <p:spPr>
          <a:xfrm>
            <a:off x="7213600" y="31241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+9.15 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FEDA27-DC82-060F-EE0B-18FE89315732}"/>
              </a:ext>
            </a:extLst>
          </p:cNvPr>
          <p:cNvSpPr txBox="1"/>
          <p:nvPr/>
        </p:nvSpPr>
        <p:spPr>
          <a:xfrm>
            <a:off x="8737600" y="31241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[9.11, 9.19] pp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B2A3F1F-E604-9E1A-1372-2477A8E66255}"/>
              </a:ext>
            </a:extLst>
          </p:cNvPr>
          <p:cNvSpPr/>
          <p:nvPr/>
        </p:nvSpPr>
        <p:spPr>
          <a:xfrm>
            <a:off x="685800" y="38354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B050F9-74FE-51A6-822B-C49243441C43}"/>
              </a:ext>
            </a:extLst>
          </p:cNvPr>
          <p:cNvSpPr txBox="1"/>
          <p:nvPr/>
        </p:nvSpPr>
        <p:spPr>
          <a:xfrm>
            <a:off x="812800" y="39242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B344B2-A531-1F94-AB06-A65137FAB785}"/>
              </a:ext>
            </a:extLst>
          </p:cNvPr>
          <p:cNvSpPr txBox="1"/>
          <p:nvPr/>
        </p:nvSpPr>
        <p:spPr>
          <a:xfrm>
            <a:off x="38100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71.21%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7FB926-64E3-AA8D-2789-9F3A406ECE11}"/>
              </a:ext>
            </a:extLst>
          </p:cNvPr>
          <p:cNvSpPr txBox="1"/>
          <p:nvPr/>
        </p:nvSpPr>
        <p:spPr>
          <a:xfrm>
            <a:off x="55118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97.61%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9530C10-3CD3-ADE9-D36E-7D9C82B96F9C}"/>
              </a:ext>
            </a:extLst>
          </p:cNvPr>
          <p:cNvSpPr txBox="1"/>
          <p:nvPr/>
        </p:nvSpPr>
        <p:spPr>
          <a:xfrm>
            <a:off x="7213600" y="39242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+26.39 pp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327183-F4B6-9854-873D-4761C8B9087F}"/>
              </a:ext>
            </a:extLst>
          </p:cNvPr>
          <p:cNvSpPr txBox="1"/>
          <p:nvPr/>
        </p:nvSpPr>
        <p:spPr>
          <a:xfrm>
            <a:off x="8737600" y="39242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[26.34, 26.45] pp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AB96E56-86A3-7822-D5EC-F0FEA268864C}"/>
              </a:ext>
            </a:extLst>
          </p:cNvPr>
          <p:cNvCxnSpPr/>
          <p:nvPr/>
        </p:nvCxnSpPr>
        <p:spPr>
          <a:xfrm>
            <a:off x="787400" y="4787900"/>
            <a:ext cx="10617200" cy="0"/>
          </a:xfrm>
          <a:prstGeom prst="line">
            <a:avLst/>
          </a:prstGeom>
          <a:ln w="1270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833C62B-878C-315B-E4DD-B5BAE29FEB27}"/>
              </a:ext>
            </a:extLst>
          </p:cNvPr>
          <p:cNvSpPr txBox="1"/>
          <p:nvPr/>
        </p:nvSpPr>
        <p:spPr>
          <a:xfrm>
            <a:off x="812800" y="5041899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Safety check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193FFB-F779-18D6-28D4-E818C8E302A7}"/>
              </a:ext>
            </a:extLst>
          </p:cNvPr>
          <p:cNvSpPr txBox="1"/>
          <p:nvPr/>
        </p:nvSpPr>
        <p:spPr>
          <a:xfrm>
            <a:off x="2794000" y="5041899"/>
            <a:ext cx="685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007565"/>
                </a:solidFill>
                <a:latin typeface="Aptos" panose="020B0004020202020204" pitchFamily="34" charset="0"/>
              </a:rPr>
              <a:t>0.00% power-balance violation rate in both controllers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D88743F-E793-7EB2-6F19-DE2B7A4DBBD0}"/>
              </a:ext>
            </a:extLst>
          </p:cNvPr>
          <p:cNvSpPr/>
          <p:nvPr/>
        </p:nvSpPr>
        <p:spPr>
          <a:xfrm>
            <a:off x="812800" y="5359400"/>
            <a:ext cx="10515600" cy="9271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E9B67C-1D4B-0670-30FB-34E953DA8BC8}"/>
              </a:ext>
            </a:extLst>
          </p:cNvPr>
          <p:cNvSpPr txBox="1"/>
          <p:nvPr/>
        </p:nvSpPr>
        <p:spPr>
          <a:xfrm>
            <a:off x="1016000" y="5460999"/>
            <a:ext cx="10109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Not preregistered or independently custodied  |  no direction gate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7BA8B-F1D7-1515-A968-DD8DE8DF2325}"/>
              </a:ext>
            </a:extLst>
          </p:cNvPr>
          <p:cNvSpPr txBox="1"/>
          <p:nvPr/>
        </p:nvSpPr>
        <p:spPr>
          <a:xfrm>
            <a:off x="1016000" y="5740399"/>
            <a:ext cx="10109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No behavior-cloning-only ablation was run, so this comparison cannot isolate the incremental effect of PPO fine-tuning.</a:t>
            </a:r>
          </a:p>
        </p:txBody>
      </p:sp>
    </p:spTree>
    <p:extLst>
      <p:ext uri="{BB962C8B-B14F-4D97-AF65-F5344CB8AC3E}">
        <p14:creationId xmlns:p14="http://schemas.microsoft.com/office/powerpoint/2010/main" val="1156898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66764D-CA72-04D2-5CEE-0E4005B47E2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45C2F5C-75C2-1AEC-6BE2-7B3AEB065674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F05806-84A3-5B46-D22B-C3F31E9293A9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BF1126-F851-7E14-9359-1CF851A1C429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36C610-2B3D-0B97-6266-D3FA007ED8F6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24 demand-allocation variants test local sensitivity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431E3-0E3D-DE3E-566E-B172655BE8B8}"/>
              </a:ext>
            </a:extLst>
          </p:cNvPr>
          <p:cNvSpPr txBox="1"/>
          <p:nvPr/>
        </p:nvSpPr>
        <p:spPr>
          <a:xfrm>
            <a:off x="812800" y="1841499"/>
            <a:ext cx="4191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900" b="1">
                <a:solidFill>
                  <a:srgbClr val="E0B957"/>
                </a:solidFill>
                <a:latin typeface="Aptos" panose="020B0004020202020204" pitchFamily="34" charset="0"/>
              </a:rPr>
              <a:t>25 parameterizations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79B0F1-2BC8-5E84-EACE-67F7B4B52D6B}"/>
              </a:ext>
            </a:extLst>
          </p:cNvPr>
          <p:cNvSpPr txBox="1"/>
          <p:nvPr/>
        </p:nvSpPr>
        <p:spPr>
          <a:xfrm>
            <a:off x="812800" y="2412999"/>
            <a:ext cx="495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1 locked base + 24 one-at-a-time variants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0189D1C-9C7F-6A7F-F51E-A366A2B9CE56}"/>
              </a:ext>
            </a:extLst>
          </p:cNvPr>
          <p:cNvSpPr/>
          <p:nvPr/>
        </p:nvSpPr>
        <p:spPr>
          <a:xfrm>
            <a:off x="8128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0FB6FC-D84E-9EE1-E76C-6F4E9B726EF2}"/>
              </a:ext>
            </a:extLst>
          </p:cNvPr>
          <p:cNvSpPr txBox="1"/>
          <p:nvPr/>
        </p:nvSpPr>
        <p:spPr>
          <a:xfrm>
            <a:off x="9906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D3CEA-31CE-5FCF-CDDF-2E7B929BB196}"/>
              </a:ext>
            </a:extLst>
          </p:cNvPr>
          <p:cNvSpPr txBox="1"/>
          <p:nvPr/>
        </p:nvSpPr>
        <p:spPr>
          <a:xfrm>
            <a:off x="9906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critical-outage locality-hours favorable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A0C30B6-D29E-9D81-2DDF-63BDBA47701F}"/>
              </a:ext>
            </a:extLst>
          </p:cNvPr>
          <p:cNvSpPr/>
          <p:nvPr/>
        </p:nvSpPr>
        <p:spPr>
          <a:xfrm>
            <a:off x="45339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599EBD-7BF6-CACE-FBA4-EDAF18F9A515}"/>
              </a:ext>
            </a:extLst>
          </p:cNvPr>
          <p:cNvSpPr txBox="1"/>
          <p:nvPr/>
        </p:nvSpPr>
        <p:spPr>
          <a:xfrm>
            <a:off x="47117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776C5F-B47A-7850-6AD1-4012775267B7}"/>
              </a:ext>
            </a:extLst>
          </p:cNvPr>
          <p:cNvSpPr txBox="1"/>
          <p:nvPr/>
        </p:nvSpPr>
        <p:spPr>
          <a:xfrm>
            <a:off x="47117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Jain fairness favorable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AE39D1-C831-657E-584F-18C0FA5DF3E9}"/>
              </a:ext>
            </a:extLst>
          </p:cNvPr>
          <p:cNvSpPr/>
          <p:nvPr/>
        </p:nvSpPr>
        <p:spPr>
          <a:xfrm>
            <a:off x="82550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54957B-F70B-FECE-C225-36BE9AC29696}"/>
              </a:ext>
            </a:extLst>
          </p:cNvPr>
          <p:cNvSpPr txBox="1"/>
          <p:nvPr/>
        </p:nvSpPr>
        <p:spPr>
          <a:xfrm>
            <a:off x="84328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EBF550-F7E3-083F-95AA-5673CD2CEB5E}"/>
              </a:ext>
            </a:extLst>
          </p:cNvPr>
          <p:cNvSpPr txBox="1"/>
          <p:nvPr/>
        </p:nvSpPr>
        <p:spPr>
          <a:xfrm>
            <a:off x="84328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utilization favorable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EEA568-1F7C-4803-46DF-F62F40C57B07}"/>
              </a:ext>
            </a:extLst>
          </p:cNvPr>
          <p:cNvSpPr txBox="1"/>
          <p:nvPr/>
        </p:nvSpPr>
        <p:spPr>
          <a:xfrm>
            <a:off x="812800" y="5079999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Effect-size shift versus 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73CC13-7BBF-CD60-CA63-10C60AFF041D}"/>
              </a:ext>
            </a:extLst>
          </p:cNvPr>
          <p:cNvSpPr txBox="1"/>
          <p:nvPr/>
        </p:nvSpPr>
        <p:spPr>
          <a:xfrm>
            <a:off x="4191000" y="5079999"/>
            <a:ext cx="711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700" b="1">
                <a:solidFill>
                  <a:srgbClr val="F3F0E8"/>
                </a:solidFill>
                <a:latin typeface="Aptos" panose="020B0004020202020204" pitchFamily="34" charset="0"/>
              </a:rPr>
              <a:t>Outage: 19 adverse  |  4 favorable  |  1 ambiguous</a:t>
            </a:r>
            <a:endParaRPr lang="en-US" sz="1700" b="1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410256-80A5-9D38-A497-115D7806CF77}"/>
              </a:ext>
            </a:extLst>
          </p:cNvPr>
          <p:cNvSpPr txBox="1"/>
          <p:nvPr/>
        </p:nvSpPr>
        <p:spPr>
          <a:xfrm>
            <a:off x="812800" y="5664199"/>
            <a:ext cx="10490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83939D"/>
                </a:solidFill>
                <a:latin typeface="Aptos" panose="020B0004020202020204" pitchFamily="34" charset="0"/>
              </a:rPr>
              <a:t>Descriptive pointwise 95% intervals; unadjusted for multiple comparisons; no family-wide claim.</a:t>
            </a:r>
          </a:p>
        </p:txBody>
      </p:sp>
    </p:spTree>
    <p:extLst>
      <p:ext uri="{BB962C8B-B14F-4D97-AF65-F5344CB8AC3E}">
        <p14:creationId xmlns:p14="http://schemas.microsoft.com/office/powerpoint/2010/main" val="78764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6DAB45-FA03-CDD8-B05A-B27478897D8C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018A357-128C-5519-1046-7F1E633F26D8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613F9CD-D11E-66EE-2862-668E2AA9566E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FE13D4-8512-6585-C96C-E8098DB64908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12E904-8900-4C53-4F0B-484F9F7E20CD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One-hour persistence outperformed the three-hour trailing mean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661E6-20AC-BCED-CA85-230166323224}"/>
              </a:ext>
            </a:extLst>
          </p:cNvPr>
          <p:cNvSpPr txBox="1"/>
          <p:nvPr/>
        </p:nvSpPr>
        <p:spPr>
          <a:xfrm>
            <a:off x="812800" y="1828799"/>
            <a:ext cx="3619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Pooled error metric (MW)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181AD4-67E1-5590-EE41-A45F3BEA32BA}"/>
              </a:ext>
            </a:extLst>
          </p:cNvPr>
          <p:cNvSpPr txBox="1"/>
          <p:nvPr/>
        </p:nvSpPr>
        <p:spPr>
          <a:xfrm>
            <a:off x="5003800" y="1828799"/>
            <a:ext cx="279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007565"/>
                </a:solidFill>
                <a:latin typeface="Aptos" panose="020B0004020202020204" pitchFamily="34" charset="0"/>
              </a:rPr>
              <a:t>One-hour persistence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F5EE23-92A9-9554-9403-00DCF9DB297B}"/>
              </a:ext>
            </a:extLst>
          </p:cNvPr>
          <p:cNvSpPr txBox="1"/>
          <p:nvPr/>
        </p:nvSpPr>
        <p:spPr>
          <a:xfrm>
            <a:off x="8318500" y="1828799"/>
            <a:ext cx="2984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Three-hour trailing mean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BC8268-21A5-04AA-EB44-06CB2D1C55C6}"/>
              </a:ext>
            </a:extLst>
          </p:cNvPr>
          <p:cNvSpPr/>
          <p:nvPr/>
        </p:nvSpPr>
        <p:spPr>
          <a:xfrm>
            <a:off x="685800" y="22479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68ED86-9C8D-FBCE-6813-4481180F3BFA}"/>
              </a:ext>
            </a:extLst>
          </p:cNvPr>
          <p:cNvSpPr txBox="1"/>
          <p:nvPr/>
        </p:nvSpPr>
        <p:spPr>
          <a:xfrm>
            <a:off x="812800" y="23367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MAE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DB7961-EA7F-D60C-9319-9B5647C605F8}"/>
              </a:ext>
            </a:extLst>
          </p:cNvPr>
          <p:cNvSpPr txBox="1"/>
          <p:nvPr/>
        </p:nvSpPr>
        <p:spPr>
          <a:xfrm>
            <a:off x="50038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2420E-30BA-AC27-7238-9EFF1410F709}"/>
              </a:ext>
            </a:extLst>
          </p:cNvPr>
          <p:cNvSpPr txBox="1"/>
          <p:nvPr/>
        </p:nvSpPr>
        <p:spPr>
          <a:xfrm>
            <a:off x="83185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207CB-5100-09B5-45FE-DD1997D25D54}"/>
              </a:ext>
            </a:extLst>
          </p:cNvPr>
          <p:cNvSpPr txBox="1"/>
          <p:nvPr/>
        </p:nvSpPr>
        <p:spPr>
          <a:xfrm>
            <a:off x="812800" y="30225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RMSE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2CB9C6-C9CF-FE3D-B707-D9227A443F34}"/>
              </a:ext>
            </a:extLst>
          </p:cNvPr>
          <p:cNvSpPr txBox="1"/>
          <p:nvPr/>
        </p:nvSpPr>
        <p:spPr>
          <a:xfrm>
            <a:off x="50038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2.18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C6E35C-5899-A167-6F77-F71A26101E94}"/>
              </a:ext>
            </a:extLst>
          </p:cNvPr>
          <p:cNvSpPr txBox="1"/>
          <p:nvPr/>
        </p:nvSpPr>
        <p:spPr>
          <a:xfrm>
            <a:off x="83185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3.74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D18D4E-723C-16FD-0174-4FD23D8F0B09}"/>
              </a:ext>
            </a:extLst>
          </p:cNvPr>
          <p:cNvSpPr/>
          <p:nvPr/>
        </p:nvSpPr>
        <p:spPr>
          <a:xfrm>
            <a:off x="685800" y="36195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27BCB-A7F2-7948-DDB5-58F44A80EECE}"/>
              </a:ext>
            </a:extLst>
          </p:cNvPr>
          <p:cNvSpPr txBox="1"/>
          <p:nvPr/>
        </p:nvSpPr>
        <p:spPr>
          <a:xfrm>
            <a:off x="812800" y="37083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MAE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8207AD-B6AC-786E-8077-8560E4348880}"/>
              </a:ext>
            </a:extLst>
          </p:cNvPr>
          <p:cNvSpPr txBox="1"/>
          <p:nvPr/>
        </p:nvSpPr>
        <p:spPr>
          <a:xfrm>
            <a:off x="50038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24.38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93A111-8324-EE49-47A6-F64D3C1D6A59}"/>
              </a:ext>
            </a:extLst>
          </p:cNvPr>
          <p:cNvSpPr txBox="1"/>
          <p:nvPr/>
        </p:nvSpPr>
        <p:spPr>
          <a:xfrm>
            <a:off x="83185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42.72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8D8BC4-AAA3-0B17-63E6-6E8CD8926E31}"/>
              </a:ext>
            </a:extLst>
          </p:cNvPr>
          <p:cNvSpPr txBox="1"/>
          <p:nvPr/>
        </p:nvSpPr>
        <p:spPr>
          <a:xfrm>
            <a:off x="812800" y="43941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RMSE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81328B-CA07-119E-9E82-1EF04B215B27}"/>
              </a:ext>
            </a:extLst>
          </p:cNvPr>
          <p:cNvSpPr txBox="1"/>
          <p:nvPr/>
        </p:nvSpPr>
        <p:spPr>
          <a:xfrm>
            <a:off x="50038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007565"/>
                </a:solidFill>
                <a:latin typeface="Aptos" panose="020B0004020202020204" pitchFamily="34" charset="0"/>
              </a:rPr>
              <a:t>28.58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3256F7-B0E1-EC15-1BDE-AB2CA74352A7}"/>
              </a:ext>
            </a:extLst>
          </p:cNvPr>
          <p:cNvSpPr txBox="1"/>
          <p:nvPr/>
        </p:nvSpPr>
        <p:spPr>
          <a:xfrm>
            <a:off x="83185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49.97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6AF041C-5828-D0D2-420C-FD15E6F4E516}"/>
              </a:ext>
            </a:extLst>
          </p:cNvPr>
          <p:cNvSpPr/>
          <p:nvPr/>
        </p:nvSpPr>
        <p:spPr>
          <a:xfrm>
            <a:off x="812800" y="5308600"/>
            <a:ext cx="10515600" cy="7874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951C3E-17AE-E7FA-4B8A-939EA6034407}"/>
              </a:ext>
            </a:extLst>
          </p:cNvPr>
          <p:cNvSpPr txBox="1"/>
          <p:nvPr/>
        </p:nvSpPr>
        <p:spPr>
          <a:xfrm>
            <a:off x="1041400" y="54737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320 traces  |  21 target hours  |  235200 locality-sector predictions  |  6720 system totals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27EA1D-F8DC-DA9B-66E5-1F05AE82C479}"/>
              </a:ext>
            </a:extLst>
          </p:cNvPr>
          <p:cNvSpPr txBox="1"/>
          <p:nvPr/>
        </p:nvSpPr>
        <p:spPr>
          <a:xfrm>
            <a:off x="1041400" y="57785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Synthetic display-only comparison; no operational calibration claim</a:t>
            </a:r>
          </a:p>
        </p:txBody>
      </p:sp>
    </p:spTree>
    <p:extLst>
      <p:ext uri="{BB962C8B-B14F-4D97-AF65-F5344CB8AC3E}">
        <p14:creationId xmlns:p14="http://schemas.microsoft.com/office/powerpoint/2010/main" val="2011779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CB5945-4054-F014-6E9B-39017D7A95F6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8F2D5F1-FB39-2344-4C7C-48143F13EC3D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12D6945-CB8F-B079-820B-2DB93F516FE2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E50DC2-943D-6968-1965-5F4CFA167758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11504-A7AA-3056-0FBE-D249E63DDA2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accepted reproduction preserves history, not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568ABB-91D6-E6E3-1779-0660D4C3EFAF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Accepted reproduction context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5F0A99-38C7-9164-BA20-94BEF401C514}"/>
              </a:ext>
            </a:extLst>
          </p:cNvPr>
          <p:cNvCxnSpPr/>
          <p:nvPr/>
        </p:nvCxnSpPr>
        <p:spPr>
          <a:xfrm>
            <a:off x="812800" y="2565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253A86C-0F1C-AC96-99EA-74E9E52F6CB9}"/>
              </a:ext>
            </a:extLst>
          </p:cNvPr>
          <p:cNvSpPr txBox="1"/>
          <p:nvPr/>
        </p:nvSpPr>
        <p:spPr>
          <a:xfrm>
            <a:off x="1168400" y="24129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Seeds 50001-50003  |  96 base draws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99245B-AB5B-412A-0712-732599E25D82}"/>
              </a:ext>
            </a:extLst>
          </p:cNvPr>
          <p:cNvCxnSpPr/>
          <p:nvPr/>
        </p:nvCxnSpPr>
        <p:spPr>
          <a:xfrm>
            <a:off x="812800" y="31623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FA0B14-FBFA-C01B-EFF5-97C214317E74}"/>
              </a:ext>
            </a:extLst>
          </p:cNvPr>
          <p:cNvSpPr txBox="1"/>
          <p:nvPr/>
        </p:nvSpPr>
        <p:spPr>
          <a:xfrm>
            <a:off x="1168400" y="30098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288 matched conditions  |  576 evaluations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4C486C8-4EB8-6359-045C-B26B1B03AB01}"/>
              </a:ext>
            </a:extLst>
          </p:cNvPr>
          <p:cNvCxnSpPr/>
          <p:nvPr/>
        </p:nvCxnSpPr>
        <p:spPr>
          <a:xfrm>
            <a:off x="812800" y="3759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D682755-D0B9-F8FA-DEC3-995B56582311}"/>
              </a:ext>
            </a:extLst>
          </p:cNvPr>
          <p:cNvSpPr txBox="1"/>
          <p:nvPr/>
        </p:nvSpPr>
        <p:spPr>
          <a:xfrm>
            <a:off x="1168400" y="36067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Reproduced from the frozen PPO checkpoint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9280F-ED2E-E78E-9114-7FD18988965B}"/>
              </a:ext>
            </a:extLst>
          </p:cNvPr>
          <p:cNvCxnSpPr/>
          <p:nvPr/>
        </p:nvCxnSpPr>
        <p:spPr>
          <a:xfrm>
            <a:off x="812800" y="43561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F4B0A68-B276-4D17-D72B-4A133D834DF4}"/>
              </a:ext>
            </a:extLst>
          </p:cNvPr>
          <p:cNvSpPr txBox="1"/>
          <p:nvPr/>
        </p:nvSpPr>
        <p:spPr>
          <a:xfrm>
            <a:off x="1168400" y="42036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Promotion and acceptance used this layer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9DBE0D-E28D-0EEA-4AB3-2BFAC2F4F746}"/>
              </a:ext>
            </a:extLst>
          </p:cNvPr>
          <p:cNvCxnSpPr/>
          <p:nvPr/>
        </p:nvCxnSpPr>
        <p:spPr>
          <a:xfrm>
            <a:off x="6350000" y="1803400"/>
            <a:ext cx="0" cy="400050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F46CB76-66AF-A6CE-F044-F5B4171D79A5}"/>
              </a:ext>
            </a:extLst>
          </p:cNvPr>
          <p:cNvSpPr txBox="1"/>
          <p:nvPr/>
        </p:nvSpPr>
        <p:spPr>
          <a:xfrm>
            <a:off x="6832600" y="1841499"/>
            <a:ext cx="4381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E0B957"/>
                </a:solidFill>
                <a:latin typeface="Aptos" panose="020B0004020202020204" pitchFamily="34" charset="0"/>
              </a:rPr>
              <a:t>Accepted three-primary context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5E03DA-11E3-4478-114E-8482A34B1D68}"/>
              </a:ext>
            </a:extLst>
          </p:cNvPr>
          <p:cNvSpPr txBox="1"/>
          <p:nvPr/>
        </p:nvSpPr>
        <p:spPr>
          <a:xfrm>
            <a:off x="6832600" y="25272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Critical outage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CFB1B1-4359-C599-07B4-4D98CC69CC4A}"/>
              </a:ext>
            </a:extLst>
          </p:cNvPr>
          <p:cNvSpPr txBox="1"/>
          <p:nvPr/>
        </p:nvSpPr>
        <p:spPr>
          <a:xfrm>
            <a:off x="6832600" y="28574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102.1 -&gt; 18.7 locality-hours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A5AF9B-B04D-9215-5CE1-03E39A71D73A}"/>
              </a:ext>
            </a:extLst>
          </p:cNvPr>
          <p:cNvSpPr txBox="1"/>
          <p:nvPr/>
        </p:nvSpPr>
        <p:spPr>
          <a:xfrm>
            <a:off x="6832600" y="34670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6F6742-C60A-3499-A109-5BC62B1F0C0F}"/>
              </a:ext>
            </a:extLst>
          </p:cNvPr>
          <p:cNvSpPr txBox="1"/>
          <p:nvPr/>
        </p:nvSpPr>
        <p:spPr>
          <a:xfrm>
            <a:off x="6832600" y="37972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87.76% -&gt; 96.92%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E46C-FF5D-C55B-D165-AD24FF636A0E}"/>
              </a:ext>
            </a:extLst>
          </p:cNvPr>
          <p:cNvSpPr txBox="1"/>
          <p:nvPr/>
        </p:nvSpPr>
        <p:spPr>
          <a:xfrm>
            <a:off x="6832600" y="44068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22308B-5BCB-9F6F-7C6E-741AEEEF43DA}"/>
              </a:ext>
            </a:extLst>
          </p:cNvPr>
          <p:cNvSpPr txBox="1"/>
          <p:nvPr/>
        </p:nvSpPr>
        <p:spPr>
          <a:xfrm>
            <a:off x="6832600" y="47370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71.22% -&gt; 97.65%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701A51-35B5-3F29-4293-35804146C4C7}"/>
              </a:ext>
            </a:extLst>
          </p:cNvPr>
          <p:cNvSpPr/>
          <p:nvPr/>
        </p:nvSpPr>
        <p:spPr>
          <a:xfrm>
            <a:off x="6832600" y="5308600"/>
            <a:ext cx="4191000" cy="698500"/>
          </a:xfrm>
          <a:prstGeom prst="roundRect">
            <a:avLst/>
          </a:prstGeom>
          <a:solidFill>
            <a:srgbClr val="1A394A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5D61F9-DE3A-3425-3E5D-9F2AAFFBF42E}"/>
              </a:ext>
            </a:extLst>
          </p:cNvPr>
          <p:cNvSpPr txBox="1"/>
          <p:nvPr/>
        </p:nvSpPr>
        <p:spPr>
          <a:xfrm>
            <a:off x="7010400" y="5346699"/>
            <a:ext cx="3835400" cy="622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Documented-seed-disjoint holdout</a:t>
            </a:r>
          </a:p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81001-81010 remains separate</a:t>
            </a:r>
          </a:p>
        </p:txBody>
      </p:sp>
    </p:spTree>
    <p:extLst>
      <p:ext uri="{BB962C8B-B14F-4D97-AF65-F5344CB8AC3E}">
        <p14:creationId xmlns:p14="http://schemas.microsoft.com/office/powerpoint/2010/main" val="292119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E8216C-B688-5446-21BF-91C5505CD8E1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6ADEF35-082A-9027-BEFA-90E956676A92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5B5CFC9-460E-713E-0DA7-3BC60A4B8F24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6AC3CB-5A0E-F626-0F9D-004516C193D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E15B27-4658-A23A-A84C-E9455C2DE55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evidence remains bounded by a shortage-only synthetic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5943C9-B36B-DE59-A0A4-14CDE6BDC6D6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007565"/>
                </a:solidFill>
                <a:latin typeface="Aptos" panose="020B0004020202020204" pitchFamily="34" charset="0"/>
              </a:rPr>
              <a:t>What the evidence supports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DD2FF6-9ACD-A4C0-8421-C643E3E921FD}"/>
              </a:ext>
            </a:extLst>
          </p:cNvPr>
          <p:cNvCxnSpPr/>
          <p:nvPr/>
        </p:nvCxnSpPr>
        <p:spPr>
          <a:xfrm>
            <a:off x="812800" y="259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890C55B-CD4C-E920-1368-E9957EB349F9}"/>
              </a:ext>
            </a:extLst>
          </p:cNvPr>
          <p:cNvSpPr txBox="1"/>
          <p:nvPr/>
        </p:nvSpPr>
        <p:spPr>
          <a:xfrm>
            <a:off x="1168400" y="243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PPO versus Fixed Rotation in the locked simulator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C32B689-AA71-98D4-8D14-8AF2CAAD8D12}"/>
              </a:ext>
            </a:extLst>
          </p:cNvPr>
          <p:cNvCxnSpPr/>
          <p:nvPr/>
        </p:nvCxnSpPr>
        <p:spPr>
          <a:xfrm>
            <a:off x="812800" y="322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7123B66-CD56-5599-4ADA-6F26B49E9381}"/>
              </a:ext>
            </a:extLst>
          </p:cNvPr>
          <p:cNvSpPr txBox="1"/>
          <p:nvPr/>
        </p:nvSpPr>
        <p:spPr>
          <a:xfrm>
            <a:off x="1168400" y="307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Matched shortage scenarios across seven localities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650785-17F2-FB1A-09B4-92CC3DB34F71}"/>
              </a:ext>
            </a:extLst>
          </p:cNvPr>
          <p:cNvCxnSpPr/>
          <p:nvPr/>
        </p:nvCxnSpPr>
        <p:spPr>
          <a:xfrm>
            <a:off x="812800" y="386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BF2F115-9A5F-AFD4-ED38-6404DF4AE286}"/>
              </a:ext>
            </a:extLst>
          </p:cNvPr>
          <p:cNvSpPr txBox="1"/>
          <p:nvPr/>
        </p:nvSpPr>
        <p:spPr>
          <a:xfrm>
            <a:off x="1168400" y="370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Reproducible artifacts with explicit seed roles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E1077F1-BB52-A0FE-CCAA-79C0EF9A696E}"/>
              </a:ext>
            </a:extLst>
          </p:cNvPr>
          <p:cNvCxnSpPr/>
          <p:nvPr/>
        </p:nvCxnSpPr>
        <p:spPr>
          <a:xfrm>
            <a:off x="812800" y="449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432BEF6-3534-8A38-64A1-8FCC9ACF31A9}"/>
              </a:ext>
            </a:extLst>
          </p:cNvPr>
          <p:cNvSpPr txBox="1"/>
          <p:nvPr/>
        </p:nvSpPr>
        <p:spPr>
          <a:xfrm>
            <a:off x="1168400" y="434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Offline decision-support demonstration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7DFEB6-9616-4F36-73D3-89502344CB5F}"/>
              </a:ext>
            </a:extLst>
          </p:cNvPr>
          <p:cNvSpPr txBox="1"/>
          <p:nvPr/>
        </p:nvSpPr>
        <p:spPr>
          <a:xfrm>
            <a:off x="6629400" y="1841499"/>
            <a:ext cx="469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A15E40"/>
                </a:solidFill>
                <a:latin typeface="Aptos" panose="020B0004020202020204" pitchFamily="34" charset="0"/>
              </a:rPr>
              <a:t>What it does not support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986D58F-0E07-5C16-74C1-DB5A90EF715F}"/>
              </a:ext>
            </a:extLst>
          </p:cNvPr>
          <p:cNvCxnSpPr/>
          <p:nvPr/>
        </p:nvCxnSpPr>
        <p:spPr>
          <a:xfrm>
            <a:off x="6629400" y="259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1F50345-A85C-C3D0-1A76-43EEE81E4EBE}"/>
              </a:ext>
            </a:extLst>
          </p:cNvPr>
          <p:cNvSpPr txBox="1"/>
          <p:nvPr/>
        </p:nvSpPr>
        <p:spPr>
          <a:xfrm>
            <a:off x="6985000" y="243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Field performance on Sudan's electrical grid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19782E-CD70-A75B-D9A7-97ADCCD297ED}"/>
              </a:ext>
            </a:extLst>
          </p:cNvPr>
          <p:cNvCxnSpPr/>
          <p:nvPr/>
        </p:nvCxnSpPr>
        <p:spPr>
          <a:xfrm>
            <a:off x="6629400" y="322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FBC74B0-4182-31DA-ACC9-84F487241848}"/>
              </a:ext>
            </a:extLst>
          </p:cNvPr>
          <p:cNvSpPr txBox="1"/>
          <p:nvPr/>
        </p:nvSpPr>
        <p:spPr>
          <a:xfrm>
            <a:off x="6985000" y="307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Electrical-network or forecast validation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59BD9BA-ABC1-167E-DC5E-D970C838E0C1}"/>
              </a:ext>
            </a:extLst>
          </p:cNvPr>
          <p:cNvCxnSpPr/>
          <p:nvPr/>
        </p:nvCxnSpPr>
        <p:spPr>
          <a:xfrm>
            <a:off x="6629400" y="386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09423F1-9726-BB0C-82DC-A2DE2592EF25}"/>
              </a:ext>
            </a:extLst>
          </p:cNvPr>
          <p:cNvSpPr txBox="1"/>
          <p:nvPr/>
        </p:nvSpPr>
        <p:spPr>
          <a:xfrm>
            <a:off x="6985000" y="370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Incremental PPO effect beyond initialization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8D7E29C-969B-F0A3-E2E8-AE17ECD07FBF}"/>
              </a:ext>
            </a:extLst>
          </p:cNvPr>
          <p:cNvCxnSpPr/>
          <p:nvPr/>
        </p:nvCxnSpPr>
        <p:spPr>
          <a:xfrm>
            <a:off x="6629400" y="449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5D0ADA5-BE40-FD8E-DE97-C75737FF2F38}"/>
              </a:ext>
            </a:extLst>
          </p:cNvPr>
          <p:cNvSpPr txBox="1"/>
          <p:nvPr/>
        </p:nvSpPr>
        <p:spPr>
          <a:xfrm>
            <a:off x="6985000" y="434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General superiority over stronger baselines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ECCBF9D-C7FC-A9EF-94B5-3A038A08DB0B}"/>
              </a:ext>
            </a:extLst>
          </p:cNvPr>
          <p:cNvSpPr/>
          <p:nvPr/>
        </p:nvSpPr>
        <p:spPr>
          <a:xfrm>
            <a:off x="812800" y="5384800"/>
            <a:ext cx="10515600" cy="6604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C40BAC-0497-D875-0E5B-435651A34B0C}"/>
              </a:ext>
            </a:extLst>
          </p:cNvPr>
          <p:cNvSpPr txBox="1"/>
          <p:nvPr/>
        </p:nvSpPr>
        <p:spPr>
          <a:xfrm>
            <a:off x="1041400" y="5473699"/>
            <a:ext cx="10033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Fixed Rotation is supply-blind: limited to Off and Full Service; it cannot select Critical Only. Synthetic evidence only.</a:t>
            </a:r>
          </a:p>
        </p:txBody>
      </p:sp>
    </p:spTree>
    <p:extLst>
      <p:ext uri="{BB962C8B-B14F-4D97-AF65-F5344CB8AC3E}">
        <p14:creationId xmlns:p14="http://schemas.microsoft.com/office/powerpoint/2010/main" val="7772955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B52F1C-1D4D-02B1-4EC5-A1845F456BFF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54EE02-437A-049B-FEB6-6F3B5F0C92D1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0688CF-3F31-38B9-C5ED-D682A2329DC1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A5CC1C-3A89-28AE-0DAB-6A9B1E11768B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331BE-3839-172F-43BF-1010407D47DE}"/>
              </a:ext>
            </a:extLst>
          </p:cNvPr>
          <p:cNvSpPr txBox="1"/>
          <p:nvPr/>
        </p:nvSpPr>
        <p:spPr>
          <a:xfrm>
            <a:off x="762000" y="9143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THE ANSWER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EEABF9-ECCA-14A1-D8C0-1550D6D68FEF}"/>
              </a:ext>
            </a:extLst>
          </p:cNvPr>
          <p:cNvSpPr txBox="1"/>
          <p:nvPr/>
        </p:nvSpPr>
        <p:spPr>
          <a:xfrm>
            <a:off x="762000" y="1625599"/>
            <a:ext cx="10414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600" b="1">
                <a:solidFill>
                  <a:srgbClr val="F3F0E8"/>
                </a:solidFill>
                <a:latin typeface="Aptos" panose="020B0004020202020204" pitchFamily="34" charset="0"/>
              </a:rPr>
              <a:t>PPO outperformed Fixed Rotation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C6B8D6-4741-7E63-5228-C3BBCB68A585}"/>
              </a:ext>
            </a:extLst>
          </p:cNvPr>
          <p:cNvSpPr txBox="1"/>
          <p:nvPr/>
        </p:nvSpPr>
        <p:spPr>
          <a:xfrm>
            <a:off x="787400" y="26034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E0B957"/>
                </a:solidFill>
                <a:latin typeface="Aptos" panose="020B0004020202020204" pitchFamily="34" charset="0"/>
              </a:rPr>
              <a:t>under the locked synthetic evaluation protocol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262FBC-BF7B-FA72-E4B0-5C94E183B73B}"/>
              </a:ext>
            </a:extLst>
          </p:cNvPr>
          <p:cNvCxnSpPr/>
          <p:nvPr/>
        </p:nvCxnSpPr>
        <p:spPr>
          <a:xfrm>
            <a:off x="787400" y="34417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69D89B7-EC10-7971-6941-246E62DDBC42}"/>
              </a:ext>
            </a:extLst>
          </p:cNvPr>
          <p:cNvCxnSpPr/>
          <p:nvPr/>
        </p:nvCxnSpPr>
        <p:spPr>
          <a:xfrm>
            <a:off x="787400" y="4038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EC8892-CED5-CC54-77BC-7E69D5B84796}"/>
              </a:ext>
            </a:extLst>
          </p:cNvPr>
          <p:cNvSpPr txBox="1"/>
          <p:nvPr/>
        </p:nvSpPr>
        <p:spPr>
          <a:xfrm>
            <a:off x="1143000" y="38861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 documented-seed-disjoint outcomes - no favorable-result 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8BCEC26-70C3-F610-0638-903BF0D354B4}"/>
              </a:ext>
            </a:extLst>
          </p:cNvPr>
          <p:cNvCxnSpPr/>
          <p:nvPr/>
        </p:nvCxnSpPr>
        <p:spPr>
          <a:xfrm>
            <a:off x="787400" y="46609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5058567-4B4B-B512-C442-6ADE473048D6}"/>
              </a:ext>
            </a:extLst>
          </p:cNvPr>
          <p:cNvSpPr txBox="1"/>
          <p:nvPr/>
        </p:nvSpPr>
        <p:spPr>
          <a:xfrm>
            <a:off x="1143000" y="45084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Against supply-blind Fixed Rotation limited to Off and Full Service; no Critical Only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DABDEB1-C735-EB0E-E7AB-15A39723CC4C}"/>
              </a:ext>
            </a:extLst>
          </p:cNvPr>
          <p:cNvCxnSpPr/>
          <p:nvPr/>
        </p:nvCxnSpPr>
        <p:spPr>
          <a:xfrm>
            <a:off x="787400" y="52832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5C76D96-1058-2D42-C71B-4C37D4B36830}"/>
              </a:ext>
            </a:extLst>
          </p:cNvPr>
          <p:cNvSpPr txBox="1"/>
          <p:nvPr/>
        </p:nvSpPr>
        <p:spPr>
          <a:xfrm>
            <a:off x="1143000" y="51307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GPU-first offline desktop with Frozen and Live views kept separate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E4284F2-6AAB-FED0-769C-760D719B42BB}"/>
              </a:ext>
            </a:extLst>
          </p:cNvPr>
          <p:cNvSpPr/>
          <p:nvPr/>
        </p:nvSpPr>
        <p:spPr>
          <a:xfrm>
            <a:off x="787400" y="5740400"/>
            <a:ext cx="10617200" cy="533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DEB6B-CDEE-D7D7-AB0C-49FEAD9D1119}"/>
              </a:ext>
            </a:extLst>
          </p:cNvPr>
          <p:cNvSpPr txBox="1"/>
          <p:nvPr/>
        </p:nvSpPr>
        <p:spPr>
          <a:xfrm>
            <a:off x="990600" y="5880099"/>
            <a:ext cx="1021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Next: representative operational data and electrical-network constraints</a:t>
            </a:r>
          </a:p>
        </p:txBody>
      </p:sp>
    </p:spTree>
    <p:extLst>
      <p:ext uri="{BB962C8B-B14F-4D97-AF65-F5344CB8AC3E}">
        <p14:creationId xmlns:p14="http://schemas.microsoft.com/office/powerpoint/2010/main" val="30767352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1581</Words>
  <Application>Microsoft Office PowerPoint</Application>
  <PresentationFormat>Custom</PresentationFormat>
  <Paragraphs>298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Suliman Babiker</dc:creator>
  <cp:lastModifiedBy>Suliman Babiker</cp:lastModifiedBy>
  <cp:revision>1</cp:revision>
  <dcterms:created xsi:type="dcterms:W3CDTF">2026-10-21T21:41:08Z</dcterms:created>
  <dcterms:modified xsi:type="dcterms:W3CDTF">2026-10-21T21:41:08Z</dcterms:modified>
</cp:coreProperties>
</file>