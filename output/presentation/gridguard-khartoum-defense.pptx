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55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B8A4F9-EFA0-4290-B501-829966B9C6A3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28B4D0-9E59-43BF-A427-B10DB8326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7826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Can PPO allocate limited modeled supply more effectively than Fixed Rotation?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docs/source/graduation-project-proposal.pdf</a:t>
            </a:r>
          </a:p>
          <a:p>
            <a:r>
              <a:rPr lang="en-US"/>
              <a:t>- docs/REPORT.md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28B4D0-9E59-43BF-A427-B10DB8326E4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9199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Administrative locality boundaries provide presentation context and are not electrical-network topology.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docs/METHODOLOGY.md</a:t>
            </a:r>
          </a:p>
          <a:p>
            <a:r>
              <a:rPr lang="en-US"/>
              <a:t>- docs/assets/screenshots/overview.png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28B4D0-9E59-43BF-A427-B10DB8326E4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057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controller path and display-only forecast remain separate so presentation context cannot silently change the evidence.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docs/IMPLEMENTATION.md</a:t>
            </a:r>
          </a:p>
          <a:p>
            <a:r>
              <a:rPr lang="en-US"/>
              <a:t>- docs/decisions/ADR-001-gpu-runtime.md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28B4D0-9E59-43BF-A427-B10DB8326E4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6455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960 conditions are severity variants of 320 independent base draws. Both controllers receive the same immutable scenario.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docs/METHODOLOGY.md</a:t>
            </a:r>
          </a:p>
          <a:p>
            <a:r>
              <a:rPr lang="en-US"/>
              <a:t>- data/evidence/robustness-supplement.json, SHA-256 c89e04b1bdca371e1728f6b4cb19f4e899261ab805c2e400c15e835eaf75a30b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28B4D0-9E59-43BF-A427-B10DB8326E4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7965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historical teacher-guided initialization precedes PPO training; the deployed controller remains PPO.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data/model/training-provenance.yaml, SHA-256 2cfa158a4b26596fd1f155c57fa79a88dc1c41ce8df946792c559184a815128a</a:t>
            </a:r>
          </a:p>
          <a:p>
            <a:r>
              <a:rPr lang="en-US"/>
              <a:t>- data/model/manifest.json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28B4D0-9E59-43BF-A427-B10DB8326E4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6448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Simulation, PPO inference, metrics, and bootstrap stay GPU-first. One final host transfer supports portable artifact assembly.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docs/IMPLEMENTATION.md</a:t>
            </a:r>
          </a:p>
          <a:p>
            <a:r>
              <a:rPr lang="en-US"/>
              <a:t>- docs/decisions/ADR-001-gpu-runtime.md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28B4D0-9E59-43BF-A427-B10DB8326E4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1884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Run once, then change controller and hour without changing the scenario. Live values never replace frozen evidence.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docs/IMPLEMENTATION.md</a:t>
            </a:r>
          </a:p>
          <a:p>
            <a:r>
              <a:rPr lang="en-US"/>
              <a:t>- docs/assets/screenshots/live.png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28B4D0-9E59-43BF-A427-B10DB8326E4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4953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These are the only three headline outcomes. They use 10 untouched seeds and were reported as observed; result direction was not a release condition.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data/evidence/robustness-supplement.json, SHA-256 c89e04b1bdca371e1728f6b4cb19f4e899261ab805c2e400c15e835eaf75a30b</a:t>
            </a:r>
          </a:p>
          <a:p>
            <a:r>
              <a:rPr lang="en-US"/>
              <a:t>- docs/RESULTS.md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28B4D0-9E59-43BF-A427-B10DB8326E4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9696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All 24 variants retain favorable paired direction for each primary outcome. Difference-in-differences is mixed and no result-direction gate filtered the artifact.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data/evidence/robustness-supplement.json, sensitivity</a:t>
            </a:r>
          </a:p>
          <a:p>
            <a:r>
              <a:rPr lang="en-US"/>
              <a:t>- docs/RESULTS.md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28B4D0-9E59-43BF-A427-B10DB8326E4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0335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Lower error for one-hour persistence is a bounded synthetic display comparison, not operational calibration.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data/evidence/robustness-supplement.json, forecast_evaluation</a:t>
            </a:r>
          </a:p>
          <a:p>
            <a:r>
              <a:rPr lang="en-US"/>
              <a:t>- docs/METHODOLOGY.md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28B4D0-9E59-43BF-A427-B10DB8326E4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7778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accepted artifact preserves provenance, but acceptance used its seeds. Confirmatory claims use the separate untouched seed layer.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data/evidence/paired-benchmark.json, SHA-256 6052e9e47d92e82a0f1db0d3643a2e9be6edc5f3e9fc615b0b185964b54c1677</a:t>
            </a:r>
          </a:p>
          <a:p>
            <a:r>
              <a:rPr lang="en-US"/>
              <a:t>- data/evidence/robustness-supplement.json, seed_separation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28B4D0-9E59-43BF-A427-B10DB8326E4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2314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experiment models shortage allocation, not a power-flow network, and the data are synthetic.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docs/METHODOLOGY.md</a:t>
            </a:r>
          </a:p>
          <a:p>
            <a:r>
              <a:rPr lang="en-US"/>
              <a:t>- docs/RESULTS.md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28B4D0-9E59-43BF-A427-B10DB8326E4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9452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PPO outperformed Fixed Rotation under this locked synthetic protocol. Operational-data and network validation must precede field use.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docs/RESULTS.md</a:t>
            </a:r>
          </a:p>
          <a:p>
            <a:r>
              <a:rPr lang="en-US"/>
              <a:t>- docs/REPORT.md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28B4D0-9E59-43BF-A427-B10DB8326E4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3840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3EFF6-2A29-60DB-9898-D886647AED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A5CF46-DC40-1259-B080-DE96D83EAC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4AEBA-3459-EFBC-E46B-6394F628C2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AA431-359D-4C1A-9B3A-7EAB5F6A80F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5F5412-E6AA-153C-5171-3E9CDFD24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7AEAB8-957B-8B63-2166-115294D2B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1EA56-A879-4DA1-9200-527E75E644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863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668EC-8DD6-8A0D-76F7-FD69558D2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24AED-898A-1470-191A-9873D282ED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C95FA3-7DB3-DEF0-18C1-C263A4636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AA431-359D-4C1A-9B3A-7EAB5F6A80F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D943A-862B-6AC4-AF38-C95335D4A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A14BD2-A361-25CE-D639-02FDDD29B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1EA56-A879-4DA1-9200-527E75E644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617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2AE8B-8A3C-60B3-0B94-689EC9513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5EE90A-845F-FCD4-D16E-FB28CBA191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AD9102-22D6-6937-09C2-AF7E14162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AA431-359D-4C1A-9B3A-7EAB5F6A80F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6EEB8F-8869-D58C-6D66-D66A26F67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CCF2F1-22AC-96E7-A3A8-F8748326C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1EA56-A879-4DA1-9200-527E75E644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1709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55D19-649B-B8EA-E45E-95030578D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1BCF4-D403-5AFD-72E9-52E9AC80A0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9A02DA-0E7B-9567-69C9-54C94DD50F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EC41E9-62EA-B280-94E8-14F3FBDC4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AA431-359D-4C1A-9B3A-7EAB5F6A80F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8334C3-0D23-6B75-DB5F-D009CAA40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220E9B-9EA9-FFA7-0EBA-C56EA9E22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1EA56-A879-4DA1-9200-527E75E644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909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4F516-81DE-9E3A-DBEC-41BCA1AE8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40D53C-585E-AF58-5226-AC9A5AA025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0F136C-C0F5-B64C-B912-706C70D711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EE8ADF-606B-45D4-AD66-E511C115BD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2D76F10-E473-6433-0A78-A9821745E4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5DB758-65E8-D860-A094-6A899F82D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AA431-359D-4C1A-9B3A-7EAB5F6A80F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12B0CE-E0FE-C042-5F29-4FE78CDCD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083181-3F1C-868A-32A8-B308A5563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1EA56-A879-4DA1-9200-527E75E644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585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0A27A-49FD-2499-0ED5-3C97BD68D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BBFB05-9A8F-9D30-1C06-59EF7ECDE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AA431-359D-4C1A-9B3A-7EAB5F6A80F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45959C-8CED-A574-03DE-844066EBE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1D9945-0893-863E-2827-8107117C5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1EA56-A879-4DA1-9200-527E75E644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3562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B6A020-5865-1EC0-DE4D-C485D037E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AA431-359D-4C1A-9B3A-7EAB5F6A80F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4C3FCD-8173-CD32-92AA-58FDE6C06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03E558-5E38-9C74-73E1-054A7D23E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1EA56-A879-4DA1-9200-527E75E644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891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9AA17-7137-B2F6-87C6-7630E35EB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86C6E2-CEE8-4343-192D-E6C0A089C8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37C518-5690-576C-AEDF-FD223CE112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8C9C7-ADD1-BD9B-A2CB-1D44828BD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AA431-359D-4C1A-9B3A-7EAB5F6A80F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34B4CD-29DA-218C-22DA-AC93C490F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439749-B534-7966-4A66-612A65CF6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1EA56-A879-4DA1-9200-527E75E644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900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923E3-DF57-41FF-822B-9BBB5C1BD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F5323C-7B3E-8CE2-8198-AF20851183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A0F6F7-682F-2894-FECF-765A57ECDC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093097-05DA-DC79-598B-FEA5A1658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AA431-359D-4C1A-9B3A-7EAB5F6A80F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3921FF-589E-B8E9-E219-E605F56A8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87B654-A48B-83A6-A70B-CD417A8D1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1EA56-A879-4DA1-9200-527E75E644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8613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6D414-EBF2-C61F-BCB6-6215C7AE3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C0ED2E-F0BE-57A6-8FAC-D63503CA3D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D97957-2CB8-2FE0-0810-2A84830AA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AA431-359D-4C1A-9B3A-7EAB5F6A80F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B8BB79-1FAE-F732-AF78-62BDEF315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38D6B8-A01A-C108-3715-EEDA6644B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1EA56-A879-4DA1-9200-527E75E644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386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167231-66ED-2BE3-12CD-09251E7C94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5B0BE7-B376-A053-28A5-2E8E6BE64D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559254-BA3A-F198-A488-1DFC6540B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AA431-359D-4C1A-9B3A-7EAB5F6A80F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630413-C7A2-1C1D-83DE-1D55F9480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235D8-D0D6-7F5D-C02E-1E0F55D74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1EA56-A879-4DA1-9200-527E75E644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873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DEC0136-CD9C-772A-E5C7-534AFB8D8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99F3F4-0BEB-D363-4A56-B00FBEF47E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AF9DDB-8BDE-04DA-BA22-B558CB4142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BAA431-359D-4C1A-9B3A-7EAB5F6A80FB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E930E5-A2D7-7E86-2D58-F9C2AC9EB3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C8E734-0720-8C09-1670-2E605239F2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41EA56-A879-4DA1-9200-527E75E644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005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62923B-D577-5D5A-7E6E-9E79E02EBFCA}"/>
              </a:ext>
            </a:extLst>
          </p:cNvPr>
          <p:cNvSpPr txBox="1"/>
          <p:nvPr/>
        </p:nvSpPr>
        <p:spPr>
          <a:xfrm>
            <a:off x="762000" y="736599"/>
            <a:ext cx="5334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GRADUATION PROJECT DEFENSE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EF81A6-1394-680A-7545-0B144BB2A7E5}"/>
              </a:ext>
            </a:extLst>
          </p:cNvPr>
          <p:cNvSpPr txBox="1"/>
          <p:nvPr/>
        </p:nvSpPr>
        <p:spPr>
          <a:xfrm>
            <a:off x="762000" y="1625599"/>
            <a:ext cx="99060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400" b="1">
                <a:solidFill>
                  <a:srgbClr val="F3F0E8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F827A7-2AD7-ED68-E1DA-9E82570BE372}"/>
              </a:ext>
            </a:extLst>
          </p:cNvPr>
          <p:cNvSpPr txBox="1"/>
          <p:nvPr/>
        </p:nvSpPr>
        <p:spPr>
          <a:xfrm>
            <a:off x="762000" y="2692399"/>
            <a:ext cx="9652000" cy="863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600">
                <a:solidFill>
                  <a:srgbClr val="E0B957"/>
                </a:solidFill>
                <a:latin typeface="Aptos" panose="020B0004020202020204" pitchFamily="34" charset="0"/>
              </a:rPr>
              <a:t>PPO-assisted load shedding and energy management for developing countries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61E0013-4A02-FE72-BC28-31B46E052B08}"/>
              </a:ext>
            </a:extLst>
          </p:cNvPr>
          <p:cNvCxnSpPr/>
          <p:nvPr/>
        </p:nvCxnSpPr>
        <p:spPr>
          <a:xfrm>
            <a:off x="762000" y="3835400"/>
            <a:ext cx="2870200" cy="0"/>
          </a:xfrm>
          <a:prstGeom prst="line">
            <a:avLst/>
          </a:prstGeom>
          <a:ln w="635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A5B95BC-D321-4E01-F2F7-FE05F35C78B8}"/>
              </a:ext>
            </a:extLst>
          </p:cNvPr>
          <p:cNvSpPr txBox="1"/>
          <p:nvPr/>
        </p:nvSpPr>
        <p:spPr>
          <a:xfrm>
            <a:off x="762000" y="4381499"/>
            <a:ext cx="5461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pt-BR" sz="1700">
                <a:solidFill>
                  <a:srgbClr val="F3F0E8"/>
                </a:solidFill>
                <a:latin typeface="Aptos" panose="020B0004020202020204" pitchFamily="34" charset="0"/>
              </a:rPr>
              <a:t>Murtada Asim Ibrahim Bakhit (18-317)</a:t>
            </a:r>
            <a:endParaRPr lang="en-US" sz="1700">
              <a:solidFill>
                <a:srgbClr val="F3F0E8"/>
              </a:solidFill>
              <a:latin typeface="Aptos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79E183-3EB2-AEB0-02F3-BF7FBC51F02D}"/>
              </a:ext>
            </a:extLst>
          </p:cNvPr>
          <p:cNvSpPr txBox="1"/>
          <p:nvPr/>
        </p:nvSpPr>
        <p:spPr>
          <a:xfrm>
            <a:off x="762000" y="4749799"/>
            <a:ext cx="5461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Suliman Elawad Suliman Babiker (18-310)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1CBB8B-61B5-E6BF-C146-966121461904}"/>
              </a:ext>
            </a:extLst>
          </p:cNvPr>
          <p:cNvSpPr txBox="1"/>
          <p:nvPr/>
        </p:nvSpPr>
        <p:spPr>
          <a:xfrm>
            <a:off x="762000" y="5118099"/>
            <a:ext cx="5461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Abdalhay Abass Mobarak Abass (15-306)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FB29F6-99EC-3772-7032-19287D9DC791}"/>
              </a:ext>
            </a:extLst>
          </p:cNvPr>
          <p:cNvSpPr txBox="1"/>
          <p:nvPr/>
        </p:nvSpPr>
        <p:spPr>
          <a:xfrm>
            <a:off x="762000" y="5968999"/>
            <a:ext cx="6096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research simulation  |  August 2026</a:t>
            </a:r>
          </a:p>
        </p:txBody>
      </p:sp>
    </p:spTree>
    <p:extLst>
      <p:ext uri="{BB962C8B-B14F-4D97-AF65-F5344CB8AC3E}">
        <p14:creationId xmlns:p14="http://schemas.microsoft.com/office/powerpoint/2010/main" val="4274303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06993F-71CA-7E99-C903-A55AF14FF905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2605044-E674-BAE7-2CF6-4B49D19E5204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CF34079-7B01-5344-70D9-21D45668C3B9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5507C5-FA02-3878-223A-316C19EC0846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BA317A-4406-62EC-6C60-A92411BA03C5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F3F0E8"/>
                </a:solidFill>
                <a:latin typeface="Aptos" panose="020B0004020202020204" pitchFamily="34" charset="0"/>
              </a:rPr>
              <a:t>Seven simultaneous allocation choices under shortage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BB52E0D-6C22-6A66-B14C-BB96D2469E9A}"/>
              </a:ext>
            </a:extLst>
          </p:cNvPr>
          <p:cNvCxnSpPr/>
          <p:nvPr/>
        </p:nvCxnSpPr>
        <p:spPr>
          <a:xfrm>
            <a:off x="736600" y="21844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D0EE1B9-E3CB-7438-5595-8F2E2C3C4C5C}"/>
              </a:ext>
            </a:extLst>
          </p:cNvPr>
          <p:cNvSpPr txBox="1"/>
          <p:nvPr/>
        </p:nvSpPr>
        <p:spPr>
          <a:xfrm>
            <a:off x="1092200" y="2031999"/>
            <a:ext cx="3835400" cy="800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>
                <a:solidFill>
                  <a:srgbClr val="F3F0E8"/>
                </a:solidFill>
                <a:latin typeface="Aptos" panose="020B0004020202020204" pitchFamily="34" charset="0"/>
              </a:rPr>
              <a:t>Protect Hospital, Water, and Bakery demand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EAB17CC-66DD-CF0D-1E07-A6258F4924A4}"/>
              </a:ext>
            </a:extLst>
          </p:cNvPr>
          <p:cNvCxnSpPr/>
          <p:nvPr/>
        </p:nvCxnSpPr>
        <p:spPr>
          <a:xfrm>
            <a:off x="736600" y="30226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2E26B9C-9395-A663-6E82-397BE06FFE56}"/>
              </a:ext>
            </a:extLst>
          </p:cNvPr>
          <p:cNvSpPr txBox="1"/>
          <p:nvPr/>
        </p:nvSpPr>
        <p:spPr>
          <a:xfrm>
            <a:off x="1092200" y="2870199"/>
            <a:ext cx="3835400" cy="800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>
                <a:solidFill>
                  <a:srgbClr val="F3F0E8"/>
                </a:solidFill>
                <a:latin typeface="Aptos" panose="020B0004020202020204" pitchFamily="34" charset="0"/>
              </a:rPr>
              <a:t>Use available supply without exceeding it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6C4D82-7D9B-5FFC-8861-364F942E69A1}"/>
              </a:ext>
            </a:extLst>
          </p:cNvPr>
          <p:cNvCxnSpPr/>
          <p:nvPr/>
        </p:nvCxnSpPr>
        <p:spPr>
          <a:xfrm>
            <a:off x="736600" y="38608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B395B68-71C4-E9D5-8655-1FC0E636FB2C}"/>
              </a:ext>
            </a:extLst>
          </p:cNvPr>
          <p:cNvSpPr txBox="1"/>
          <p:nvPr/>
        </p:nvSpPr>
        <p:spPr>
          <a:xfrm>
            <a:off x="1092200" y="3708399"/>
            <a:ext cx="3835400" cy="800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>
                <a:solidFill>
                  <a:srgbClr val="F3F0E8"/>
                </a:solidFill>
                <a:latin typeface="Aptos" panose="020B0004020202020204" pitchFamily="34" charset="0"/>
              </a:rPr>
              <a:t>Share service across seven modeled localities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3C30E1E-62F9-AA9C-2EDF-3302DF56EBA4}"/>
              </a:ext>
            </a:extLst>
          </p:cNvPr>
          <p:cNvSpPr/>
          <p:nvPr/>
        </p:nvSpPr>
        <p:spPr>
          <a:xfrm>
            <a:off x="5397500" y="1778000"/>
            <a:ext cx="6159500" cy="3467100"/>
          </a:xfrm>
          <a:prstGeom prst="roundRect">
            <a:avLst/>
          </a:prstGeom>
          <a:solidFill>
            <a:srgbClr val="102A3B"/>
          </a:solidFill>
          <a:ln w="15240">
            <a:solidFill>
              <a:srgbClr val="36556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 descr="Overview showing seven administrative locality boundaries and frozen outcomes">
            <a:extLst>
              <a:ext uri="{FF2B5EF4-FFF2-40B4-BE49-F238E27FC236}">
                <a16:creationId xmlns:a16="http://schemas.microsoft.com/office/drawing/2014/main" id="{784DF85B-E74B-CF58-53ED-65093A6B519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0" y="1866900"/>
            <a:ext cx="5981700" cy="33655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18CF5F5-5269-50B1-7EDC-FED472E5C2BA}"/>
              </a:ext>
            </a:extLst>
          </p:cNvPr>
          <p:cNvSpPr txBox="1"/>
          <p:nvPr/>
        </p:nvSpPr>
        <p:spPr>
          <a:xfrm>
            <a:off x="736600" y="5562599"/>
            <a:ext cx="10033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3FC6AC"/>
                </a:solidFill>
                <a:latin typeface="Aptos" panose="020B0004020202020204" pitchFamily="34" charset="0"/>
              </a:rPr>
              <a:t>Synthetic decision support - not a live grid controller</a:t>
            </a:r>
          </a:p>
        </p:txBody>
      </p:sp>
    </p:spTree>
    <p:extLst>
      <p:ext uri="{BB962C8B-B14F-4D97-AF65-F5344CB8AC3E}">
        <p14:creationId xmlns:p14="http://schemas.microsoft.com/office/powerpoint/2010/main" val="12649314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BFC4FE-5F6D-B32B-D0F1-9FFD2AF25E55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9FA356C-E36F-7C65-6D1F-24F97013694F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93CFBF-74A5-F6C0-5381-2BFB7B90EE6F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B24B19-DF68-9210-1EA0-C17070DC5A36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D40B47-DD91-4DC2-08A3-014C7E0FA285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The controller evidence path is isolated from presentation context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5B2AFAE-40CE-712A-112A-2F7B90A65285}"/>
              </a:ext>
            </a:extLst>
          </p:cNvPr>
          <p:cNvCxnSpPr/>
          <p:nvPr/>
        </p:nvCxnSpPr>
        <p:spPr>
          <a:xfrm>
            <a:off x="2374900" y="2921000"/>
            <a:ext cx="6477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F609829-D52C-504D-C27F-026C2D342D89}"/>
              </a:ext>
            </a:extLst>
          </p:cNvPr>
          <p:cNvCxnSpPr/>
          <p:nvPr/>
        </p:nvCxnSpPr>
        <p:spPr>
          <a:xfrm>
            <a:off x="4597400" y="2921000"/>
            <a:ext cx="6477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0702623-410C-C4A8-D267-6E8262C08CB3}"/>
              </a:ext>
            </a:extLst>
          </p:cNvPr>
          <p:cNvCxnSpPr/>
          <p:nvPr/>
        </p:nvCxnSpPr>
        <p:spPr>
          <a:xfrm>
            <a:off x="6819900" y="2921000"/>
            <a:ext cx="6477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7916E89-80E0-CF3B-9A19-8A31D5B9BCF3}"/>
              </a:ext>
            </a:extLst>
          </p:cNvPr>
          <p:cNvCxnSpPr/>
          <p:nvPr/>
        </p:nvCxnSpPr>
        <p:spPr>
          <a:xfrm>
            <a:off x="9042400" y="2921000"/>
            <a:ext cx="6477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AC208A1-D7EA-67F1-E015-CD1B375C2DFF}"/>
              </a:ext>
            </a:extLst>
          </p:cNvPr>
          <p:cNvSpPr/>
          <p:nvPr/>
        </p:nvSpPr>
        <p:spPr>
          <a:xfrm>
            <a:off x="800100" y="2336800"/>
            <a:ext cx="1574800" cy="11684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1CBB95-393C-BEE0-6ECA-09E9E88878E3}"/>
              </a:ext>
            </a:extLst>
          </p:cNvPr>
          <p:cNvSpPr txBox="1"/>
          <p:nvPr/>
        </p:nvSpPr>
        <p:spPr>
          <a:xfrm>
            <a:off x="889000" y="2578099"/>
            <a:ext cx="13970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Seeded</a:t>
            </a:r>
          </a:p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scenarios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611576D-C145-9645-E53D-79E7B2DD7928}"/>
              </a:ext>
            </a:extLst>
          </p:cNvPr>
          <p:cNvSpPr/>
          <p:nvPr/>
        </p:nvSpPr>
        <p:spPr>
          <a:xfrm>
            <a:off x="3022600" y="2336800"/>
            <a:ext cx="1574800" cy="11684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A30D01-49E0-E0C3-7078-782C1AE07230}"/>
              </a:ext>
            </a:extLst>
          </p:cNvPr>
          <p:cNvSpPr txBox="1"/>
          <p:nvPr/>
        </p:nvSpPr>
        <p:spPr>
          <a:xfrm>
            <a:off x="3111500" y="2578099"/>
            <a:ext cx="13970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Shared CUDA</a:t>
            </a:r>
          </a:p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tensors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99467F6-E271-6500-78EC-849AEF5F5A49}"/>
              </a:ext>
            </a:extLst>
          </p:cNvPr>
          <p:cNvSpPr/>
          <p:nvPr/>
        </p:nvSpPr>
        <p:spPr>
          <a:xfrm>
            <a:off x="5245100" y="2336800"/>
            <a:ext cx="1574800" cy="1168400"/>
          </a:xfrm>
          <a:prstGeom prst="round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C838EA-478A-DBCF-8FFB-6CA375203536}"/>
              </a:ext>
            </a:extLst>
          </p:cNvPr>
          <p:cNvSpPr txBox="1"/>
          <p:nvPr/>
        </p:nvSpPr>
        <p:spPr>
          <a:xfrm>
            <a:off x="5334000" y="2578099"/>
            <a:ext cx="13970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PPO and</a:t>
            </a:r>
          </a:p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Fixed Rotation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48D6551-137C-A73F-A279-663ACBC84E10}"/>
              </a:ext>
            </a:extLst>
          </p:cNvPr>
          <p:cNvSpPr/>
          <p:nvPr/>
        </p:nvSpPr>
        <p:spPr>
          <a:xfrm>
            <a:off x="7467600" y="2336800"/>
            <a:ext cx="1574800" cy="11684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5CA618-AD91-E8CC-578A-4CD9F7E0FF7C}"/>
              </a:ext>
            </a:extLst>
          </p:cNvPr>
          <p:cNvSpPr txBox="1"/>
          <p:nvPr/>
        </p:nvSpPr>
        <p:spPr>
          <a:xfrm>
            <a:off x="7556500" y="2578099"/>
            <a:ext cx="13970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Paired</a:t>
            </a:r>
          </a:p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evidence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339A014-AFD4-3ABF-3F5D-EE86D6545156}"/>
              </a:ext>
            </a:extLst>
          </p:cNvPr>
          <p:cNvSpPr/>
          <p:nvPr/>
        </p:nvSpPr>
        <p:spPr>
          <a:xfrm>
            <a:off x="9690100" y="2336800"/>
            <a:ext cx="1574800" cy="1168400"/>
          </a:xfrm>
          <a:prstGeom prst="round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1A81EA7-E8BA-AFD7-9987-811D6FD64EB8}"/>
              </a:ext>
            </a:extLst>
          </p:cNvPr>
          <p:cNvSpPr txBox="1"/>
          <p:nvPr/>
        </p:nvSpPr>
        <p:spPr>
          <a:xfrm>
            <a:off x="9779000" y="2578099"/>
            <a:ext cx="13970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Desktop</a:t>
            </a:r>
          </a:p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replay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63D80A8-70D7-E78E-8EB1-0D7C41635475}"/>
              </a:ext>
            </a:extLst>
          </p:cNvPr>
          <p:cNvSpPr txBox="1"/>
          <p:nvPr/>
        </p:nvSpPr>
        <p:spPr>
          <a:xfrm>
            <a:off x="736600" y="4063999"/>
            <a:ext cx="2921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13232E"/>
                </a:solidFill>
                <a:latin typeface="Aptos" panose="020B0004020202020204" pitchFamily="34" charset="0"/>
              </a:rPr>
              <a:t>Controller evidence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6A99D17-93ED-710B-33C8-AC679F84713D}"/>
              </a:ext>
            </a:extLst>
          </p:cNvPr>
          <p:cNvCxnSpPr/>
          <p:nvPr/>
        </p:nvCxnSpPr>
        <p:spPr>
          <a:xfrm>
            <a:off x="736600" y="4508500"/>
            <a:ext cx="10693400" cy="0"/>
          </a:xfrm>
          <a:prstGeom prst="line">
            <a:avLst/>
          </a:prstGeom>
          <a:ln w="1270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AB2AEEC-1C5E-6558-B77E-E31359CCA6C8}"/>
              </a:ext>
            </a:extLst>
          </p:cNvPr>
          <p:cNvSpPr txBox="1"/>
          <p:nvPr/>
        </p:nvSpPr>
        <p:spPr>
          <a:xfrm>
            <a:off x="736600" y="4825999"/>
            <a:ext cx="2413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3232E"/>
                </a:solidFill>
                <a:latin typeface="Aptos" panose="020B0004020202020204" pitchFamily="34" charset="0"/>
              </a:rPr>
              <a:t>Demand projection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273824-187B-E62A-C905-ADA790801BE3}"/>
              </a:ext>
            </a:extLst>
          </p:cNvPr>
          <p:cNvSpPr txBox="1"/>
          <p:nvPr/>
        </p:nvSpPr>
        <p:spPr>
          <a:xfrm>
            <a:off x="3175000" y="4825999"/>
            <a:ext cx="83820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60727D"/>
                </a:solidFill>
                <a:latin typeface="Aptos" panose="020B0004020202020204" pitchFamily="34" charset="0"/>
              </a:rPr>
              <a:t>Display only - never enters PPO, dispatch, training objective, or benchmark evidence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E05AC5-2789-6E52-10F4-715479E9AE3B}"/>
              </a:ext>
            </a:extLst>
          </p:cNvPr>
          <p:cNvSpPr txBox="1"/>
          <p:nvPr/>
        </p:nvSpPr>
        <p:spPr>
          <a:xfrm>
            <a:off x="736600" y="5689599"/>
            <a:ext cx="10414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3FC6AC"/>
                </a:solidFill>
                <a:latin typeface="Aptos" panose="020B0004020202020204" pitchFamily="34" charset="0"/>
              </a:rPr>
              <a:t>Offline after installation  |  hash-bound artifacts  |  fail-closed startup</a:t>
            </a:r>
          </a:p>
        </p:txBody>
      </p:sp>
    </p:spTree>
    <p:extLst>
      <p:ext uri="{BB962C8B-B14F-4D97-AF65-F5344CB8AC3E}">
        <p14:creationId xmlns:p14="http://schemas.microsoft.com/office/powerpoint/2010/main" val="8052439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67A68DE-FE26-6DD2-450B-AB3DA4BAE6E0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F454A26-B1B3-153E-94B9-AF6BB885D90D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166A9EB-C99B-D91B-4B91-0393EF2AFFBB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9D7BEB-B668-27E0-BCFA-A85DE7CEE8B0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F6CE42-67FF-98A1-AC36-B3E6AE522EB2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F3F0E8"/>
                </a:solidFill>
                <a:latin typeface="Aptos" panose="020B0004020202020204" pitchFamily="34" charset="0"/>
              </a:rPr>
              <a:t>PPO and Fixed Rotation receive the same scenario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15081A7-C284-7213-49CF-41F353692B73}"/>
              </a:ext>
            </a:extLst>
          </p:cNvPr>
          <p:cNvSpPr/>
          <p:nvPr/>
        </p:nvSpPr>
        <p:spPr>
          <a:xfrm>
            <a:off x="787400" y="1981200"/>
            <a:ext cx="2997200" cy="16002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82A05F-E673-CBDA-FD44-6513F48072B1}"/>
              </a:ext>
            </a:extLst>
          </p:cNvPr>
          <p:cNvSpPr txBox="1"/>
          <p:nvPr/>
        </p:nvSpPr>
        <p:spPr>
          <a:xfrm>
            <a:off x="965200" y="2133599"/>
            <a:ext cx="26416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300" b="1">
                <a:solidFill>
                  <a:srgbClr val="F3F0E8"/>
                </a:solidFill>
                <a:latin typeface="Aptos" panose="020B0004020202020204" pitchFamily="34" charset="0"/>
              </a:rPr>
              <a:t>320 independent base draws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0288BC-D9E8-93F4-9575-57FD5787D831}"/>
              </a:ext>
            </a:extLst>
          </p:cNvPr>
          <p:cNvSpPr txBox="1"/>
          <p:nvPr/>
        </p:nvSpPr>
        <p:spPr>
          <a:xfrm>
            <a:off x="965200" y="2946399"/>
            <a:ext cx="26416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F3F0E8"/>
                </a:solidFill>
                <a:latin typeface="Aptos" panose="020B0004020202020204" pitchFamily="34" charset="0"/>
              </a:rPr>
              <a:t>10 untouched seeds x 32 episodes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5ACF30-7CB2-C6D1-4F5F-8D0F7E9938DF}"/>
              </a:ext>
            </a:extLst>
          </p:cNvPr>
          <p:cNvSpPr txBox="1"/>
          <p:nvPr/>
        </p:nvSpPr>
        <p:spPr>
          <a:xfrm>
            <a:off x="3937000" y="2438399"/>
            <a:ext cx="10160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3000" b="1">
                <a:solidFill>
                  <a:srgbClr val="E0B957"/>
                </a:solidFill>
                <a:latin typeface="Aptos" panose="020B0004020202020204" pitchFamily="34" charset="0"/>
              </a:rPr>
              <a:t>x 3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078645D-D074-4212-A84C-D75AF7B865E8}"/>
              </a:ext>
            </a:extLst>
          </p:cNvPr>
          <p:cNvSpPr/>
          <p:nvPr/>
        </p:nvSpPr>
        <p:spPr>
          <a:xfrm>
            <a:off x="5080000" y="1981200"/>
            <a:ext cx="2768600" cy="1600200"/>
          </a:xfrm>
          <a:prstGeom prst="round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2ACD19-18D5-1D5D-7E28-BA65F8ECF03C}"/>
              </a:ext>
            </a:extLst>
          </p:cNvPr>
          <p:cNvSpPr txBox="1"/>
          <p:nvPr/>
        </p:nvSpPr>
        <p:spPr>
          <a:xfrm>
            <a:off x="5257800" y="2133599"/>
            <a:ext cx="24130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300" b="1">
                <a:solidFill>
                  <a:srgbClr val="071923"/>
                </a:solidFill>
                <a:latin typeface="Aptos" panose="020B0004020202020204" pitchFamily="34" charset="0"/>
              </a:rPr>
              <a:t>960 matched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EDA577-6D72-6615-2AC5-D058C772D987}"/>
              </a:ext>
            </a:extLst>
          </p:cNvPr>
          <p:cNvSpPr txBox="1"/>
          <p:nvPr/>
        </p:nvSpPr>
        <p:spPr>
          <a:xfrm>
            <a:off x="5257800" y="2946399"/>
            <a:ext cx="24130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F3F0E8"/>
                </a:solidFill>
                <a:latin typeface="Aptos" panose="020B0004020202020204" pitchFamily="34" charset="0"/>
              </a:rPr>
              <a:t>mild, moderate, severe shortage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D99360-90BF-D2E9-450C-6730B5AA58BA}"/>
              </a:ext>
            </a:extLst>
          </p:cNvPr>
          <p:cNvSpPr txBox="1"/>
          <p:nvPr/>
        </p:nvSpPr>
        <p:spPr>
          <a:xfrm>
            <a:off x="8001000" y="2438399"/>
            <a:ext cx="10160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3000" b="1">
                <a:solidFill>
                  <a:srgbClr val="E0B957"/>
                </a:solidFill>
                <a:latin typeface="Aptos" panose="020B0004020202020204" pitchFamily="34" charset="0"/>
              </a:rPr>
              <a:t>x 2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15BBC45-4B86-B6E2-77A0-4C7F1B253342}"/>
              </a:ext>
            </a:extLst>
          </p:cNvPr>
          <p:cNvSpPr/>
          <p:nvPr/>
        </p:nvSpPr>
        <p:spPr>
          <a:xfrm>
            <a:off x="9144000" y="1981200"/>
            <a:ext cx="2260600" cy="16002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9286F6A-46C0-9FC9-4B6E-B56FA87EB824}"/>
              </a:ext>
            </a:extLst>
          </p:cNvPr>
          <p:cNvSpPr txBox="1"/>
          <p:nvPr/>
        </p:nvSpPr>
        <p:spPr>
          <a:xfrm>
            <a:off x="9321800" y="2133599"/>
            <a:ext cx="19050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300" b="1">
                <a:solidFill>
                  <a:srgbClr val="F3F0E8"/>
                </a:solidFill>
                <a:latin typeface="Aptos" panose="020B0004020202020204" pitchFamily="34" charset="0"/>
              </a:rPr>
              <a:t>1920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493526-F4D8-B0EA-230E-6B9AFEC62FEF}"/>
              </a:ext>
            </a:extLst>
          </p:cNvPr>
          <p:cNvSpPr txBox="1"/>
          <p:nvPr/>
        </p:nvSpPr>
        <p:spPr>
          <a:xfrm>
            <a:off x="9321800" y="2946399"/>
            <a:ext cx="19050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F3F0E8"/>
                </a:solidFill>
                <a:latin typeface="Aptos" panose="020B0004020202020204" pitchFamily="34" charset="0"/>
              </a:rPr>
              <a:t>controller-scenario evaluations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F1AF3FF-5D39-55ED-7643-163C4CC53CDF}"/>
              </a:ext>
            </a:extLst>
          </p:cNvPr>
          <p:cNvCxnSpPr/>
          <p:nvPr/>
        </p:nvCxnSpPr>
        <p:spPr>
          <a:xfrm>
            <a:off x="787400" y="4038600"/>
            <a:ext cx="10617200" cy="0"/>
          </a:xfrm>
          <a:prstGeom prst="line">
            <a:avLst/>
          </a:prstGeom>
          <a:ln w="1270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FD6334D-7ADF-727E-E6C6-19653130544A}"/>
              </a:ext>
            </a:extLst>
          </p:cNvPr>
          <p:cNvSpPr txBox="1"/>
          <p:nvPr/>
        </p:nvSpPr>
        <p:spPr>
          <a:xfrm>
            <a:off x="889000" y="4444999"/>
            <a:ext cx="22225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3FC6AC"/>
                </a:solidFill>
                <a:latin typeface="Aptos" panose="020B0004020202020204" pitchFamily="34" charset="0"/>
              </a:rPr>
              <a:t>PPO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F5370E-D36C-A8F3-56C7-88E69866EE54}"/>
              </a:ext>
            </a:extLst>
          </p:cNvPr>
          <p:cNvSpPr txBox="1"/>
          <p:nvPr/>
        </p:nvSpPr>
        <p:spPr>
          <a:xfrm>
            <a:off x="889000" y="4902199"/>
            <a:ext cx="3683000" cy="685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32-value observation</a:t>
            </a:r>
          </a:p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7-locality joint action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CBBD4F-A5B7-7BA6-F91D-F4970DCE9E8B}"/>
              </a:ext>
            </a:extLst>
          </p:cNvPr>
          <p:cNvSpPr txBox="1"/>
          <p:nvPr/>
        </p:nvSpPr>
        <p:spPr>
          <a:xfrm>
            <a:off x="6540500" y="4444999"/>
            <a:ext cx="2921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E0B957"/>
                </a:solidFill>
                <a:latin typeface="Aptos" panose="020B0004020202020204" pitchFamily="34" charset="0"/>
              </a:rPr>
              <a:t>Fixed Rotation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B682F7-1340-DCF0-0063-747F32ECBAE0}"/>
              </a:ext>
            </a:extLst>
          </p:cNvPr>
          <p:cNvSpPr txBox="1"/>
          <p:nvPr/>
        </p:nvSpPr>
        <p:spPr>
          <a:xfrm>
            <a:off x="6540500" y="4902199"/>
            <a:ext cx="4191000" cy="685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Three-hour schedule blocks</a:t>
            </a:r>
          </a:p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No demand or fairness observation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E66367-0D0B-6A16-D78E-E83EAF500F08}"/>
              </a:ext>
            </a:extLst>
          </p:cNvPr>
          <p:cNvSpPr txBox="1"/>
          <p:nvPr/>
        </p:nvSpPr>
        <p:spPr>
          <a:xfrm>
            <a:off x="3175000" y="5816599"/>
            <a:ext cx="5842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900" b="1">
                <a:solidFill>
                  <a:srgbClr val="3FC6AC"/>
                </a:solidFill>
                <a:latin typeface="Aptos" panose="020B0004020202020204" pitchFamily="34" charset="0"/>
              </a:rPr>
              <a:t>Every stored delta is PPO - Fixed Rotation</a:t>
            </a:r>
          </a:p>
        </p:txBody>
      </p:sp>
    </p:spTree>
    <p:extLst>
      <p:ext uri="{BB962C8B-B14F-4D97-AF65-F5344CB8AC3E}">
        <p14:creationId xmlns:p14="http://schemas.microsoft.com/office/powerpoint/2010/main" val="18156199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C4FE8F-5FD0-2828-AC04-2512685E0826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D98E551-0ABE-A2CD-717C-B7ACCB37E6FF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E4EF67A-77CB-1FEA-878E-665331A50266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BF4BE2-9D2B-3963-8076-5F601D6969D4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BAE97B-251C-4DC0-C970-AD50B2EA1CB5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The PPO checkpoint has a historical training record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FC9C1D1-299A-52AE-1453-242333570F80}"/>
              </a:ext>
            </a:extLst>
          </p:cNvPr>
          <p:cNvSpPr/>
          <p:nvPr/>
        </p:nvSpPr>
        <p:spPr>
          <a:xfrm>
            <a:off x="736600" y="1879600"/>
            <a:ext cx="10718800" cy="990600"/>
          </a:xfrm>
          <a:prstGeom prst="roundRect">
            <a:avLst/>
          </a:prstGeom>
          <a:solidFill>
            <a:srgbClr val="E4F4F0"/>
          </a:solidFill>
          <a:ln w="15240">
            <a:solidFill>
              <a:srgbClr val="3FC6A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02F2B6-F02A-13C5-FFFB-E811BA2B209C}"/>
              </a:ext>
            </a:extLst>
          </p:cNvPr>
          <p:cNvSpPr txBox="1"/>
          <p:nvPr/>
        </p:nvSpPr>
        <p:spPr>
          <a:xfrm>
            <a:off x="965200" y="2070099"/>
            <a:ext cx="1397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Network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A39377-84B0-7946-7FEE-DB0E399841C9}"/>
              </a:ext>
            </a:extLst>
          </p:cNvPr>
          <p:cNvSpPr txBox="1"/>
          <p:nvPr/>
        </p:nvSpPr>
        <p:spPr>
          <a:xfrm>
            <a:off x="965200" y="2387599"/>
            <a:ext cx="3175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 b="1">
                <a:solidFill>
                  <a:srgbClr val="13232E"/>
                </a:solidFill>
                <a:latin typeface="Aptos" panose="020B0004020202020204" pitchFamily="34" charset="0"/>
              </a:rPr>
              <a:t>32 -&gt; 512 -&gt; 512 -&gt; 2187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C784DA-8FA6-D45D-E75D-CC7D63F5178A}"/>
              </a:ext>
            </a:extLst>
          </p:cNvPr>
          <p:cNvSpPr txBox="1"/>
          <p:nvPr/>
        </p:nvSpPr>
        <p:spPr>
          <a:xfrm>
            <a:off x="4495800" y="2070099"/>
            <a:ext cx="2413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Selected checkpoint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9E9D20-BF41-A36F-8162-77CF95AD62CD}"/>
              </a:ext>
            </a:extLst>
          </p:cNvPr>
          <p:cNvSpPr txBox="1"/>
          <p:nvPr/>
        </p:nvSpPr>
        <p:spPr>
          <a:xfrm>
            <a:off x="4495800" y="2387599"/>
            <a:ext cx="3302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 b="1">
                <a:solidFill>
                  <a:srgbClr val="13232E"/>
                </a:solidFill>
                <a:latin typeface="Aptos" panose="020B0004020202020204" pitchFamily="34" charset="0"/>
              </a:rPr>
              <a:t>iteration 510  |  seed 43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03ABAC-B330-20F1-D3DA-402AAFE033AF}"/>
              </a:ext>
            </a:extLst>
          </p:cNvPr>
          <p:cNvSpPr txBox="1"/>
          <p:nvPr/>
        </p:nvSpPr>
        <p:spPr>
          <a:xfrm>
            <a:off x="8356600" y="2070099"/>
            <a:ext cx="1905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Validation seeds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3415B5-C70E-978C-D701-F0634C07CE28}"/>
              </a:ext>
            </a:extLst>
          </p:cNvPr>
          <p:cNvSpPr txBox="1"/>
          <p:nvPr/>
        </p:nvSpPr>
        <p:spPr>
          <a:xfrm>
            <a:off x="8356600" y="23875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13232E"/>
                </a:solidFill>
                <a:latin typeface="Aptos" panose="020B0004020202020204" pitchFamily="34" charset="0"/>
              </a:rPr>
              <a:t>70000, 70001, 70002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5492D1-E824-83A7-59B0-CD10556BDC7E}"/>
              </a:ext>
            </a:extLst>
          </p:cNvPr>
          <p:cNvSpPr txBox="1"/>
          <p:nvPr/>
        </p:nvSpPr>
        <p:spPr>
          <a:xfrm>
            <a:off x="812800" y="3276599"/>
            <a:ext cx="3810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 b="1">
                <a:solidFill>
                  <a:srgbClr val="3FC6AC"/>
                </a:solidFill>
                <a:latin typeface="Aptos" panose="020B0004020202020204" pitchFamily="34" charset="0"/>
              </a:rPr>
              <a:t>Historical initialization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884839C-6D9C-B8B1-4547-CF0DB6C42AE6}"/>
              </a:ext>
            </a:extLst>
          </p:cNvPr>
          <p:cNvCxnSpPr/>
          <p:nvPr/>
        </p:nvCxnSpPr>
        <p:spPr>
          <a:xfrm>
            <a:off x="812800" y="39370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1EFC705-9680-E944-9483-E6A38C7DC9CA}"/>
              </a:ext>
            </a:extLst>
          </p:cNvPr>
          <p:cNvSpPr txBox="1"/>
          <p:nvPr/>
        </p:nvSpPr>
        <p:spPr>
          <a:xfrm>
            <a:off x="1168400" y="3784599"/>
            <a:ext cx="4978400" cy="469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100 epochs  |  32768 teacher samples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A74A6AE-EE1F-C8B7-B424-D86AFB9F4812}"/>
              </a:ext>
            </a:extLst>
          </p:cNvPr>
          <p:cNvCxnSpPr/>
          <p:nvPr/>
        </p:nvCxnSpPr>
        <p:spPr>
          <a:xfrm>
            <a:off x="812800" y="44450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CCA293D-D32E-BBEF-B939-B97C0DEB1899}"/>
              </a:ext>
            </a:extLst>
          </p:cNvPr>
          <p:cNvSpPr txBox="1"/>
          <p:nvPr/>
        </p:nvSpPr>
        <p:spPr>
          <a:xfrm>
            <a:off x="1168400" y="4292599"/>
            <a:ext cx="4978400" cy="469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1600 initialization optimizer updates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A9D253F-106A-3DEB-ADA1-78F71FC37A25}"/>
              </a:ext>
            </a:extLst>
          </p:cNvPr>
          <p:cNvCxnSpPr/>
          <p:nvPr/>
        </p:nvCxnSpPr>
        <p:spPr>
          <a:xfrm>
            <a:off x="812800" y="49530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E2B45FF-D1FD-760F-7C38-288526606DEB}"/>
              </a:ext>
            </a:extLst>
          </p:cNvPr>
          <p:cNvSpPr txBox="1"/>
          <p:nvPr/>
        </p:nvSpPr>
        <p:spPr>
          <a:xfrm>
            <a:off x="1168400" y="4800599"/>
            <a:ext cx="4978400" cy="469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600 PPO iterations  |  153600 episodes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8316F4B-A7C4-F678-0102-89ED524E0A17}"/>
              </a:ext>
            </a:extLst>
          </p:cNvPr>
          <p:cNvCxnSpPr/>
          <p:nvPr/>
        </p:nvCxnSpPr>
        <p:spPr>
          <a:xfrm>
            <a:off x="812800" y="54610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DD4B520-8688-B17A-B304-72A57C9A0E4F}"/>
              </a:ext>
            </a:extLst>
          </p:cNvPr>
          <p:cNvSpPr txBox="1"/>
          <p:nvPr/>
        </p:nvSpPr>
        <p:spPr>
          <a:xfrm>
            <a:off x="1168400" y="5308599"/>
            <a:ext cx="4978400" cy="469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3686400 transitions  |  learning rate 0.0001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6AAC59-1F82-E575-EFD7-F2036F684CCB}"/>
              </a:ext>
            </a:extLst>
          </p:cNvPr>
          <p:cNvSpPr txBox="1"/>
          <p:nvPr/>
        </p:nvSpPr>
        <p:spPr>
          <a:xfrm>
            <a:off x="6807200" y="3276599"/>
            <a:ext cx="4445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0B957"/>
                </a:solidFill>
                <a:latin typeface="Aptos" panose="020B0004020202020204" pitchFamily="34" charset="0"/>
              </a:rPr>
              <a:t>Training-objective score (diagnostic)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1A0AAD3-C533-0A1D-8926-1F76505012EB}"/>
              </a:ext>
            </a:extLst>
          </p:cNvPr>
          <p:cNvSpPr txBox="1"/>
          <p:nvPr/>
        </p:nvSpPr>
        <p:spPr>
          <a:xfrm>
            <a:off x="6807200" y="3835399"/>
            <a:ext cx="21590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800" b="1">
                <a:solidFill>
                  <a:srgbClr val="3FC6AC"/>
                </a:solidFill>
                <a:latin typeface="Aptos" panose="020B0004020202020204" pitchFamily="34" charset="0"/>
              </a:rPr>
              <a:t>23.51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9A5C37-3AE7-4D22-F79C-E2D486222270}"/>
              </a:ext>
            </a:extLst>
          </p:cNvPr>
          <p:cNvSpPr txBox="1"/>
          <p:nvPr/>
        </p:nvSpPr>
        <p:spPr>
          <a:xfrm>
            <a:off x="6807200" y="4546599"/>
            <a:ext cx="2667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selected iteration 510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AFF8194-5983-3F57-17D7-56ADAA4F028D}"/>
              </a:ext>
            </a:extLst>
          </p:cNvPr>
          <p:cNvSpPr txBox="1"/>
          <p:nvPr/>
        </p:nvSpPr>
        <p:spPr>
          <a:xfrm>
            <a:off x="9499600" y="3835399"/>
            <a:ext cx="17780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800" b="1">
                <a:solidFill>
                  <a:srgbClr val="60727D"/>
                </a:solidFill>
                <a:latin typeface="Aptos" panose="020B0004020202020204" pitchFamily="34" charset="0"/>
              </a:rPr>
              <a:t>15.07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BDAED5-C07A-6BCA-79FD-3082D57CCC4B}"/>
              </a:ext>
            </a:extLst>
          </p:cNvPr>
          <p:cNvSpPr txBox="1"/>
          <p:nvPr/>
        </p:nvSpPr>
        <p:spPr>
          <a:xfrm>
            <a:off x="9499600" y="4546599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untrained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50C0F3F-2784-3C60-A792-B3D32809D0A3}"/>
              </a:ext>
            </a:extLst>
          </p:cNvPr>
          <p:cNvSpPr txBox="1"/>
          <p:nvPr/>
        </p:nvSpPr>
        <p:spPr>
          <a:xfrm>
            <a:off x="6807200" y="5130799"/>
            <a:ext cx="4445000" cy="863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Model selection used validation seeds; untouched evaluation seeds were not used for training or selection.</a:t>
            </a:r>
          </a:p>
        </p:txBody>
      </p:sp>
    </p:spTree>
    <p:extLst>
      <p:ext uri="{BB962C8B-B14F-4D97-AF65-F5344CB8AC3E}">
        <p14:creationId xmlns:p14="http://schemas.microsoft.com/office/powerpoint/2010/main" val="3746162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6695EC-7B0C-6D24-7F6E-41E78A96315D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89805B5-625F-A8AC-AE57-382B28A68D4A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8ACA4AD-5446-31E2-106C-EF0F8456DB78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294EB6-C858-0D44-CCE5-1C6A12F23258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1FB93D-30AF-3F58-537E-2F4A6FE7284C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F3F0E8"/>
                </a:solidFill>
                <a:latin typeface="Aptos" panose="020B0004020202020204" pitchFamily="34" charset="0"/>
              </a:rPr>
              <a:t>GPU-first simulation, PPO inference, and paired bootstrap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D03E2C2-C45C-F332-43BF-ABE3C50761A2}"/>
              </a:ext>
            </a:extLst>
          </p:cNvPr>
          <p:cNvCxnSpPr/>
          <p:nvPr/>
        </p:nvCxnSpPr>
        <p:spPr>
          <a:xfrm>
            <a:off x="2540000" y="3009900"/>
            <a:ext cx="20955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8528DA-8E25-1F3D-8415-E2012B5C168D}"/>
              </a:ext>
            </a:extLst>
          </p:cNvPr>
          <p:cNvCxnSpPr/>
          <p:nvPr/>
        </p:nvCxnSpPr>
        <p:spPr>
          <a:xfrm>
            <a:off x="6794500" y="3009900"/>
            <a:ext cx="20955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82E433D-AE80-281E-094C-130F5DFA1348}"/>
              </a:ext>
            </a:extLst>
          </p:cNvPr>
          <p:cNvSpPr/>
          <p:nvPr/>
        </p:nvSpPr>
        <p:spPr>
          <a:xfrm>
            <a:off x="889000" y="2184400"/>
            <a:ext cx="2413000" cy="16256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840D90-0E2E-740B-2E30-90B0047F040D}"/>
              </a:ext>
            </a:extLst>
          </p:cNvPr>
          <p:cNvSpPr txBox="1"/>
          <p:nvPr/>
        </p:nvSpPr>
        <p:spPr>
          <a:xfrm>
            <a:off x="1079500" y="2451099"/>
            <a:ext cx="2032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500" b="1">
                <a:solidFill>
                  <a:srgbClr val="F3F0E8"/>
                </a:solidFill>
                <a:latin typeface="Aptos" panose="020B0004020202020204" pitchFamily="34" charset="0"/>
              </a:rPr>
              <a:t>PyTorch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CDB6C9-FE33-A3D4-7634-60887C08B082}"/>
              </a:ext>
            </a:extLst>
          </p:cNvPr>
          <p:cNvSpPr txBox="1"/>
          <p:nvPr/>
        </p:nvSpPr>
        <p:spPr>
          <a:xfrm>
            <a:off x="1079500" y="2933699"/>
            <a:ext cx="20320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it-IT" sz="1600">
                <a:solidFill>
                  <a:srgbClr val="83939D"/>
                </a:solidFill>
                <a:latin typeface="Aptos" panose="020B0004020202020204" pitchFamily="34" charset="0"/>
              </a:rPr>
              <a:t>scenario tensors</a:t>
            </a:r>
          </a:p>
          <a:p>
            <a:pPr algn="ctr"/>
            <a:r>
              <a:rPr lang="it-IT" sz="1600">
                <a:solidFill>
                  <a:srgbClr val="83939D"/>
                </a:solidFill>
                <a:latin typeface="Aptos" panose="020B0004020202020204" pitchFamily="34" charset="0"/>
              </a:rPr>
              <a:t>simulation</a:t>
            </a:r>
          </a:p>
          <a:p>
            <a:pPr algn="ctr"/>
            <a:r>
              <a:rPr lang="it-IT" sz="1600">
                <a:solidFill>
                  <a:srgbClr val="83939D"/>
                </a:solidFill>
                <a:latin typeface="Aptos" panose="020B0004020202020204" pitchFamily="34" charset="0"/>
              </a:rPr>
              <a:t>PPO inference</a:t>
            </a:r>
            <a:endParaRPr lang="en-US" sz="1600">
              <a:solidFill>
                <a:srgbClr val="83939D"/>
              </a:solidFill>
              <a:latin typeface="Aptos" panose="020B000402020202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3A311FE-F43B-5B73-9DD0-5DA49FAFAC6A}"/>
              </a:ext>
            </a:extLst>
          </p:cNvPr>
          <p:cNvSpPr/>
          <p:nvPr/>
        </p:nvSpPr>
        <p:spPr>
          <a:xfrm>
            <a:off x="4889500" y="1968500"/>
            <a:ext cx="2108200" cy="2082800"/>
          </a:xfrm>
          <a:prstGeom prst="round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424430-FBF9-6917-1B96-B8B1A2EC9FF0}"/>
              </a:ext>
            </a:extLst>
          </p:cNvPr>
          <p:cNvSpPr txBox="1"/>
          <p:nvPr/>
        </p:nvSpPr>
        <p:spPr>
          <a:xfrm>
            <a:off x="5105400" y="2514599"/>
            <a:ext cx="1676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3100" b="1">
                <a:solidFill>
                  <a:srgbClr val="071923"/>
                </a:solidFill>
                <a:latin typeface="Aptos" panose="020B0004020202020204" pitchFamily="34" charset="0"/>
              </a:rPr>
              <a:t>cuda:0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3653AF-536A-164F-047A-543BD734A45F}"/>
              </a:ext>
            </a:extLst>
          </p:cNvPr>
          <p:cNvSpPr txBox="1"/>
          <p:nvPr/>
        </p:nvSpPr>
        <p:spPr>
          <a:xfrm>
            <a:off x="5092700" y="3187699"/>
            <a:ext cx="17018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071923"/>
                </a:solidFill>
                <a:latin typeface="Aptos" panose="020B0004020202020204" pitchFamily="34" charset="0"/>
              </a:rPr>
              <a:t>validated</a:t>
            </a:r>
          </a:p>
          <a:p>
            <a:pPr algn="ctr"/>
            <a:r>
              <a:rPr lang="en-US" sz="1600" b="1">
                <a:solidFill>
                  <a:srgbClr val="071923"/>
                </a:solidFill>
                <a:latin typeface="Aptos" panose="020B0004020202020204" pitchFamily="34" charset="0"/>
              </a:rPr>
              <a:t>NVIDIA GPU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27C63EC-2B50-309C-C719-4A8BFF2B6C98}"/>
              </a:ext>
            </a:extLst>
          </p:cNvPr>
          <p:cNvSpPr/>
          <p:nvPr/>
        </p:nvSpPr>
        <p:spPr>
          <a:xfrm>
            <a:off x="8763000" y="2184400"/>
            <a:ext cx="2540000" cy="16256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15394F-DD90-96DC-ECDA-B835B92C5ADA}"/>
              </a:ext>
            </a:extLst>
          </p:cNvPr>
          <p:cNvSpPr txBox="1"/>
          <p:nvPr/>
        </p:nvSpPr>
        <p:spPr>
          <a:xfrm>
            <a:off x="8991600" y="2451099"/>
            <a:ext cx="20828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500" b="1">
                <a:solidFill>
                  <a:srgbClr val="F3F0E8"/>
                </a:solidFill>
                <a:latin typeface="Aptos" panose="020B0004020202020204" pitchFamily="34" charset="0"/>
              </a:rPr>
              <a:t>CuPy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29B82A-9331-8782-2771-3ADFC07B5D0E}"/>
              </a:ext>
            </a:extLst>
          </p:cNvPr>
          <p:cNvSpPr txBox="1"/>
          <p:nvPr/>
        </p:nvSpPr>
        <p:spPr>
          <a:xfrm>
            <a:off x="8991600" y="2933699"/>
            <a:ext cx="20828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cluster bootstrap</a:t>
            </a:r>
          </a:p>
          <a:p>
            <a:pPr algn="ct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CUDA sort</a:t>
            </a:r>
          </a:p>
          <a:p>
            <a:pPr algn="ct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linear percentiles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F6C08AE-77C5-5CC7-218F-EE5445DD7885}"/>
              </a:ext>
            </a:extLst>
          </p:cNvPr>
          <p:cNvCxnSpPr/>
          <p:nvPr/>
        </p:nvCxnSpPr>
        <p:spPr>
          <a:xfrm>
            <a:off x="889000" y="47879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8152EF1-FA04-D8BF-A22A-1BF3C7668BD5}"/>
              </a:ext>
            </a:extLst>
          </p:cNvPr>
          <p:cNvSpPr txBox="1"/>
          <p:nvPr/>
        </p:nvSpPr>
        <p:spPr>
          <a:xfrm>
            <a:off x="1244600" y="4635499"/>
            <a:ext cx="10058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PyTorch 2.8 + CUDA 12.8  |  DLPack sharing with CuPy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E3C6ACD-06E0-861F-6164-2917B7FC9F56}"/>
              </a:ext>
            </a:extLst>
          </p:cNvPr>
          <p:cNvCxnSpPr/>
          <p:nvPr/>
        </p:nvCxnSpPr>
        <p:spPr>
          <a:xfrm>
            <a:off x="889000" y="52578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3D78172-7DA9-44F6-270B-BC0F614056F8}"/>
              </a:ext>
            </a:extLst>
          </p:cNvPr>
          <p:cNvSpPr txBox="1"/>
          <p:nvPr/>
        </p:nvSpPr>
        <p:spPr>
          <a:xfrm>
            <a:off x="1244600" y="5105399"/>
            <a:ext cx="10058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10,000 deterministic seed-stratified bootstrap replicates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773921B-863C-5B6C-360E-67A29673448F}"/>
              </a:ext>
            </a:extLst>
          </p:cNvPr>
          <p:cNvCxnSpPr/>
          <p:nvPr/>
        </p:nvCxnSpPr>
        <p:spPr>
          <a:xfrm>
            <a:off x="889000" y="57277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B49123B-FF6D-A50F-9EDE-ADF8E3318F87}"/>
              </a:ext>
            </a:extLst>
          </p:cNvPr>
          <p:cNvSpPr txBox="1"/>
          <p:nvPr/>
        </p:nvSpPr>
        <p:spPr>
          <a:xfrm>
            <a:off x="1244600" y="5575299"/>
            <a:ext cx="10058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One final host transfer assembles evidence; it is not a controller fallback</a:t>
            </a:r>
          </a:p>
        </p:txBody>
      </p:sp>
    </p:spTree>
    <p:extLst>
      <p:ext uri="{BB962C8B-B14F-4D97-AF65-F5344CB8AC3E}">
        <p14:creationId xmlns:p14="http://schemas.microsoft.com/office/powerpoint/2010/main" val="38991182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277CA1-CDF6-49B3-1B19-01B4638065F6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8CD11F4-A00D-1786-93BF-5E1D011165C6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0D60F89-8649-CCCC-B457-1ACF5DA639FE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26F0F2-0E27-9667-FAEA-0F06F6A3F673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5D561C-17A5-5B3C-9395-7F1544B46A93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The desktop replays one audited GPU scenario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C12CE96-A0EB-A04D-4E4A-36BA4E902C21}"/>
              </a:ext>
            </a:extLst>
          </p:cNvPr>
          <p:cNvSpPr/>
          <p:nvPr/>
        </p:nvSpPr>
        <p:spPr>
          <a:xfrm>
            <a:off x="787400" y="1600200"/>
            <a:ext cx="10617200" cy="4470400"/>
          </a:xfrm>
          <a:prstGeom prst="roundRect">
            <a:avLst/>
          </a:prstGeom>
          <a:solidFill>
            <a:srgbClr val="D7E0E4"/>
          </a:solidFill>
          <a:ln w="15240">
            <a:solidFill>
              <a:srgbClr val="36556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Live Scenario page showing one shared GPU scenario and locality detail">
            <a:extLst>
              <a:ext uri="{FF2B5EF4-FFF2-40B4-BE49-F238E27FC236}">
                <a16:creationId xmlns:a16="http://schemas.microsoft.com/office/drawing/2014/main" id="{ED3B97E2-D94F-81A8-A963-9C3830AD229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300" y="1689100"/>
            <a:ext cx="10439400" cy="42926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8D07558-7AEF-9999-A22E-9CC136A91770}"/>
              </a:ext>
            </a:extLst>
          </p:cNvPr>
          <p:cNvSpPr txBox="1"/>
          <p:nvPr/>
        </p:nvSpPr>
        <p:spPr>
          <a:xfrm>
            <a:off x="952500" y="6070599"/>
            <a:ext cx="10287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Frozen evidence stays separate from Live Scenario replay  |  forecast is DISPLAY ONLY</a:t>
            </a:r>
          </a:p>
        </p:txBody>
      </p:sp>
    </p:spTree>
    <p:extLst>
      <p:ext uri="{BB962C8B-B14F-4D97-AF65-F5344CB8AC3E}">
        <p14:creationId xmlns:p14="http://schemas.microsoft.com/office/powerpoint/2010/main" val="40163142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DDED42-CD0C-E331-D92C-1A1D0117CF93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518934E-1EC8-215A-FAF7-D1F40CD4D76F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7EDB43D-5E99-5C25-AC86-64CE5A43AF42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3C7B67-64B7-8CFB-B3C8-8649B909C8EB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7CF2BA-834A-6D3F-C999-D4D07F487E4D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Untouched confirmatory evidence reports three primary outcomes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7EEDD6-F742-838F-2843-56763A15E93D}"/>
              </a:ext>
            </a:extLst>
          </p:cNvPr>
          <p:cNvSpPr txBox="1"/>
          <p:nvPr/>
        </p:nvSpPr>
        <p:spPr>
          <a:xfrm>
            <a:off x="812800" y="1841499"/>
            <a:ext cx="28702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Outcome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76095A-E62E-D9BD-9BAE-5882855099BB}"/>
              </a:ext>
            </a:extLst>
          </p:cNvPr>
          <p:cNvSpPr txBox="1"/>
          <p:nvPr/>
        </p:nvSpPr>
        <p:spPr>
          <a:xfrm>
            <a:off x="3810000" y="1841499"/>
            <a:ext cx="16002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Fixed Rotation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F4791E-90D3-C3C8-04A1-D76493F211C5}"/>
              </a:ext>
            </a:extLst>
          </p:cNvPr>
          <p:cNvSpPr txBox="1"/>
          <p:nvPr/>
        </p:nvSpPr>
        <p:spPr>
          <a:xfrm>
            <a:off x="5511800" y="1841499"/>
            <a:ext cx="16002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PPO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C38105-88E4-4AC1-48D1-2725DD3D57B4}"/>
              </a:ext>
            </a:extLst>
          </p:cNvPr>
          <p:cNvSpPr txBox="1"/>
          <p:nvPr/>
        </p:nvSpPr>
        <p:spPr>
          <a:xfrm>
            <a:off x="7213600" y="1841499"/>
            <a:ext cx="14224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Delta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9C1B27-EAE6-E929-5866-1FAA5F4C3E23}"/>
              </a:ext>
            </a:extLst>
          </p:cNvPr>
          <p:cNvSpPr txBox="1"/>
          <p:nvPr/>
        </p:nvSpPr>
        <p:spPr>
          <a:xfrm>
            <a:off x="8737600" y="1841499"/>
            <a:ext cx="25908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Paired 95% interval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744C4B-57EC-AB27-7143-026DBF41C2BC}"/>
              </a:ext>
            </a:extLst>
          </p:cNvPr>
          <p:cNvSpPr/>
          <p:nvPr/>
        </p:nvSpPr>
        <p:spPr>
          <a:xfrm>
            <a:off x="685800" y="2235200"/>
            <a:ext cx="10820400" cy="647700"/>
          </a:xfrm>
          <a:prstGeom prst="rect">
            <a:avLst/>
          </a:prstGeom>
          <a:solidFill>
            <a:srgbClr val="E7EC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B9A6BC-0437-A33E-151C-65E15091CB71}"/>
              </a:ext>
            </a:extLst>
          </p:cNvPr>
          <p:cNvSpPr txBox="1"/>
          <p:nvPr/>
        </p:nvSpPr>
        <p:spPr>
          <a:xfrm>
            <a:off x="812800" y="2324099"/>
            <a:ext cx="287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Critical-outage locality-hours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9CB5A5-66A4-1623-DD61-A1CD5EE580C6}"/>
              </a:ext>
            </a:extLst>
          </p:cNvPr>
          <p:cNvSpPr txBox="1"/>
          <p:nvPr/>
        </p:nvSpPr>
        <p:spPr>
          <a:xfrm>
            <a:off x="3810000" y="2324099"/>
            <a:ext cx="160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60727D"/>
                </a:solidFill>
                <a:latin typeface="Aptos" panose="020B0004020202020204" pitchFamily="34" charset="0"/>
              </a:rPr>
              <a:t>102.1 locality-hours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DADC72-63EC-8D65-22A5-EA46076C73FD}"/>
              </a:ext>
            </a:extLst>
          </p:cNvPr>
          <p:cNvSpPr txBox="1"/>
          <p:nvPr/>
        </p:nvSpPr>
        <p:spPr>
          <a:xfrm>
            <a:off x="5511800" y="2324099"/>
            <a:ext cx="160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3FC6AC"/>
                </a:solidFill>
                <a:latin typeface="Aptos" panose="020B0004020202020204" pitchFamily="34" charset="0"/>
              </a:rPr>
              <a:t>20.2 locality-hours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3407F4-6DBA-95DE-FF40-F8E1EFA874AB}"/>
              </a:ext>
            </a:extLst>
          </p:cNvPr>
          <p:cNvSpPr txBox="1"/>
          <p:nvPr/>
        </p:nvSpPr>
        <p:spPr>
          <a:xfrm>
            <a:off x="7213600" y="2324099"/>
            <a:ext cx="1422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3FC6AC"/>
                </a:solidFill>
                <a:latin typeface="Aptos" panose="020B0004020202020204" pitchFamily="34" charset="0"/>
              </a:rPr>
              <a:t>-81.9 locality-hours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708C87-2682-2E6F-9C2B-9558DC9B7986}"/>
              </a:ext>
            </a:extLst>
          </p:cNvPr>
          <p:cNvSpPr txBox="1"/>
          <p:nvPr/>
        </p:nvSpPr>
        <p:spPr>
          <a:xfrm>
            <a:off x="8737600" y="2324099"/>
            <a:ext cx="25908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[-82.5, -81.2] locality-hours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3D6C50E-7BA3-7C2A-8BE7-97B32290FD86}"/>
              </a:ext>
            </a:extLst>
          </p:cNvPr>
          <p:cNvSpPr txBox="1"/>
          <p:nvPr/>
        </p:nvSpPr>
        <p:spPr>
          <a:xfrm>
            <a:off x="812800" y="3124199"/>
            <a:ext cx="287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Jain fairness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DF118E-FAE1-2CBC-AE62-9FC925EEDEF9}"/>
              </a:ext>
            </a:extLst>
          </p:cNvPr>
          <p:cNvSpPr txBox="1"/>
          <p:nvPr/>
        </p:nvSpPr>
        <p:spPr>
          <a:xfrm>
            <a:off x="3810000" y="3124199"/>
            <a:ext cx="160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60727D"/>
                </a:solidFill>
                <a:latin typeface="Aptos" panose="020B0004020202020204" pitchFamily="34" charset="0"/>
              </a:rPr>
              <a:t>87.76%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AFEDF0-DABD-BD70-F3DF-3F36533AF67C}"/>
              </a:ext>
            </a:extLst>
          </p:cNvPr>
          <p:cNvSpPr txBox="1"/>
          <p:nvPr/>
        </p:nvSpPr>
        <p:spPr>
          <a:xfrm>
            <a:off x="5511800" y="3124199"/>
            <a:ext cx="160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3FC6AC"/>
                </a:solidFill>
                <a:latin typeface="Aptos" panose="020B0004020202020204" pitchFamily="34" charset="0"/>
              </a:rPr>
              <a:t>96.91%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CBCC48-9609-C8A2-8103-AC03C4475CEF}"/>
              </a:ext>
            </a:extLst>
          </p:cNvPr>
          <p:cNvSpPr txBox="1"/>
          <p:nvPr/>
        </p:nvSpPr>
        <p:spPr>
          <a:xfrm>
            <a:off x="7213600" y="3124199"/>
            <a:ext cx="1422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3FC6AC"/>
                </a:solidFill>
                <a:latin typeface="Aptos" panose="020B0004020202020204" pitchFamily="34" charset="0"/>
              </a:rPr>
              <a:t>+9.15 pp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A566FD-12B5-71A3-2032-D5A0CC31EDBD}"/>
              </a:ext>
            </a:extLst>
          </p:cNvPr>
          <p:cNvSpPr txBox="1"/>
          <p:nvPr/>
        </p:nvSpPr>
        <p:spPr>
          <a:xfrm>
            <a:off x="8737600" y="3124199"/>
            <a:ext cx="25908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[9.11, 9.19] pp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D63A210-6451-2A57-410A-F9F188119869}"/>
              </a:ext>
            </a:extLst>
          </p:cNvPr>
          <p:cNvSpPr/>
          <p:nvPr/>
        </p:nvSpPr>
        <p:spPr>
          <a:xfrm>
            <a:off x="685800" y="3835400"/>
            <a:ext cx="10820400" cy="647700"/>
          </a:xfrm>
          <a:prstGeom prst="rect">
            <a:avLst/>
          </a:prstGeom>
          <a:solidFill>
            <a:srgbClr val="E7EC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66E5C8D-58B8-8C10-ED87-1D64F4731415}"/>
              </a:ext>
            </a:extLst>
          </p:cNvPr>
          <p:cNvSpPr txBox="1"/>
          <p:nvPr/>
        </p:nvSpPr>
        <p:spPr>
          <a:xfrm>
            <a:off x="812800" y="3924299"/>
            <a:ext cx="287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Utilization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889C8D-1F44-FB0E-0D27-7201D8B9D0D8}"/>
              </a:ext>
            </a:extLst>
          </p:cNvPr>
          <p:cNvSpPr txBox="1"/>
          <p:nvPr/>
        </p:nvSpPr>
        <p:spPr>
          <a:xfrm>
            <a:off x="3810000" y="3924299"/>
            <a:ext cx="160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60727D"/>
                </a:solidFill>
                <a:latin typeface="Aptos" panose="020B0004020202020204" pitchFamily="34" charset="0"/>
              </a:rPr>
              <a:t>71.21%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9B5DB9-D6B2-8EF3-6B15-E4242B7FA583}"/>
              </a:ext>
            </a:extLst>
          </p:cNvPr>
          <p:cNvSpPr txBox="1"/>
          <p:nvPr/>
        </p:nvSpPr>
        <p:spPr>
          <a:xfrm>
            <a:off x="5511800" y="3924299"/>
            <a:ext cx="160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3FC6AC"/>
                </a:solidFill>
                <a:latin typeface="Aptos" panose="020B0004020202020204" pitchFamily="34" charset="0"/>
              </a:rPr>
              <a:t>97.61%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06A9C11-C6E5-9B45-E045-D62F392B55D1}"/>
              </a:ext>
            </a:extLst>
          </p:cNvPr>
          <p:cNvSpPr txBox="1"/>
          <p:nvPr/>
        </p:nvSpPr>
        <p:spPr>
          <a:xfrm>
            <a:off x="7213600" y="3924299"/>
            <a:ext cx="1422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3FC6AC"/>
                </a:solidFill>
                <a:latin typeface="Aptos" panose="020B0004020202020204" pitchFamily="34" charset="0"/>
              </a:rPr>
              <a:t>+26.39 pp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1EAFF7-D358-E5CE-034B-278ABC012876}"/>
              </a:ext>
            </a:extLst>
          </p:cNvPr>
          <p:cNvSpPr txBox="1"/>
          <p:nvPr/>
        </p:nvSpPr>
        <p:spPr>
          <a:xfrm>
            <a:off x="8737600" y="3924299"/>
            <a:ext cx="25908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[26.34, 26.45] pp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7384D49-E00B-A300-8168-4896AD35A307}"/>
              </a:ext>
            </a:extLst>
          </p:cNvPr>
          <p:cNvCxnSpPr/>
          <p:nvPr/>
        </p:nvCxnSpPr>
        <p:spPr>
          <a:xfrm>
            <a:off x="787400" y="4787900"/>
            <a:ext cx="10617200" cy="0"/>
          </a:xfrm>
          <a:prstGeom prst="line">
            <a:avLst/>
          </a:prstGeom>
          <a:ln w="1270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20D21C7-9D3B-6CC2-9715-C4793B7E2360}"/>
              </a:ext>
            </a:extLst>
          </p:cNvPr>
          <p:cNvSpPr txBox="1"/>
          <p:nvPr/>
        </p:nvSpPr>
        <p:spPr>
          <a:xfrm>
            <a:off x="812800" y="5041899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Safety check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3AED694-448A-C02D-2876-61E3344C3458}"/>
              </a:ext>
            </a:extLst>
          </p:cNvPr>
          <p:cNvSpPr txBox="1"/>
          <p:nvPr/>
        </p:nvSpPr>
        <p:spPr>
          <a:xfrm>
            <a:off x="2794000" y="5041899"/>
            <a:ext cx="685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3FC6AC"/>
                </a:solidFill>
                <a:latin typeface="Aptos" panose="020B0004020202020204" pitchFamily="34" charset="0"/>
              </a:rPr>
              <a:t>0.00% power-balance violation rate in both controllers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6527452-292D-2750-00B5-728F6BE6A874}"/>
              </a:ext>
            </a:extLst>
          </p:cNvPr>
          <p:cNvSpPr/>
          <p:nvPr/>
        </p:nvSpPr>
        <p:spPr>
          <a:xfrm>
            <a:off x="812800" y="5626100"/>
            <a:ext cx="10515600" cy="482600"/>
          </a:xfrm>
          <a:prstGeom prst="roundRect">
            <a:avLst/>
          </a:prstGeom>
          <a:solidFill>
            <a:srgbClr val="E4F4F0"/>
          </a:solidFill>
          <a:ln w="15240">
            <a:solidFill>
              <a:srgbClr val="3FC6A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5AA916-F124-6DA9-848C-C8038A1C9355}"/>
              </a:ext>
            </a:extLst>
          </p:cNvPr>
          <p:cNvSpPr txBox="1"/>
          <p:nvPr/>
        </p:nvSpPr>
        <p:spPr>
          <a:xfrm>
            <a:off x="1016000" y="5740399"/>
            <a:ext cx="101092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Observed as-is  |  no favorable/adverse release gate</a:t>
            </a:r>
          </a:p>
        </p:txBody>
      </p:sp>
    </p:spTree>
    <p:extLst>
      <p:ext uri="{BB962C8B-B14F-4D97-AF65-F5344CB8AC3E}">
        <p14:creationId xmlns:p14="http://schemas.microsoft.com/office/powerpoint/2010/main" val="18976993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8F3181-5EBB-D33C-9B75-A26E7BB07763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D496658-BF9D-86BC-8CE8-198D866C07E0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9314FFF-A8BC-E0C3-05FD-9040226A3BCC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5ADFB3-3565-1C3D-3DD5-E22D8C1800A7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212B51-2195-08F4-5372-98958B81AAD7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F3F0E8"/>
                </a:solidFill>
                <a:latin typeface="Aptos" panose="020B0004020202020204" pitchFamily="34" charset="0"/>
              </a:rPr>
              <a:t>24 demand-allocation variants preserve PPO's direction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AFFF3D-2166-5364-2E1D-3E6F62E4550B}"/>
              </a:ext>
            </a:extLst>
          </p:cNvPr>
          <p:cNvSpPr txBox="1"/>
          <p:nvPr/>
        </p:nvSpPr>
        <p:spPr>
          <a:xfrm>
            <a:off x="812800" y="1841499"/>
            <a:ext cx="41910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900" b="1">
                <a:solidFill>
                  <a:srgbClr val="E0B957"/>
                </a:solidFill>
                <a:latin typeface="Aptos" panose="020B0004020202020204" pitchFamily="34" charset="0"/>
              </a:rPr>
              <a:t>25 parameterizations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C5D066-AADE-5136-6818-E3A96CCFAB39}"/>
              </a:ext>
            </a:extLst>
          </p:cNvPr>
          <p:cNvSpPr txBox="1"/>
          <p:nvPr/>
        </p:nvSpPr>
        <p:spPr>
          <a:xfrm>
            <a:off x="812800" y="2412999"/>
            <a:ext cx="4953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1 locked base + 24 one-at-a-time variants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38B5CAB-E698-5632-F51A-CF22C8D1CDF8}"/>
              </a:ext>
            </a:extLst>
          </p:cNvPr>
          <p:cNvSpPr/>
          <p:nvPr/>
        </p:nvSpPr>
        <p:spPr>
          <a:xfrm>
            <a:off x="812800" y="3124200"/>
            <a:ext cx="3124200" cy="16002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D0E7FB-2BCB-243E-CFF9-323623358920}"/>
              </a:ext>
            </a:extLst>
          </p:cNvPr>
          <p:cNvSpPr txBox="1"/>
          <p:nvPr/>
        </p:nvSpPr>
        <p:spPr>
          <a:xfrm>
            <a:off x="990600" y="3276599"/>
            <a:ext cx="27686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300" b="1">
                <a:solidFill>
                  <a:srgbClr val="F3F0E8"/>
                </a:solidFill>
                <a:latin typeface="Aptos" panose="020B0004020202020204" pitchFamily="34" charset="0"/>
              </a:rPr>
              <a:t>24/24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E4FBD4-C10B-42FA-0E0F-88F55D05B521}"/>
              </a:ext>
            </a:extLst>
          </p:cNvPr>
          <p:cNvSpPr txBox="1"/>
          <p:nvPr/>
        </p:nvSpPr>
        <p:spPr>
          <a:xfrm>
            <a:off x="990600" y="4089399"/>
            <a:ext cx="27686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F3F0E8"/>
                </a:solidFill>
                <a:latin typeface="Aptos" panose="020B0004020202020204" pitchFamily="34" charset="0"/>
              </a:rPr>
              <a:t>critical-outage locality-hours favorable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385B61B-6496-EF53-1111-734A56B0221C}"/>
              </a:ext>
            </a:extLst>
          </p:cNvPr>
          <p:cNvSpPr/>
          <p:nvPr/>
        </p:nvSpPr>
        <p:spPr>
          <a:xfrm>
            <a:off x="4533900" y="3124200"/>
            <a:ext cx="3124200" cy="16002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CAC142-01F1-9349-CD69-3AE7B3EA1F6C}"/>
              </a:ext>
            </a:extLst>
          </p:cNvPr>
          <p:cNvSpPr txBox="1"/>
          <p:nvPr/>
        </p:nvSpPr>
        <p:spPr>
          <a:xfrm>
            <a:off x="4711700" y="3276599"/>
            <a:ext cx="27686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300" b="1">
                <a:solidFill>
                  <a:srgbClr val="F3F0E8"/>
                </a:solidFill>
                <a:latin typeface="Aptos" panose="020B0004020202020204" pitchFamily="34" charset="0"/>
              </a:rPr>
              <a:t>24/24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4B4391-741A-60DC-C5FC-B2E3A41C9894}"/>
              </a:ext>
            </a:extLst>
          </p:cNvPr>
          <p:cNvSpPr txBox="1"/>
          <p:nvPr/>
        </p:nvSpPr>
        <p:spPr>
          <a:xfrm>
            <a:off x="4711700" y="4089399"/>
            <a:ext cx="27686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F3F0E8"/>
                </a:solidFill>
                <a:latin typeface="Aptos" panose="020B0004020202020204" pitchFamily="34" charset="0"/>
              </a:rPr>
              <a:t>Jain fairness favorable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0716882-5EA1-6CAF-A151-6C5E29A9DE6D}"/>
              </a:ext>
            </a:extLst>
          </p:cNvPr>
          <p:cNvSpPr/>
          <p:nvPr/>
        </p:nvSpPr>
        <p:spPr>
          <a:xfrm>
            <a:off x="8255000" y="3124200"/>
            <a:ext cx="3124200" cy="16002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45899C-F9B3-F9DB-03B6-8DAC0853C22D}"/>
              </a:ext>
            </a:extLst>
          </p:cNvPr>
          <p:cNvSpPr txBox="1"/>
          <p:nvPr/>
        </p:nvSpPr>
        <p:spPr>
          <a:xfrm>
            <a:off x="8432800" y="3276599"/>
            <a:ext cx="27686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300" b="1">
                <a:solidFill>
                  <a:srgbClr val="F3F0E8"/>
                </a:solidFill>
                <a:latin typeface="Aptos" panose="020B0004020202020204" pitchFamily="34" charset="0"/>
              </a:rPr>
              <a:t>24/24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A596C4-C1AA-7F05-4275-C14349F97915}"/>
              </a:ext>
            </a:extLst>
          </p:cNvPr>
          <p:cNvSpPr txBox="1"/>
          <p:nvPr/>
        </p:nvSpPr>
        <p:spPr>
          <a:xfrm>
            <a:off x="8432800" y="4089399"/>
            <a:ext cx="27686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F3F0E8"/>
                </a:solidFill>
                <a:latin typeface="Aptos" panose="020B0004020202020204" pitchFamily="34" charset="0"/>
              </a:rPr>
              <a:t>utilization favorable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630367-D8D7-8BAE-019D-269C81621603}"/>
              </a:ext>
            </a:extLst>
          </p:cNvPr>
          <p:cNvSpPr txBox="1"/>
          <p:nvPr/>
        </p:nvSpPr>
        <p:spPr>
          <a:xfrm>
            <a:off x="812800" y="5079999"/>
            <a:ext cx="3302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3FC6AC"/>
                </a:solidFill>
                <a:latin typeface="Aptos" panose="020B0004020202020204" pitchFamily="34" charset="0"/>
              </a:rPr>
              <a:t>Effect-size shift versus base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5C5114-BB7F-064D-56D5-1594E09EAE11}"/>
              </a:ext>
            </a:extLst>
          </p:cNvPr>
          <p:cNvSpPr txBox="1"/>
          <p:nvPr/>
        </p:nvSpPr>
        <p:spPr>
          <a:xfrm>
            <a:off x="4191000" y="5079999"/>
            <a:ext cx="7112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1700" b="1">
                <a:solidFill>
                  <a:srgbClr val="F3F0E8"/>
                </a:solidFill>
                <a:latin typeface="Aptos" panose="020B0004020202020204" pitchFamily="34" charset="0"/>
              </a:rPr>
              <a:t>Outage: 19 adverse  |  3 favorable  |  2 ambiguous</a:t>
            </a:r>
            <a:endParaRPr lang="en-US" sz="1700" b="1">
              <a:solidFill>
                <a:srgbClr val="F3F0E8"/>
              </a:solidFill>
              <a:latin typeface="Aptos" panose="020B00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33EDC8-8434-4F4D-8850-EA8CDB847605}"/>
              </a:ext>
            </a:extLst>
          </p:cNvPr>
          <p:cNvSpPr txBox="1"/>
          <p:nvPr/>
        </p:nvSpPr>
        <p:spPr>
          <a:xfrm>
            <a:off x="812800" y="5664199"/>
            <a:ext cx="104902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83939D"/>
                </a:solidFill>
                <a:latin typeface="Aptos" panose="020B0004020202020204" pitchFamily="34" charset="0"/>
              </a:rPr>
              <a:t>Direction persists, but effect size is not invariant. Classifications are evidence, not a release gate.</a:t>
            </a:r>
          </a:p>
        </p:txBody>
      </p:sp>
    </p:spTree>
    <p:extLst>
      <p:ext uri="{BB962C8B-B14F-4D97-AF65-F5344CB8AC3E}">
        <p14:creationId xmlns:p14="http://schemas.microsoft.com/office/powerpoint/2010/main" val="26682301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FE5F8F-504E-0DF4-DD8F-F41A11FF1521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0F27F6D-1415-CDEF-EB98-7903362834B2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8B6B61-7DE0-8D8F-F58F-B5A76579C188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E7715C-32B9-1FA9-58FF-E8AC46A3BFF6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88AA77-616C-B348-8996-34494E30BB20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One-hour persistence outperformed the three-hour trailing mean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46DC1-DB5E-A686-D081-DCA143135CAF}"/>
              </a:ext>
            </a:extLst>
          </p:cNvPr>
          <p:cNvSpPr txBox="1"/>
          <p:nvPr/>
        </p:nvSpPr>
        <p:spPr>
          <a:xfrm>
            <a:off x="812800" y="1828799"/>
            <a:ext cx="36195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Pooled error metric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5F01ED-2E01-4073-9629-42911EDE7528}"/>
              </a:ext>
            </a:extLst>
          </p:cNvPr>
          <p:cNvSpPr txBox="1"/>
          <p:nvPr/>
        </p:nvSpPr>
        <p:spPr>
          <a:xfrm>
            <a:off x="5003800" y="1828799"/>
            <a:ext cx="2794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One-hour persistence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B0C787-B5B8-C3A3-3CED-E96D49467ABF}"/>
              </a:ext>
            </a:extLst>
          </p:cNvPr>
          <p:cNvSpPr txBox="1"/>
          <p:nvPr/>
        </p:nvSpPr>
        <p:spPr>
          <a:xfrm>
            <a:off x="8318500" y="1828799"/>
            <a:ext cx="29845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Three-hour trailing mean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CEA29C-FBB2-7A8F-F615-95772E64E3BD}"/>
              </a:ext>
            </a:extLst>
          </p:cNvPr>
          <p:cNvSpPr/>
          <p:nvPr/>
        </p:nvSpPr>
        <p:spPr>
          <a:xfrm>
            <a:off x="685800" y="2247900"/>
            <a:ext cx="10820400" cy="558800"/>
          </a:xfrm>
          <a:prstGeom prst="rect">
            <a:avLst/>
          </a:prstGeom>
          <a:solidFill>
            <a:srgbClr val="E7EC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D5F01E-C9CE-9215-11DF-04C58B8B406A}"/>
              </a:ext>
            </a:extLst>
          </p:cNvPr>
          <p:cNvSpPr txBox="1"/>
          <p:nvPr/>
        </p:nvSpPr>
        <p:spPr>
          <a:xfrm>
            <a:off x="812800" y="2336799"/>
            <a:ext cx="36195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3232E"/>
                </a:solidFill>
                <a:latin typeface="Aptos" panose="020B0004020202020204" pitchFamily="34" charset="0"/>
              </a:rPr>
              <a:t>Locality-sector MAE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27C317-DDF9-FBA9-6DD3-90D653757D3C}"/>
              </a:ext>
            </a:extLst>
          </p:cNvPr>
          <p:cNvSpPr txBox="1"/>
          <p:nvPr/>
        </p:nvSpPr>
        <p:spPr>
          <a:xfrm>
            <a:off x="5003800" y="23367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3FC6AC"/>
                </a:solidFill>
                <a:latin typeface="Aptos" panose="020B0004020202020204" pitchFamily="34" charset="0"/>
              </a:rPr>
              <a:t>1.35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859033-341C-D96B-7B78-CF037C0CF73B}"/>
              </a:ext>
            </a:extLst>
          </p:cNvPr>
          <p:cNvSpPr txBox="1"/>
          <p:nvPr/>
        </p:nvSpPr>
        <p:spPr>
          <a:xfrm>
            <a:off x="8318500" y="23367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60727D"/>
                </a:solidFill>
                <a:latin typeface="Aptos" panose="020B0004020202020204" pitchFamily="34" charset="0"/>
              </a:rPr>
              <a:t>2.34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598A18-8958-7B13-DA30-B0AFB8E89C24}"/>
              </a:ext>
            </a:extLst>
          </p:cNvPr>
          <p:cNvSpPr txBox="1"/>
          <p:nvPr/>
        </p:nvSpPr>
        <p:spPr>
          <a:xfrm>
            <a:off x="812800" y="3022599"/>
            <a:ext cx="36195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3232E"/>
                </a:solidFill>
                <a:latin typeface="Aptos" panose="020B0004020202020204" pitchFamily="34" charset="0"/>
              </a:rPr>
              <a:t>Locality-sector RMSE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FCF4C0-E224-D2C3-9612-E4E596F361E3}"/>
              </a:ext>
            </a:extLst>
          </p:cNvPr>
          <p:cNvSpPr txBox="1"/>
          <p:nvPr/>
        </p:nvSpPr>
        <p:spPr>
          <a:xfrm>
            <a:off x="5003800" y="30225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3FC6AC"/>
                </a:solidFill>
                <a:latin typeface="Aptos" panose="020B0004020202020204" pitchFamily="34" charset="0"/>
              </a:rPr>
              <a:t>2.18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46D2A1-79AF-BF9F-7654-163027475DF4}"/>
              </a:ext>
            </a:extLst>
          </p:cNvPr>
          <p:cNvSpPr txBox="1"/>
          <p:nvPr/>
        </p:nvSpPr>
        <p:spPr>
          <a:xfrm>
            <a:off x="8318500" y="30225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60727D"/>
                </a:solidFill>
                <a:latin typeface="Aptos" panose="020B0004020202020204" pitchFamily="34" charset="0"/>
              </a:rPr>
              <a:t>3.74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8F2F3C2-FB58-359C-BF98-049BC50B479D}"/>
              </a:ext>
            </a:extLst>
          </p:cNvPr>
          <p:cNvSpPr/>
          <p:nvPr/>
        </p:nvSpPr>
        <p:spPr>
          <a:xfrm>
            <a:off x="685800" y="3619500"/>
            <a:ext cx="10820400" cy="558800"/>
          </a:xfrm>
          <a:prstGeom prst="rect">
            <a:avLst/>
          </a:prstGeom>
          <a:solidFill>
            <a:srgbClr val="E7EC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B20756E-CB5C-D941-2B84-7202282DD38E}"/>
              </a:ext>
            </a:extLst>
          </p:cNvPr>
          <p:cNvSpPr txBox="1"/>
          <p:nvPr/>
        </p:nvSpPr>
        <p:spPr>
          <a:xfrm>
            <a:off x="812800" y="3708399"/>
            <a:ext cx="36195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3232E"/>
                </a:solidFill>
                <a:latin typeface="Aptos" panose="020B0004020202020204" pitchFamily="34" charset="0"/>
              </a:rPr>
              <a:t>System-total MAE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37058C-6A2A-ECF1-D4F2-177D120D92AF}"/>
              </a:ext>
            </a:extLst>
          </p:cNvPr>
          <p:cNvSpPr txBox="1"/>
          <p:nvPr/>
        </p:nvSpPr>
        <p:spPr>
          <a:xfrm>
            <a:off x="5003800" y="37083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3FC6AC"/>
                </a:solidFill>
                <a:latin typeface="Aptos" panose="020B0004020202020204" pitchFamily="34" charset="0"/>
              </a:rPr>
              <a:t>24.38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CB57E4-3D56-F91B-5DC3-322964C0B061}"/>
              </a:ext>
            </a:extLst>
          </p:cNvPr>
          <p:cNvSpPr txBox="1"/>
          <p:nvPr/>
        </p:nvSpPr>
        <p:spPr>
          <a:xfrm>
            <a:off x="8318500" y="37083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60727D"/>
                </a:solidFill>
                <a:latin typeface="Aptos" panose="020B0004020202020204" pitchFamily="34" charset="0"/>
              </a:rPr>
              <a:t>42.72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B983A3-4FBA-D613-A96A-67FE2A154595}"/>
              </a:ext>
            </a:extLst>
          </p:cNvPr>
          <p:cNvSpPr txBox="1"/>
          <p:nvPr/>
        </p:nvSpPr>
        <p:spPr>
          <a:xfrm>
            <a:off x="812800" y="4394199"/>
            <a:ext cx="36195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3232E"/>
                </a:solidFill>
                <a:latin typeface="Aptos" panose="020B0004020202020204" pitchFamily="34" charset="0"/>
              </a:rPr>
              <a:t>System-total RMSE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E88895C-3BE4-E7B9-5B17-80CF6D88C8D6}"/>
              </a:ext>
            </a:extLst>
          </p:cNvPr>
          <p:cNvSpPr txBox="1"/>
          <p:nvPr/>
        </p:nvSpPr>
        <p:spPr>
          <a:xfrm>
            <a:off x="5003800" y="43941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3FC6AC"/>
                </a:solidFill>
                <a:latin typeface="Aptos" panose="020B0004020202020204" pitchFamily="34" charset="0"/>
              </a:rPr>
              <a:t>28.58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BD55551-EB2F-1DE4-56B7-2F0C85FA8C97}"/>
              </a:ext>
            </a:extLst>
          </p:cNvPr>
          <p:cNvSpPr txBox="1"/>
          <p:nvPr/>
        </p:nvSpPr>
        <p:spPr>
          <a:xfrm>
            <a:off x="8318500" y="43941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60727D"/>
                </a:solidFill>
                <a:latin typeface="Aptos" panose="020B0004020202020204" pitchFamily="34" charset="0"/>
              </a:rPr>
              <a:t>49.97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A3F35B2-D69B-4CB1-0C88-5AEC2ACF6615}"/>
              </a:ext>
            </a:extLst>
          </p:cNvPr>
          <p:cNvSpPr/>
          <p:nvPr/>
        </p:nvSpPr>
        <p:spPr>
          <a:xfrm>
            <a:off x="812800" y="5308600"/>
            <a:ext cx="10515600" cy="787400"/>
          </a:xfrm>
          <a:prstGeom prst="roundRect">
            <a:avLst/>
          </a:prstGeom>
          <a:solidFill>
            <a:srgbClr val="E4F4F0"/>
          </a:solidFill>
          <a:ln w="15240">
            <a:solidFill>
              <a:srgbClr val="3FC6A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A6CF7A6-DB80-4794-7473-E12CE71405F3}"/>
              </a:ext>
            </a:extLst>
          </p:cNvPr>
          <p:cNvSpPr txBox="1"/>
          <p:nvPr/>
        </p:nvSpPr>
        <p:spPr>
          <a:xfrm>
            <a:off x="1041400" y="5473700"/>
            <a:ext cx="100584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13232E"/>
                </a:solidFill>
                <a:latin typeface="Aptos" panose="020B0004020202020204" pitchFamily="34" charset="0"/>
              </a:rPr>
              <a:t>320 traces  |  21 target hours  |  235200 locality-sector predictions  |  6720 system totals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5D4762-5731-366A-0A00-E05683123526}"/>
              </a:ext>
            </a:extLst>
          </p:cNvPr>
          <p:cNvSpPr txBox="1"/>
          <p:nvPr/>
        </p:nvSpPr>
        <p:spPr>
          <a:xfrm>
            <a:off x="1041400" y="5778500"/>
            <a:ext cx="100584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Synthetic display-only comparison; no operational calibration claim</a:t>
            </a:r>
          </a:p>
        </p:txBody>
      </p:sp>
    </p:spTree>
    <p:extLst>
      <p:ext uri="{BB962C8B-B14F-4D97-AF65-F5344CB8AC3E}">
        <p14:creationId xmlns:p14="http://schemas.microsoft.com/office/powerpoint/2010/main" val="13252959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55BEDB-7996-B0F5-F64F-8865D82DEFCA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E9AA5CA-7EDD-4338-022B-F61D2425175D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7034578-A073-4A06-4D8B-03472E921575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11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C68BC9-FD57-B55B-0E33-4A75111BEC2C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EE45E1-764C-D0CD-C1ED-E9F0D30E1AA4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F3F0E8"/>
                </a:solidFill>
                <a:latin typeface="Aptos" panose="020B0004020202020204" pitchFamily="34" charset="0"/>
              </a:rPr>
              <a:t>The accepted reproduction preserves history, not independence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D1E565-3FFF-B220-E643-717695F5E888}"/>
              </a:ext>
            </a:extLst>
          </p:cNvPr>
          <p:cNvSpPr txBox="1"/>
          <p:nvPr/>
        </p:nvSpPr>
        <p:spPr>
          <a:xfrm>
            <a:off x="812800" y="1841499"/>
            <a:ext cx="457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300" b="1">
                <a:solidFill>
                  <a:srgbClr val="3FC6AC"/>
                </a:solidFill>
                <a:latin typeface="Aptos" panose="020B0004020202020204" pitchFamily="34" charset="0"/>
              </a:rPr>
              <a:t>Accepted reproduction context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8FF2C9A-022D-F6DD-BABE-FFB5FA159396}"/>
              </a:ext>
            </a:extLst>
          </p:cNvPr>
          <p:cNvCxnSpPr/>
          <p:nvPr/>
        </p:nvCxnSpPr>
        <p:spPr>
          <a:xfrm>
            <a:off x="812800" y="25654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20082A6-E5BB-D1B0-9B4E-1CD05BCC9085}"/>
              </a:ext>
            </a:extLst>
          </p:cNvPr>
          <p:cNvSpPr txBox="1"/>
          <p:nvPr/>
        </p:nvSpPr>
        <p:spPr>
          <a:xfrm>
            <a:off x="1168400" y="2412999"/>
            <a:ext cx="4851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Seeds 50001-50003  |  96 base draws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A42701D-662E-DC98-2558-2341C40FE5D0}"/>
              </a:ext>
            </a:extLst>
          </p:cNvPr>
          <p:cNvCxnSpPr/>
          <p:nvPr/>
        </p:nvCxnSpPr>
        <p:spPr>
          <a:xfrm>
            <a:off x="812800" y="31623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0AE123C-9407-499B-F90A-167FD83E9A01}"/>
              </a:ext>
            </a:extLst>
          </p:cNvPr>
          <p:cNvSpPr txBox="1"/>
          <p:nvPr/>
        </p:nvSpPr>
        <p:spPr>
          <a:xfrm>
            <a:off x="1168400" y="3009899"/>
            <a:ext cx="4851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288 matched conditions  |  576 evaluations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95715B-D1CB-4EA8-052A-8FD456F310F2}"/>
              </a:ext>
            </a:extLst>
          </p:cNvPr>
          <p:cNvCxnSpPr/>
          <p:nvPr/>
        </p:nvCxnSpPr>
        <p:spPr>
          <a:xfrm>
            <a:off x="812800" y="37592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26FCD29-FFED-02B3-CA80-3FFFFBB17979}"/>
              </a:ext>
            </a:extLst>
          </p:cNvPr>
          <p:cNvSpPr txBox="1"/>
          <p:nvPr/>
        </p:nvSpPr>
        <p:spPr>
          <a:xfrm>
            <a:off x="1168400" y="3606799"/>
            <a:ext cx="4851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Reproduced from the frozen PPO checkpoint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6A6B9C4-2495-D906-A40E-634F4E31C6E1}"/>
              </a:ext>
            </a:extLst>
          </p:cNvPr>
          <p:cNvCxnSpPr/>
          <p:nvPr/>
        </p:nvCxnSpPr>
        <p:spPr>
          <a:xfrm>
            <a:off x="812800" y="43561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DF21A86-1333-D4D4-0F43-509E35D7163E}"/>
              </a:ext>
            </a:extLst>
          </p:cNvPr>
          <p:cNvSpPr txBox="1"/>
          <p:nvPr/>
        </p:nvSpPr>
        <p:spPr>
          <a:xfrm>
            <a:off x="1168400" y="4203699"/>
            <a:ext cx="4851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Not untouched: promotion and acceptance used this layer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A36A594-9F10-8DDE-9670-C8F2A3DD491C}"/>
              </a:ext>
            </a:extLst>
          </p:cNvPr>
          <p:cNvCxnSpPr/>
          <p:nvPr/>
        </p:nvCxnSpPr>
        <p:spPr>
          <a:xfrm>
            <a:off x="6350000" y="1803400"/>
            <a:ext cx="0" cy="4000500"/>
          </a:xfrm>
          <a:prstGeom prst="line">
            <a:avLst/>
          </a:prstGeom>
          <a:ln w="1270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9ADFD38-2AF0-D89E-6C42-AB18C684BB4F}"/>
              </a:ext>
            </a:extLst>
          </p:cNvPr>
          <p:cNvSpPr txBox="1"/>
          <p:nvPr/>
        </p:nvSpPr>
        <p:spPr>
          <a:xfrm>
            <a:off x="6832600" y="1841499"/>
            <a:ext cx="43815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200" b="1">
                <a:solidFill>
                  <a:srgbClr val="E0B957"/>
                </a:solidFill>
                <a:latin typeface="Aptos" panose="020B0004020202020204" pitchFamily="34" charset="0"/>
              </a:rPr>
              <a:t>Accepted three-primary context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20C4B4-53A6-9A80-1F2F-E5157313BDC6}"/>
              </a:ext>
            </a:extLst>
          </p:cNvPr>
          <p:cNvSpPr txBox="1"/>
          <p:nvPr/>
        </p:nvSpPr>
        <p:spPr>
          <a:xfrm>
            <a:off x="6832600" y="2527299"/>
            <a:ext cx="22225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Critical outage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9CDEE3-C8D9-7925-0A6E-B3316A5247A0}"/>
              </a:ext>
            </a:extLst>
          </p:cNvPr>
          <p:cNvSpPr txBox="1"/>
          <p:nvPr/>
        </p:nvSpPr>
        <p:spPr>
          <a:xfrm>
            <a:off x="6832600" y="2857499"/>
            <a:ext cx="4191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F3F0E8"/>
                </a:solidFill>
                <a:latin typeface="Aptos" panose="020B0004020202020204" pitchFamily="34" charset="0"/>
              </a:rPr>
              <a:t>102.1 -&gt; 18.7 locality-hours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6912F4-381E-DD37-D0BD-D61B36460A92}"/>
              </a:ext>
            </a:extLst>
          </p:cNvPr>
          <p:cNvSpPr txBox="1"/>
          <p:nvPr/>
        </p:nvSpPr>
        <p:spPr>
          <a:xfrm>
            <a:off x="6832600" y="3467099"/>
            <a:ext cx="22225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Jain fairness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5D330B-9809-6BA0-DA4C-1F32ADCC417A}"/>
              </a:ext>
            </a:extLst>
          </p:cNvPr>
          <p:cNvSpPr txBox="1"/>
          <p:nvPr/>
        </p:nvSpPr>
        <p:spPr>
          <a:xfrm>
            <a:off x="6832600" y="3797299"/>
            <a:ext cx="4191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F3F0E8"/>
                </a:solidFill>
                <a:latin typeface="Aptos" panose="020B0004020202020204" pitchFamily="34" charset="0"/>
              </a:rPr>
              <a:t>87.76% -&gt; 96.92%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99848FB-C5F0-0BF9-10A1-ED280418716A}"/>
              </a:ext>
            </a:extLst>
          </p:cNvPr>
          <p:cNvSpPr txBox="1"/>
          <p:nvPr/>
        </p:nvSpPr>
        <p:spPr>
          <a:xfrm>
            <a:off x="6832600" y="4406899"/>
            <a:ext cx="22225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Utilization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A67E5E0-6119-9C3E-8FCC-512967E101CC}"/>
              </a:ext>
            </a:extLst>
          </p:cNvPr>
          <p:cNvSpPr txBox="1"/>
          <p:nvPr/>
        </p:nvSpPr>
        <p:spPr>
          <a:xfrm>
            <a:off x="6832600" y="4737099"/>
            <a:ext cx="4191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F3F0E8"/>
                </a:solidFill>
                <a:latin typeface="Aptos" panose="020B0004020202020204" pitchFamily="34" charset="0"/>
              </a:rPr>
              <a:t>71.22% -&gt; 97.65%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A08F04B-C8F3-74CA-CD49-9125BA59B5E2}"/>
              </a:ext>
            </a:extLst>
          </p:cNvPr>
          <p:cNvSpPr/>
          <p:nvPr/>
        </p:nvSpPr>
        <p:spPr>
          <a:xfrm>
            <a:off x="6832600" y="5308600"/>
            <a:ext cx="4191000" cy="698500"/>
          </a:xfrm>
          <a:prstGeom prst="roundRect">
            <a:avLst/>
          </a:prstGeom>
          <a:solidFill>
            <a:srgbClr val="1A394A"/>
          </a:solidFill>
          <a:ln w="15240">
            <a:solidFill>
              <a:srgbClr val="36556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A9DA8D1-B846-5A6B-3F70-17515D05FED9}"/>
              </a:ext>
            </a:extLst>
          </p:cNvPr>
          <p:cNvSpPr txBox="1"/>
          <p:nvPr/>
        </p:nvSpPr>
        <p:spPr>
          <a:xfrm>
            <a:off x="7010400" y="5422899"/>
            <a:ext cx="38354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Untouched seeds 81001-81010 remain separate</a:t>
            </a:r>
          </a:p>
        </p:txBody>
      </p:sp>
    </p:spTree>
    <p:extLst>
      <p:ext uri="{BB962C8B-B14F-4D97-AF65-F5344CB8AC3E}">
        <p14:creationId xmlns:p14="http://schemas.microsoft.com/office/powerpoint/2010/main" val="26692046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C76C5A-E9B7-980F-9D2E-7BE74DAE684A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28CB0DE-FB2C-24E8-DBE0-BA19B37A63E5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EC884B7-10D1-110B-762D-EC9E09A3D81E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F3A61D-7585-BEA0-945C-F4A9BB245AF9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1BF4A6-943A-207C-767E-AE6D4D5EA4FA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The evidence remains bounded by a shortage-only synthetic model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1DF4BB-B600-00D5-BAAB-59F719735863}"/>
              </a:ext>
            </a:extLst>
          </p:cNvPr>
          <p:cNvSpPr txBox="1"/>
          <p:nvPr/>
        </p:nvSpPr>
        <p:spPr>
          <a:xfrm>
            <a:off x="812800" y="1841499"/>
            <a:ext cx="457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300" b="1">
                <a:solidFill>
                  <a:srgbClr val="3FC6AC"/>
                </a:solidFill>
                <a:latin typeface="Aptos" panose="020B0004020202020204" pitchFamily="34" charset="0"/>
              </a:rPr>
              <a:t>What the evidence supports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33E1037-FA98-E81F-227C-D4E94967C1FE}"/>
              </a:ext>
            </a:extLst>
          </p:cNvPr>
          <p:cNvCxnSpPr/>
          <p:nvPr/>
        </p:nvCxnSpPr>
        <p:spPr>
          <a:xfrm>
            <a:off x="812800" y="25908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E703CC0-7C4A-50BA-1682-B8F9986B0C3B}"/>
              </a:ext>
            </a:extLst>
          </p:cNvPr>
          <p:cNvSpPr txBox="1"/>
          <p:nvPr/>
        </p:nvSpPr>
        <p:spPr>
          <a:xfrm>
            <a:off x="1168400" y="2438399"/>
            <a:ext cx="4851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PPO versus Fixed Rotation in the locked simulator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CDCFF84-4129-206F-ADE2-BDA605668630}"/>
              </a:ext>
            </a:extLst>
          </p:cNvPr>
          <p:cNvCxnSpPr/>
          <p:nvPr/>
        </p:nvCxnSpPr>
        <p:spPr>
          <a:xfrm>
            <a:off x="812800" y="32258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709BE7D-B780-2A06-631E-279228F863C7}"/>
              </a:ext>
            </a:extLst>
          </p:cNvPr>
          <p:cNvSpPr txBox="1"/>
          <p:nvPr/>
        </p:nvSpPr>
        <p:spPr>
          <a:xfrm>
            <a:off x="1168400" y="3073399"/>
            <a:ext cx="4851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Matched shortage scenarios across seven localities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C152DEC-2371-61F7-488E-2204CFC61D91}"/>
              </a:ext>
            </a:extLst>
          </p:cNvPr>
          <p:cNvCxnSpPr/>
          <p:nvPr/>
        </p:nvCxnSpPr>
        <p:spPr>
          <a:xfrm>
            <a:off x="812800" y="38608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0DE06DD-C505-C143-C194-FA7100BE3A40}"/>
              </a:ext>
            </a:extLst>
          </p:cNvPr>
          <p:cNvSpPr txBox="1"/>
          <p:nvPr/>
        </p:nvSpPr>
        <p:spPr>
          <a:xfrm>
            <a:off x="1168400" y="3708399"/>
            <a:ext cx="4851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Reproducible artifacts with explicit seed roles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68D5973-4D6D-876A-BE04-291B1A0D0441}"/>
              </a:ext>
            </a:extLst>
          </p:cNvPr>
          <p:cNvCxnSpPr/>
          <p:nvPr/>
        </p:nvCxnSpPr>
        <p:spPr>
          <a:xfrm>
            <a:off x="812800" y="44958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EA6A0F1-8A86-009F-12EB-B89B0FBF475D}"/>
              </a:ext>
            </a:extLst>
          </p:cNvPr>
          <p:cNvSpPr txBox="1"/>
          <p:nvPr/>
        </p:nvSpPr>
        <p:spPr>
          <a:xfrm>
            <a:off x="1168400" y="4343399"/>
            <a:ext cx="4851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Offline decision-support demonstration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6F459A-1AD3-A12E-CAB7-AF073258418B}"/>
              </a:ext>
            </a:extLst>
          </p:cNvPr>
          <p:cNvSpPr txBox="1"/>
          <p:nvPr/>
        </p:nvSpPr>
        <p:spPr>
          <a:xfrm>
            <a:off x="6629400" y="1841499"/>
            <a:ext cx="4699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300" b="1">
                <a:solidFill>
                  <a:srgbClr val="A15E40"/>
                </a:solidFill>
                <a:latin typeface="Aptos" panose="020B0004020202020204" pitchFamily="34" charset="0"/>
              </a:rPr>
              <a:t>What it does not support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67B115B-BD25-0275-134F-AED11E2BE2B5}"/>
              </a:ext>
            </a:extLst>
          </p:cNvPr>
          <p:cNvCxnSpPr/>
          <p:nvPr/>
        </p:nvCxnSpPr>
        <p:spPr>
          <a:xfrm>
            <a:off x="6629400" y="2590800"/>
            <a:ext cx="203200" cy="0"/>
          </a:xfrm>
          <a:prstGeom prst="line">
            <a:avLst/>
          </a:prstGeom>
          <a:ln w="38100">
            <a:solidFill>
              <a:srgbClr val="A15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CFA9A0E-8417-D70B-F4C7-5B5ED5B28461}"/>
              </a:ext>
            </a:extLst>
          </p:cNvPr>
          <p:cNvSpPr txBox="1"/>
          <p:nvPr/>
        </p:nvSpPr>
        <p:spPr>
          <a:xfrm>
            <a:off x="6985000" y="2438399"/>
            <a:ext cx="4597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Field performance on Sudan's electrical grid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65B3DA0-F917-F537-8D86-76A6F881BF2F}"/>
              </a:ext>
            </a:extLst>
          </p:cNvPr>
          <p:cNvCxnSpPr/>
          <p:nvPr/>
        </p:nvCxnSpPr>
        <p:spPr>
          <a:xfrm>
            <a:off x="6629400" y="3225800"/>
            <a:ext cx="203200" cy="0"/>
          </a:xfrm>
          <a:prstGeom prst="line">
            <a:avLst/>
          </a:prstGeom>
          <a:ln w="38100">
            <a:solidFill>
              <a:srgbClr val="A15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B7D83F3-EE99-58A0-AA7C-F6F866C61137}"/>
              </a:ext>
            </a:extLst>
          </p:cNvPr>
          <p:cNvSpPr txBox="1"/>
          <p:nvPr/>
        </p:nvSpPr>
        <p:spPr>
          <a:xfrm>
            <a:off x="6985000" y="3073399"/>
            <a:ext cx="4597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Voltage, frequency, protection, or network stability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025F4ED-FDBB-9A99-C458-42993DF973C2}"/>
              </a:ext>
            </a:extLst>
          </p:cNvPr>
          <p:cNvCxnSpPr/>
          <p:nvPr/>
        </p:nvCxnSpPr>
        <p:spPr>
          <a:xfrm>
            <a:off x="6629400" y="3860800"/>
            <a:ext cx="203200" cy="0"/>
          </a:xfrm>
          <a:prstGeom prst="line">
            <a:avLst/>
          </a:prstGeom>
          <a:ln w="38100">
            <a:solidFill>
              <a:srgbClr val="A15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DE77B4B-0ABC-797F-C843-F2CB79BB4CCE}"/>
              </a:ext>
            </a:extLst>
          </p:cNvPr>
          <p:cNvSpPr txBox="1"/>
          <p:nvPr/>
        </p:nvSpPr>
        <p:spPr>
          <a:xfrm>
            <a:off x="6985000" y="3708399"/>
            <a:ext cx="4597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Real-data forecast calibration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DD34E86-83DD-13B5-7A6B-D8B03A827FE8}"/>
              </a:ext>
            </a:extLst>
          </p:cNvPr>
          <p:cNvCxnSpPr/>
          <p:nvPr/>
        </p:nvCxnSpPr>
        <p:spPr>
          <a:xfrm>
            <a:off x="6629400" y="4495800"/>
            <a:ext cx="203200" cy="0"/>
          </a:xfrm>
          <a:prstGeom prst="line">
            <a:avLst/>
          </a:prstGeom>
          <a:ln w="38100">
            <a:solidFill>
              <a:srgbClr val="A15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F871E34-2BA9-3EA6-01FA-15D95C1A7869}"/>
              </a:ext>
            </a:extLst>
          </p:cNvPr>
          <p:cNvSpPr txBox="1"/>
          <p:nvPr/>
        </p:nvSpPr>
        <p:spPr>
          <a:xfrm>
            <a:off x="6985000" y="4343399"/>
            <a:ext cx="4597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Automatic operational dispatch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F9E3D67-4FCE-2BB6-64B2-04ABBCFB48B0}"/>
              </a:ext>
            </a:extLst>
          </p:cNvPr>
          <p:cNvSpPr/>
          <p:nvPr/>
        </p:nvSpPr>
        <p:spPr>
          <a:xfrm>
            <a:off x="812800" y="5384800"/>
            <a:ext cx="10515600" cy="660400"/>
          </a:xfrm>
          <a:prstGeom prst="roundRect">
            <a:avLst/>
          </a:prstGeom>
          <a:solidFill>
            <a:srgbClr val="F6E8E3"/>
          </a:solidFill>
          <a:ln w="15240">
            <a:solidFill>
              <a:srgbClr val="A15E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0829FF-CB8A-869D-ADEC-38C00B5A517D}"/>
              </a:ext>
            </a:extLst>
          </p:cNvPr>
          <p:cNvSpPr txBox="1"/>
          <p:nvPr/>
        </p:nvSpPr>
        <p:spPr>
          <a:xfrm>
            <a:off x="1041400" y="5473699"/>
            <a:ext cx="10033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13232E"/>
                </a:solidFill>
                <a:latin typeface="Aptos" panose="020B0004020202020204" pitchFamily="34" charset="0"/>
              </a:rPr>
              <a:t>Synthetic demand and administrative geography are abstractions, not geographic measurements or electrical topology.</a:t>
            </a:r>
          </a:p>
        </p:txBody>
      </p:sp>
    </p:spTree>
    <p:extLst>
      <p:ext uri="{BB962C8B-B14F-4D97-AF65-F5344CB8AC3E}">
        <p14:creationId xmlns:p14="http://schemas.microsoft.com/office/powerpoint/2010/main" val="13605828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1A8C785-D0D5-BCBD-D1E2-B4CAC0D58A59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AFC80E6-FB17-8C9A-CF66-BEF59BD917FA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5FD31EB-F847-DE13-308E-84195E683075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13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4AC617-B5E8-6C58-6424-55F3290CC31C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91BBA1-49A9-9030-A193-A346B4C02A8E}"/>
              </a:ext>
            </a:extLst>
          </p:cNvPr>
          <p:cNvSpPr txBox="1"/>
          <p:nvPr/>
        </p:nvSpPr>
        <p:spPr>
          <a:xfrm>
            <a:off x="762000" y="914399"/>
            <a:ext cx="304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THE ANSWER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040889-1320-A1BB-A965-01C8E75C57F7}"/>
              </a:ext>
            </a:extLst>
          </p:cNvPr>
          <p:cNvSpPr txBox="1"/>
          <p:nvPr/>
        </p:nvSpPr>
        <p:spPr>
          <a:xfrm>
            <a:off x="762000" y="1625599"/>
            <a:ext cx="104140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4600" b="1">
                <a:solidFill>
                  <a:srgbClr val="F3F0E8"/>
                </a:solidFill>
                <a:latin typeface="Aptos" panose="020B0004020202020204" pitchFamily="34" charset="0"/>
              </a:rPr>
              <a:t>PPO outperformed Fixed Rotation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8AD185-909E-BF82-91D2-7255F9B14573}"/>
              </a:ext>
            </a:extLst>
          </p:cNvPr>
          <p:cNvSpPr txBox="1"/>
          <p:nvPr/>
        </p:nvSpPr>
        <p:spPr>
          <a:xfrm>
            <a:off x="787400" y="26034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>
                <a:solidFill>
                  <a:srgbClr val="E0B957"/>
                </a:solidFill>
                <a:latin typeface="Aptos" panose="020B0004020202020204" pitchFamily="34" charset="0"/>
              </a:rPr>
              <a:t>under the locked synthetic evaluation protocol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03D45F6-FB84-D953-ED3D-D85817E64859}"/>
              </a:ext>
            </a:extLst>
          </p:cNvPr>
          <p:cNvCxnSpPr/>
          <p:nvPr/>
        </p:nvCxnSpPr>
        <p:spPr>
          <a:xfrm>
            <a:off x="787400" y="3441700"/>
            <a:ext cx="10617200" cy="0"/>
          </a:xfrm>
          <a:prstGeom prst="line">
            <a:avLst/>
          </a:prstGeom>
          <a:ln w="1270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D8E7E67-8155-0B9D-8E3A-06CCA8581D4E}"/>
              </a:ext>
            </a:extLst>
          </p:cNvPr>
          <p:cNvCxnSpPr/>
          <p:nvPr/>
        </p:nvCxnSpPr>
        <p:spPr>
          <a:xfrm>
            <a:off x="787400" y="40386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2A9988B-F57E-F5FB-6AD4-06134A3E23E9}"/>
              </a:ext>
            </a:extLst>
          </p:cNvPr>
          <p:cNvSpPr txBox="1"/>
          <p:nvPr/>
        </p:nvSpPr>
        <p:spPr>
          <a:xfrm>
            <a:off x="1143000" y="3886199"/>
            <a:ext cx="100584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Three untouched primary outcomes - reported without a favorable-result gate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3188D85-E35E-CE65-34D8-73548D4182CE}"/>
              </a:ext>
            </a:extLst>
          </p:cNvPr>
          <p:cNvCxnSpPr/>
          <p:nvPr/>
        </p:nvCxnSpPr>
        <p:spPr>
          <a:xfrm>
            <a:off x="787400" y="46609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0F6072C-B599-D293-2C8B-F1E6CBC60297}"/>
              </a:ext>
            </a:extLst>
          </p:cNvPr>
          <p:cNvSpPr txBox="1"/>
          <p:nvPr/>
        </p:nvSpPr>
        <p:spPr>
          <a:xfrm>
            <a:off x="1143000" y="4508499"/>
            <a:ext cx="100584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Matched scenarios, explicit seed roles, and hash-bound evidence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F2D8118-D122-3C1E-A645-4D4E2B4E1ABC}"/>
              </a:ext>
            </a:extLst>
          </p:cNvPr>
          <p:cNvCxnSpPr/>
          <p:nvPr/>
        </p:nvCxnSpPr>
        <p:spPr>
          <a:xfrm>
            <a:off x="787400" y="52832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C7A3B6F-C1F0-CC4B-511B-80376B73D2D1}"/>
              </a:ext>
            </a:extLst>
          </p:cNvPr>
          <p:cNvSpPr txBox="1"/>
          <p:nvPr/>
        </p:nvSpPr>
        <p:spPr>
          <a:xfrm>
            <a:off x="1143000" y="5130799"/>
            <a:ext cx="100584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GPU-first offline desktop with Frozen and Live views kept separate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C673CF9-AA06-9EB6-76F1-122C495C4D96}"/>
              </a:ext>
            </a:extLst>
          </p:cNvPr>
          <p:cNvSpPr/>
          <p:nvPr/>
        </p:nvSpPr>
        <p:spPr>
          <a:xfrm>
            <a:off x="787400" y="5740400"/>
            <a:ext cx="10617200" cy="533400"/>
          </a:xfrm>
          <a:prstGeom prst="round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C41A6D-AF07-6184-5FEE-ACFAAE34A62E}"/>
              </a:ext>
            </a:extLst>
          </p:cNvPr>
          <p:cNvSpPr txBox="1"/>
          <p:nvPr/>
        </p:nvSpPr>
        <p:spPr>
          <a:xfrm>
            <a:off x="990600" y="5880099"/>
            <a:ext cx="10210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071923"/>
                </a:solidFill>
                <a:latin typeface="Aptos" panose="020B0004020202020204" pitchFamily="34" charset="0"/>
              </a:rPr>
              <a:t>Next: representative operational data and electrical-network constraints</a:t>
            </a:r>
          </a:p>
        </p:txBody>
      </p:sp>
    </p:spTree>
    <p:extLst>
      <p:ext uri="{BB962C8B-B14F-4D97-AF65-F5344CB8AC3E}">
        <p14:creationId xmlns:p14="http://schemas.microsoft.com/office/powerpoint/2010/main" val="22305872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1347</Words>
  <Application>Microsoft Office PowerPoint</Application>
  <PresentationFormat>Custom</PresentationFormat>
  <Paragraphs>292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Suliman Babiker</dc:creator>
  <cp:lastModifiedBy>Suliman Babiker</cp:lastModifiedBy>
  <cp:revision>1</cp:revision>
  <dcterms:created xsi:type="dcterms:W3CDTF">2026-08-26T16:42:09Z</dcterms:created>
  <dcterms:modified xsi:type="dcterms:W3CDTF">2026-08-26T16:42:09Z</dcterms:modified>
</cp:coreProperties>
</file>